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2"/>
    <p:sldId id="264" r:id="rId3"/>
    <p:sldId id="258" r:id="rId4"/>
    <p:sldId id="267" r:id="rId5"/>
    <p:sldId id="257" r:id="rId6"/>
    <p:sldId id="259" r:id="rId7"/>
    <p:sldId id="260" r:id="rId8"/>
    <p:sldId id="269" r:id="rId9"/>
    <p:sldId id="261" r:id="rId10"/>
    <p:sldId id="262" r:id="rId11"/>
    <p:sldId id="263" r:id="rId12"/>
    <p:sldId id="270" r:id="rId13"/>
    <p:sldId id="265" r:id="rId14"/>
    <p:sldId id="272" r:id="rId15"/>
    <p:sldId id="273" r:id="rId16"/>
    <p:sldId id="274" r:id="rId17"/>
    <p:sldId id="275" r:id="rId18"/>
    <p:sldId id="271" r:id="rId19"/>
  </p:sldIdLst>
  <p:sldSz cx="18288000" cy="10287000"/>
  <p:notesSz cx="6858000" cy="9144000"/>
  <p:embeddedFontLst>
    <p:embeddedFont>
      <p:font typeface="Cambria Math" panose="02040503050406030204" pitchFamily="18" charset="0"/>
      <p:regular r:id="rId21"/>
    </p:embeddedFont>
    <p:embeddedFont>
      <p:font typeface="DM Sans" pitchFamily="2" charset="0"/>
      <p:regular r:id="rId22"/>
      <p:bold r:id="rId23"/>
      <p:italic r:id="rId24"/>
      <p:boldItalic r:id="rId25"/>
    </p:embeddedFont>
    <p:embeddedFont>
      <p:font typeface="Fira Sans" panose="020B0503050000020004" pitchFamily="34" charset="0"/>
      <p:regular r:id="rId26"/>
      <p:bold r:id="rId27"/>
      <p:italic r:id="rId28"/>
      <p:boldItalic r:id="rId29"/>
    </p:embeddedFont>
    <p:embeddedFont>
      <p:font typeface="Fira Sans Medium" panose="020B0603050000020004" pitchFamily="34" charset="0"/>
      <p:regular r:id="rId30"/>
      <p:italic r:id="rId31"/>
    </p:embeddedFont>
    <p:embeddedFont>
      <p:font typeface="Garet" panose="020B0604020202020204" charset="0"/>
      <p:regular r:id="rId32"/>
    </p:embeddedFont>
    <p:embeddedFont>
      <p:font typeface="Lalezar" panose="00000500000000000000" pitchFamily="2" charset="-78"/>
      <p:regular r:id="rId33"/>
    </p:embeddedFont>
    <p:embeddedFont>
      <p:font typeface="Sukar"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N BOUNTHET" initials="TB" lastIdx="1" clrIdx="0">
    <p:extLst>
      <p:ext uri="{19B8F6BF-5375-455C-9EA6-DF929625EA0E}">
        <p15:presenceInfo xmlns:p15="http://schemas.microsoft.com/office/powerpoint/2012/main" userId="7c61de97b977da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D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75601" autoAdjust="0"/>
  </p:normalViewPr>
  <p:slideViewPr>
    <p:cSldViewPr>
      <p:cViewPr varScale="1">
        <p:scale>
          <a:sx n="41" d="100"/>
          <a:sy n="41" d="100"/>
        </p:scale>
        <p:origin x="1253" y="101"/>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1593C-806C-4947-9DD0-E8E522D75FA0}"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32A8A-D34F-4423-8567-3BE6AD402A6C}" type="slidenum">
              <a:rPr lang="en-US" smtClean="0"/>
              <a:t>‹#›</a:t>
            </a:fld>
            <a:endParaRPr lang="en-US"/>
          </a:p>
        </p:txBody>
      </p:sp>
    </p:spTree>
    <p:extLst>
      <p:ext uri="{BB962C8B-B14F-4D97-AF65-F5344CB8AC3E}">
        <p14:creationId xmlns:p14="http://schemas.microsoft.com/office/powerpoint/2010/main" val="319591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Teacher and my teammate. We are Team 3 from Group I2-GIC-2. Today, we are proud to present our final project for the Data Structure and Programming II course: A </a:t>
            </a:r>
            <a:r>
              <a:rPr lang="en-US" b="1" dirty="0"/>
              <a:t>Payroll Management System</a:t>
            </a:r>
            <a:r>
              <a:rPr lang="en-US" dirty="0"/>
              <a:t>. This system was developed for the 2025-2026 academic year to demonstrate how programming logic can solve real-world administrative challenges."</a:t>
            </a:r>
          </a:p>
        </p:txBody>
      </p:sp>
      <p:sp>
        <p:nvSpPr>
          <p:cNvPr id="4" name="Slide Number Placeholder 3"/>
          <p:cNvSpPr>
            <a:spLocks noGrp="1"/>
          </p:cNvSpPr>
          <p:nvPr>
            <p:ph type="sldNum" sz="quarter" idx="5"/>
          </p:nvPr>
        </p:nvSpPr>
        <p:spPr/>
        <p:txBody>
          <a:bodyPr/>
          <a:lstStyle/>
          <a:p>
            <a:fld id="{2D932A8A-D34F-4423-8567-3BE6AD402A6C}" type="slidenum">
              <a:rPr lang="en-US" smtClean="0"/>
              <a:t>1</a:t>
            </a:fld>
            <a:endParaRPr lang="en-US"/>
          </a:p>
        </p:txBody>
      </p:sp>
    </p:spTree>
    <p:extLst>
      <p:ext uri="{BB962C8B-B14F-4D97-AF65-F5344CB8AC3E}">
        <p14:creationId xmlns:p14="http://schemas.microsoft.com/office/powerpoint/2010/main" val="595207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into the technical details, let us introduce Our Team member behind this project. Our team consists of:</a:t>
            </a:r>
          </a:p>
          <a:p>
            <a:r>
              <a:rPr lang="en-US" b="1" dirty="0"/>
              <a:t>Sean </a:t>
            </a:r>
            <a:r>
              <a:rPr lang="en-US" b="1" dirty="0" err="1"/>
              <a:t>Manutnithya</a:t>
            </a:r>
            <a:r>
              <a:rPr lang="en-US" b="0" dirty="0"/>
              <a:t>(leader team) , member</a:t>
            </a:r>
            <a:r>
              <a:rPr lang="en-US" b="1" dirty="0"/>
              <a:t>.</a:t>
            </a:r>
            <a:r>
              <a:rPr lang="en-US" dirty="0"/>
              <a:t> Each member played a vital role in integrating data structures with functional payroll logic.</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2</a:t>
            </a:fld>
            <a:endParaRPr lang="en-US"/>
          </a:p>
        </p:txBody>
      </p:sp>
    </p:spTree>
    <p:extLst>
      <p:ext uri="{BB962C8B-B14F-4D97-AF65-F5344CB8AC3E}">
        <p14:creationId xmlns:p14="http://schemas.microsoft.com/office/powerpoint/2010/main" val="4170784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the success of this project, we divided our tasks based on system modules: Take charge</a:t>
            </a:r>
          </a:p>
        </p:txBody>
      </p:sp>
      <p:sp>
        <p:nvSpPr>
          <p:cNvPr id="4" name="Slide Number Placeholder 3"/>
          <p:cNvSpPr>
            <a:spLocks noGrp="1"/>
          </p:cNvSpPr>
          <p:nvPr>
            <p:ph type="sldNum" sz="quarter" idx="5"/>
          </p:nvPr>
        </p:nvSpPr>
        <p:spPr/>
        <p:txBody>
          <a:bodyPr/>
          <a:lstStyle/>
          <a:p>
            <a:fld id="{2D932A8A-D34F-4423-8567-3BE6AD402A6C}" type="slidenum">
              <a:rPr lang="en-US" smtClean="0"/>
              <a:t>3</a:t>
            </a:fld>
            <a:endParaRPr lang="en-US"/>
          </a:p>
        </p:txBody>
      </p:sp>
    </p:spTree>
    <p:extLst>
      <p:ext uri="{BB962C8B-B14F-4D97-AF65-F5344CB8AC3E}">
        <p14:creationId xmlns:p14="http://schemas.microsoft.com/office/powerpoint/2010/main" val="91867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7B60-1A0E-558F-A4E6-D19062C2C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A984F-D74F-938A-1908-1A2D3C51A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6058F-62A3-90A2-1D7A-D753C39E29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BE23E8-4A6A-C3EC-79CA-2ED34A6112B1}"/>
              </a:ext>
            </a:extLst>
          </p:cNvPr>
          <p:cNvSpPr>
            <a:spLocks noGrp="1"/>
          </p:cNvSpPr>
          <p:nvPr>
            <p:ph type="sldNum" sz="quarter" idx="5"/>
          </p:nvPr>
        </p:nvSpPr>
        <p:spPr/>
        <p:txBody>
          <a:bodyPr/>
          <a:lstStyle/>
          <a:p>
            <a:fld id="{2D932A8A-D34F-4423-8567-3BE6AD402A6C}" type="slidenum">
              <a:rPr lang="en-US" smtClean="0"/>
              <a:t>4</a:t>
            </a:fld>
            <a:endParaRPr lang="en-US"/>
          </a:p>
        </p:txBody>
      </p:sp>
    </p:spTree>
    <p:extLst>
      <p:ext uri="{BB962C8B-B14F-4D97-AF65-F5344CB8AC3E}">
        <p14:creationId xmlns:p14="http://schemas.microsoft.com/office/powerpoint/2010/main" val="1673905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presentation is divided into six key chapters:</a:t>
            </a:r>
          </a:p>
          <a:p>
            <a:r>
              <a:rPr lang="en-US" b="1" dirty="0"/>
              <a:t>1.Introduction &amp; Purpose:</a:t>
            </a:r>
            <a:r>
              <a:rPr lang="en-US" dirty="0"/>
              <a:t> Why we built this.</a:t>
            </a:r>
          </a:p>
          <a:p>
            <a:r>
              <a:rPr lang="en-US" b="1" dirty="0"/>
              <a:t>2.Core System Features:</a:t>
            </a:r>
            <a:r>
              <a:rPr lang="en-US" dirty="0"/>
              <a:t> A look at the modules.</a:t>
            </a:r>
          </a:p>
          <a:p>
            <a:r>
              <a:rPr lang="en-US" b="1" dirty="0"/>
              <a:t>3.Technical Implementation: </a:t>
            </a:r>
            <a:r>
              <a:rPr lang="en-US" dirty="0"/>
              <a:t>Our coding environment.</a:t>
            </a:r>
          </a:p>
          <a:p>
            <a:r>
              <a:rPr lang="en-US" b="1" dirty="0"/>
              <a:t>4.Data Structure &amp; Logic:</a:t>
            </a:r>
            <a:r>
              <a:rPr lang="en-US" dirty="0"/>
              <a:t> The 'brain' of the system (Linked Lists).</a:t>
            </a:r>
          </a:p>
          <a:p>
            <a:r>
              <a:rPr lang="en-US" b="1" dirty="0"/>
              <a:t>5.System Results:</a:t>
            </a:r>
            <a:r>
              <a:rPr lang="en-US" dirty="0"/>
              <a:t> Validation and output.</a:t>
            </a:r>
          </a:p>
          <a:p>
            <a:r>
              <a:rPr lang="en-US" b="1" dirty="0"/>
              <a:t>6.Conclusion &amp; Demo:</a:t>
            </a:r>
            <a:r>
              <a:rPr lang="en-US" dirty="0"/>
              <a:t> Summary and a live look at the code."</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5</a:t>
            </a:fld>
            <a:endParaRPr lang="en-US"/>
          </a:p>
        </p:txBody>
      </p:sp>
    </p:spTree>
    <p:extLst>
      <p:ext uri="{BB962C8B-B14F-4D97-AF65-F5344CB8AC3E}">
        <p14:creationId xmlns:p14="http://schemas.microsoft.com/office/powerpoint/2010/main" val="33986587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automate payroll? Manual payroll is prone to human error and is time-consuming. Our system uses C++ to provide: </a:t>
            </a:r>
          </a:p>
          <a:p>
            <a:r>
              <a:rPr lang="en-US" dirty="0"/>
              <a:t>-Auto</a:t>
            </a:r>
          </a:p>
          <a:p>
            <a:r>
              <a:rPr lang="en-US" dirty="0"/>
              <a:t>-Pre</a:t>
            </a:r>
          </a:p>
          <a:p>
            <a:r>
              <a:rPr lang="en-US" dirty="0"/>
              <a:t>-Ligh</a:t>
            </a:r>
          </a:p>
          <a:p>
            <a:r>
              <a:rPr lang="en-US" dirty="0"/>
              <a:t>To give you a high-level overview, our system follows a 5-step workflow: First, </a:t>
            </a:r>
            <a:r>
              <a:rPr lang="en-US" b="1" dirty="0"/>
              <a:t>Employee Data Collection</a:t>
            </a:r>
            <a:r>
              <a:rPr lang="en-US" dirty="0"/>
              <a:t>, where we gather profiles. Second, </a:t>
            </a:r>
            <a:r>
              <a:rPr lang="en-US" b="1" dirty="0"/>
              <a:t>Time and Attendance</a:t>
            </a:r>
            <a:r>
              <a:rPr lang="en-US" dirty="0"/>
              <a:t>, where we capture hours worked. Third, the </a:t>
            </a:r>
            <a:r>
              <a:rPr lang="en-US" b="1" dirty="0"/>
              <a:t>Calculation</a:t>
            </a:r>
            <a:r>
              <a:rPr lang="en-US" dirty="0"/>
              <a:t> phase, where we validate tax and overtime. Fourth, </a:t>
            </a:r>
            <a:r>
              <a:rPr lang="en-US" b="1" dirty="0"/>
              <a:t>Approvals</a:t>
            </a:r>
            <a:r>
              <a:rPr lang="en-US" dirty="0"/>
              <a:t>, where the payroll is finalized. And finally, </a:t>
            </a:r>
            <a:r>
              <a:rPr lang="en-US" b="1" dirty="0"/>
              <a:t>Reporting</a:t>
            </a:r>
            <a:r>
              <a:rPr lang="en-US" dirty="0"/>
              <a:t>, where the system generates the payments and stores records in CSV files.</a:t>
            </a:r>
          </a:p>
        </p:txBody>
      </p:sp>
      <p:sp>
        <p:nvSpPr>
          <p:cNvPr id="4" name="Slide Number Placeholder 3"/>
          <p:cNvSpPr>
            <a:spLocks noGrp="1"/>
          </p:cNvSpPr>
          <p:nvPr>
            <p:ph type="sldNum" sz="quarter" idx="5"/>
          </p:nvPr>
        </p:nvSpPr>
        <p:spPr/>
        <p:txBody>
          <a:bodyPr/>
          <a:lstStyle/>
          <a:p>
            <a:fld id="{2D932A8A-D34F-4423-8567-3BE6AD402A6C}" type="slidenum">
              <a:rPr lang="en-US" smtClean="0"/>
              <a:t>6</a:t>
            </a:fld>
            <a:endParaRPr lang="en-US"/>
          </a:p>
        </p:txBody>
      </p:sp>
    </p:spTree>
    <p:extLst>
      <p:ext uri="{BB962C8B-B14F-4D97-AF65-F5344CB8AC3E}">
        <p14:creationId xmlns:p14="http://schemas.microsoft.com/office/powerpoint/2010/main" val="306997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represents the architecture of our software. At the center is the </a:t>
            </a:r>
            <a:r>
              <a:rPr lang="en-US" b="1" dirty="0"/>
              <a:t>Main Payroll Processing Hub</a:t>
            </a:r>
            <a:r>
              <a:rPr lang="en-US" dirty="0"/>
              <a:t>. It pulls data from three sources:</a:t>
            </a:r>
          </a:p>
          <a:p>
            <a:r>
              <a:rPr lang="en-US" sz="1200" kern="1200" dirty="0">
                <a:solidFill>
                  <a:schemeClr val="tx1"/>
                </a:solidFill>
                <a:latin typeface="+mn-lt"/>
                <a:ea typeface="+mn-ea"/>
                <a:cs typeface="+mn-cs"/>
              </a:rPr>
              <a:t> Like employee_list.csv</a:t>
            </a:r>
            <a:r>
              <a:rPr lang="en-US" dirty="0"/>
              <a:t>, </a:t>
            </a:r>
            <a:r>
              <a:rPr lang="en-US" sz="1200" kern="1200" dirty="0">
                <a:solidFill>
                  <a:schemeClr val="tx1"/>
                </a:solidFill>
                <a:latin typeface="+mn-lt"/>
                <a:ea typeface="+mn-ea"/>
                <a:cs typeface="+mn-cs"/>
              </a:rPr>
              <a:t>tax_information.csv</a:t>
            </a:r>
            <a:r>
              <a:rPr lang="en-US" dirty="0"/>
              <a:t>, and </a:t>
            </a:r>
            <a:r>
              <a:rPr lang="en-US" sz="1200" kern="1200" dirty="0">
                <a:solidFill>
                  <a:schemeClr val="tx1"/>
                </a:solidFill>
                <a:latin typeface="+mn-lt"/>
                <a:ea typeface="+mn-ea"/>
                <a:cs typeface="+mn-cs"/>
              </a:rPr>
              <a:t>attendance.csv</a:t>
            </a:r>
            <a:r>
              <a:rPr lang="en-US" dirty="0"/>
              <a:t>. </a:t>
            </a:r>
          </a:p>
        </p:txBody>
      </p:sp>
      <p:sp>
        <p:nvSpPr>
          <p:cNvPr id="4" name="Slide Number Placeholder 3"/>
          <p:cNvSpPr>
            <a:spLocks noGrp="1"/>
          </p:cNvSpPr>
          <p:nvPr>
            <p:ph type="sldNum" sz="quarter" idx="5"/>
          </p:nvPr>
        </p:nvSpPr>
        <p:spPr/>
        <p:txBody>
          <a:bodyPr/>
          <a:lstStyle/>
          <a:p>
            <a:fld id="{2D932A8A-D34F-4423-8567-3BE6AD402A6C}" type="slidenum">
              <a:rPr lang="en-US" smtClean="0"/>
              <a:t>7</a:t>
            </a:fld>
            <a:endParaRPr lang="en-US"/>
          </a:p>
        </p:txBody>
      </p:sp>
    </p:spTree>
    <p:extLst>
      <p:ext uri="{BB962C8B-B14F-4D97-AF65-F5344CB8AC3E}">
        <p14:creationId xmlns:p14="http://schemas.microsoft.com/office/powerpoint/2010/main" val="2015383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branches into specific tasks:</a:t>
            </a:r>
          </a:p>
          <a:p>
            <a:r>
              <a:rPr lang="en-US" b="1" dirty="0"/>
              <a:t>Record Management</a:t>
            </a:r>
            <a:r>
              <a:rPr lang="en-US" dirty="0"/>
              <a:t> for sorting.</a:t>
            </a:r>
          </a:p>
          <a:p>
            <a:r>
              <a:rPr lang="en-US" b="1" dirty="0"/>
              <a:t>Attendance Tracking</a:t>
            </a:r>
            <a:r>
              <a:rPr lang="en-US" dirty="0"/>
              <a:t> for NSSF and deductions.</a:t>
            </a:r>
          </a:p>
          <a:p>
            <a:r>
              <a:rPr lang="en-US" b="1" dirty="0"/>
              <a:t>Net Salary Computation</a:t>
            </a:r>
            <a:r>
              <a:rPr lang="en-US" dirty="0"/>
              <a:t> which leads to the final step: </a:t>
            </a:r>
            <a:r>
              <a:rPr lang="en-US" b="1" dirty="0"/>
              <a:t>Disbursement and Tax Filing.</a:t>
            </a:r>
            <a:r>
              <a:rPr lang="en-US" dirty="0"/>
              <a:t> Every box you see here represents a specific C++ function we wrote."</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8</a:t>
            </a:fld>
            <a:endParaRPr lang="en-US"/>
          </a:p>
        </p:txBody>
      </p:sp>
    </p:spTree>
    <p:extLst>
      <p:ext uri="{BB962C8B-B14F-4D97-AF65-F5344CB8AC3E}">
        <p14:creationId xmlns:p14="http://schemas.microsoft.com/office/powerpoint/2010/main" val="143382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our most important modules are </a:t>
            </a:r>
            <a:r>
              <a:rPr lang="en-US" b="1" dirty="0"/>
              <a:t>Attendance Tracking</a:t>
            </a:r>
            <a:r>
              <a:rPr lang="en-US" dirty="0"/>
              <a:t> and </a:t>
            </a:r>
            <a:r>
              <a:rPr lang="en-US" b="1" dirty="0"/>
              <a:t>Linear Searching</a:t>
            </a:r>
            <a:r>
              <a:rPr lang="en-US" dirty="0"/>
              <a:t>. The Attendance module doesn't just record presence; it calculates overtime hours which directly impacts the '</a:t>
            </a:r>
            <a:r>
              <a:rPr lang="en-US" dirty="0" err="1"/>
              <a:t>PayOT</a:t>
            </a:r>
            <a:r>
              <a:rPr lang="en-US" dirty="0"/>
              <a:t>' variable in our formula. For searching, we implemented a </a:t>
            </a:r>
            <a:r>
              <a:rPr lang="en-US" b="1" dirty="0"/>
              <a:t>Linear Search Function</a:t>
            </a:r>
            <a:r>
              <a:rPr lang="en-US" dirty="0"/>
              <a:t>. Because we use a Linked List, the system traverses each node, checking the Employee ID until it finds a match, displaying their full payroll profile instantly.</a:t>
            </a:r>
          </a:p>
        </p:txBody>
      </p:sp>
      <p:sp>
        <p:nvSpPr>
          <p:cNvPr id="4" name="Slide Number Placeholder 3"/>
          <p:cNvSpPr>
            <a:spLocks noGrp="1"/>
          </p:cNvSpPr>
          <p:nvPr>
            <p:ph type="sldNum" sz="quarter" idx="5"/>
          </p:nvPr>
        </p:nvSpPr>
        <p:spPr/>
        <p:txBody>
          <a:bodyPr/>
          <a:lstStyle/>
          <a:p>
            <a:fld id="{2D932A8A-D34F-4423-8567-3BE6AD402A6C}" type="slidenum">
              <a:rPr lang="en-US" smtClean="0"/>
              <a:t>9</a:t>
            </a:fld>
            <a:endParaRPr lang="en-US"/>
          </a:p>
        </p:txBody>
      </p:sp>
    </p:spTree>
    <p:extLst>
      <p:ext uri="{BB962C8B-B14F-4D97-AF65-F5344CB8AC3E}">
        <p14:creationId xmlns:p14="http://schemas.microsoft.com/office/powerpoint/2010/main" val="3005820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the system is built using </a:t>
            </a:r>
            <a:r>
              <a:rPr lang="en-US" b="1" dirty="0"/>
              <a:t>C++</a:t>
            </a:r>
            <a:r>
              <a:rPr lang="en-US" dirty="0"/>
              <a:t> with the </a:t>
            </a:r>
            <a:r>
              <a:rPr lang="en-US" b="1" dirty="0"/>
              <a:t>Double Liked List and File IO</a:t>
            </a:r>
            <a:r>
              <a:rPr lang="en-US" dirty="0"/>
              <a:t>. We followed a </a:t>
            </a:r>
            <a:r>
              <a:rPr lang="en-US" b="1" dirty="0"/>
              <a:t>Modular Programming</a:t>
            </a:r>
            <a:r>
              <a:rPr lang="en-US" dirty="0"/>
              <a:t> approach. Instead of one giant file, we used separate headers for different responsibilities: </a:t>
            </a:r>
            <a:r>
              <a:rPr lang="en-US" sz="1200" kern="1200" dirty="0" err="1">
                <a:solidFill>
                  <a:schemeClr val="tx1"/>
                </a:solidFill>
                <a:latin typeface="+mn-lt"/>
                <a:ea typeface="+mn-ea"/>
                <a:cs typeface="+mn-cs"/>
              </a:rPr>
              <a:t>Student.h</a:t>
            </a:r>
            <a:r>
              <a:rPr lang="en-US" dirty="0"/>
              <a:t> (or Employee structs), </a:t>
            </a:r>
            <a:r>
              <a:rPr lang="en-US" sz="1200" kern="1200" dirty="0" err="1">
                <a:solidFill>
                  <a:schemeClr val="tx1"/>
                </a:solidFill>
                <a:latin typeface="+mn-lt"/>
                <a:ea typeface="+mn-ea"/>
                <a:cs typeface="+mn-cs"/>
              </a:rPr>
              <a:t>Attendance.h</a:t>
            </a:r>
            <a:r>
              <a:rPr lang="en-US" dirty="0"/>
              <a:t>, and </a:t>
            </a:r>
            <a:r>
              <a:rPr lang="en-US" sz="1200" kern="1200" dirty="0" err="1">
                <a:solidFill>
                  <a:schemeClr val="tx1"/>
                </a:solidFill>
                <a:latin typeface="+mn-lt"/>
                <a:ea typeface="+mn-ea"/>
                <a:cs typeface="+mn-cs"/>
              </a:rPr>
              <a:t>Linked_List.h</a:t>
            </a:r>
            <a:r>
              <a:rPr lang="en-US" dirty="0"/>
              <a:t>. This makes the code easier to maintain and scale.</a:t>
            </a:r>
          </a:p>
        </p:txBody>
      </p:sp>
      <p:sp>
        <p:nvSpPr>
          <p:cNvPr id="4" name="Slide Number Placeholder 3"/>
          <p:cNvSpPr>
            <a:spLocks noGrp="1"/>
          </p:cNvSpPr>
          <p:nvPr>
            <p:ph type="sldNum" sz="quarter" idx="5"/>
          </p:nvPr>
        </p:nvSpPr>
        <p:spPr/>
        <p:txBody>
          <a:bodyPr/>
          <a:lstStyle/>
          <a:p>
            <a:fld id="{2D932A8A-D34F-4423-8567-3BE6AD402A6C}" type="slidenum">
              <a:rPr lang="en-US" smtClean="0"/>
              <a:t>10</a:t>
            </a:fld>
            <a:endParaRPr lang="en-US"/>
          </a:p>
        </p:txBody>
      </p:sp>
    </p:spTree>
    <p:extLst>
      <p:ext uri="{BB962C8B-B14F-4D97-AF65-F5344CB8AC3E}">
        <p14:creationId xmlns:p14="http://schemas.microsoft.com/office/powerpoint/2010/main" val="2379265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our project. We chose a </a:t>
            </a:r>
            <a:r>
              <a:rPr lang="en-US" b="1" dirty="0"/>
              <a:t>Doubly Linked List</a:t>
            </a:r>
            <a:r>
              <a:rPr lang="en-US" dirty="0"/>
              <a:t> over a standard array for three reasons:</a:t>
            </a:r>
          </a:p>
          <a:p>
            <a:r>
              <a:rPr lang="en-US" b="1" dirty="0"/>
              <a:t>Dynamic Memory:</a:t>
            </a:r>
            <a:r>
              <a:rPr lang="en-US" dirty="0"/>
              <a:t> We can add or fire employees without worrying about array size limits.</a:t>
            </a:r>
          </a:p>
          <a:p>
            <a:r>
              <a:rPr lang="en-US" b="1" dirty="0"/>
              <a:t>Bidirectional Traversal:</a:t>
            </a:r>
            <a:r>
              <a:rPr lang="en-US" dirty="0"/>
              <a:t> We can move forward to the next employee or back to the previous one easily.</a:t>
            </a:r>
          </a:p>
          <a:p>
            <a:r>
              <a:rPr lang="en-US" b="1" dirty="0"/>
              <a:t>Efficiency:</a:t>
            </a:r>
            <a:r>
              <a:rPr lang="en-US" dirty="0"/>
              <a:t> Insertion and deletion are much faster than in an array. As you can see in the code snippet, our </a:t>
            </a:r>
            <a:r>
              <a:rPr lang="en-US" sz="1200" kern="1200" dirty="0">
                <a:solidFill>
                  <a:schemeClr val="tx1"/>
                </a:solidFill>
                <a:latin typeface="+mn-lt"/>
                <a:ea typeface="+mn-ea"/>
                <a:cs typeface="+mn-cs"/>
              </a:rPr>
              <a:t>Employee_info</a:t>
            </a:r>
            <a:r>
              <a:rPr lang="en-US" dirty="0"/>
              <a:t> struct contains all the float variables needed for taxes, social society (NSSF), and deductions."</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11</a:t>
            </a:fld>
            <a:endParaRPr lang="en-US"/>
          </a:p>
        </p:txBody>
      </p:sp>
    </p:spTree>
    <p:extLst>
      <p:ext uri="{BB962C8B-B14F-4D97-AF65-F5344CB8AC3E}">
        <p14:creationId xmlns:p14="http://schemas.microsoft.com/office/powerpoint/2010/main" val="12007414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a 'Real-World' application, we implemented </a:t>
            </a:r>
            <a:r>
              <a:rPr lang="en-US" b="1" dirty="0"/>
              <a:t>File Stream (</a:t>
            </a:r>
            <a:r>
              <a:rPr lang="en-US" b="1" dirty="0" err="1"/>
              <a:t>fstream</a:t>
            </a:r>
            <a:r>
              <a:rPr lang="en-US" b="1" dirty="0"/>
              <a:t>)</a:t>
            </a:r>
            <a:r>
              <a:rPr lang="en-US" dirty="0"/>
              <a:t>. When you start the program, the </a:t>
            </a:r>
            <a:r>
              <a:rPr lang="en-US" b="1" dirty="0"/>
              <a:t>Reading</a:t>
            </a:r>
            <a:r>
              <a:rPr lang="en-US" dirty="0"/>
              <a:t> function populates the Linked List from the CSV. When you make a change, the </a:t>
            </a:r>
            <a:r>
              <a:rPr lang="en-US" b="1" dirty="0"/>
              <a:t>Writing</a:t>
            </a:r>
            <a:r>
              <a:rPr lang="en-US" dirty="0"/>
              <a:t> function saves the state back to the disk. This ensures that even if there is a power failure, the processed payroll data remains safe in the </a:t>
            </a:r>
            <a:r>
              <a:rPr lang="en-US" sz="1200" kern="1200" dirty="0">
                <a:solidFill>
                  <a:schemeClr val="tx1"/>
                </a:solidFill>
                <a:latin typeface="+mn-lt"/>
                <a:ea typeface="+mn-ea"/>
                <a:cs typeface="+mn-cs"/>
              </a:rPr>
              <a:t>final_salary.csv</a:t>
            </a:r>
            <a:endParaRPr lang="fr-CA" dirty="0"/>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12</a:t>
            </a:fld>
            <a:endParaRPr lang="en-US"/>
          </a:p>
        </p:txBody>
      </p:sp>
    </p:spTree>
    <p:extLst>
      <p:ext uri="{BB962C8B-B14F-4D97-AF65-F5344CB8AC3E}">
        <p14:creationId xmlns:p14="http://schemas.microsoft.com/office/powerpoint/2010/main" val="708704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the math. Our </a:t>
            </a:r>
            <a:r>
              <a:rPr lang="en-US" b="1" dirty="0"/>
              <a:t>Salary Calculation</a:t>
            </a:r>
            <a:r>
              <a:rPr lang="en-US" dirty="0"/>
              <a:t> follows this strict logic: </a:t>
            </a:r>
            <a:r>
              <a:rPr lang="en-US" sz="1200" kern="1200" dirty="0">
                <a:solidFill>
                  <a:schemeClr val="tx1"/>
                </a:solidFill>
                <a:latin typeface="+mn-lt"/>
                <a:ea typeface="+mn-ea"/>
                <a:cs typeface="+mn-cs"/>
              </a:rPr>
              <a:t>Final Salary = Base Salary + Overtime Pay - (Tax + Absence Deductions + NSSF)</a:t>
            </a:r>
            <a:r>
              <a:rPr lang="en-US" dirty="0"/>
              <a:t>. To organize this data, we use </a:t>
            </a:r>
            <a:r>
              <a:rPr lang="en-US" b="1" dirty="0"/>
              <a:t>Bubble Sort</a:t>
            </a:r>
            <a:r>
              <a:rPr lang="en-US" dirty="0"/>
              <a:t>. It compares the attendance counts of employees and swaps their positions in the list to help managers see who is working the most hours or who is frequently absent</a:t>
            </a:r>
          </a:p>
        </p:txBody>
      </p:sp>
      <p:sp>
        <p:nvSpPr>
          <p:cNvPr id="4" name="Slide Number Placeholder 3"/>
          <p:cNvSpPr>
            <a:spLocks noGrp="1"/>
          </p:cNvSpPr>
          <p:nvPr>
            <p:ph type="sldNum" sz="quarter" idx="5"/>
          </p:nvPr>
        </p:nvSpPr>
        <p:spPr/>
        <p:txBody>
          <a:bodyPr/>
          <a:lstStyle/>
          <a:p>
            <a:fld id="{2D932A8A-D34F-4423-8567-3BE6AD402A6C}" type="slidenum">
              <a:rPr lang="en-US" smtClean="0"/>
              <a:t>13</a:t>
            </a:fld>
            <a:endParaRPr lang="en-US"/>
          </a:p>
        </p:txBody>
      </p:sp>
    </p:spTree>
    <p:extLst>
      <p:ext uri="{BB962C8B-B14F-4D97-AF65-F5344CB8AC3E}">
        <p14:creationId xmlns:p14="http://schemas.microsoft.com/office/powerpoint/2010/main" val="1363630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14</a:t>
            </a:fld>
            <a:endParaRPr lang="en-US"/>
          </a:p>
        </p:txBody>
      </p:sp>
    </p:spTree>
    <p:extLst>
      <p:ext uri="{BB962C8B-B14F-4D97-AF65-F5344CB8AC3E}">
        <p14:creationId xmlns:p14="http://schemas.microsoft.com/office/powerpoint/2010/main" val="468241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system with various edge cases. For example:</a:t>
            </a:r>
          </a:p>
          <a:p>
            <a:r>
              <a:rPr lang="en-US" dirty="0"/>
              <a:t>What happens if an employee has zero absences?</a:t>
            </a:r>
          </a:p>
          <a:p>
            <a:r>
              <a:rPr lang="en-US" dirty="0"/>
              <a:t>What if they fall into the highest tax bracket? The system successfully validated these cases, producing a clean </a:t>
            </a:r>
            <a:r>
              <a:rPr lang="en-US" sz="1200" kern="1200" dirty="0">
                <a:solidFill>
                  <a:schemeClr val="tx1"/>
                </a:solidFill>
                <a:latin typeface="+mn-lt"/>
                <a:ea typeface="+mn-ea"/>
                <a:cs typeface="+mn-cs"/>
              </a:rPr>
              <a:t>final_Salary.csv</a:t>
            </a:r>
            <a:r>
              <a:rPr lang="en-US" dirty="0"/>
              <a:t> and a verified </a:t>
            </a:r>
            <a:r>
              <a:rPr lang="en-US" sz="1200" kern="1200" dirty="0">
                <a:solidFill>
                  <a:schemeClr val="tx1"/>
                </a:solidFill>
                <a:latin typeface="+mn-lt"/>
                <a:ea typeface="+mn-ea"/>
                <a:cs typeface="+mn-cs"/>
              </a:rPr>
              <a:t>tax_report.csv</a:t>
            </a:r>
            <a:r>
              <a:rPr lang="en-US" dirty="0"/>
              <a:t> for government submission.</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15</a:t>
            </a:fld>
            <a:endParaRPr lang="en-US"/>
          </a:p>
        </p:txBody>
      </p:sp>
    </p:spTree>
    <p:extLst>
      <p:ext uri="{BB962C8B-B14F-4D97-AF65-F5344CB8AC3E}">
        <p14:creationId xmlns:p14="http://schemas.microsoft.com/office/powerpoint/2010/main" val="3147727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was more than just a coding exercise. We achieved:</a:t>
            </a:r>
          </a:p>
          <a:p>
            <a:r>
              <a:rPr lang="en-US" dirty="0"/>
              <a:t>Practical mastery of </a:t>
            </a:r>
            <a:r>
              <a:rPr lang="en-US" b="1" dirty="0"/>
              <a:t>Linked Lists</a:t>
            </a:r>
            <a:r>
              <a:rPr lang="en-US" dirty="0"/>
              <a:t>.</a:t>
            </a:r>
          </a:p>
          <a:p>
            <a:r>
              <a:rPr lang="en-US" dirty="0"/>
              <a:t>A deep understanding of </a:t>
            </a:r>
            <a:r>
              <a:rPr lang="en-US" b="1" dirty="0"/>
              <a:t>File Handling</a:t>
            </a:r>
            <a:r>
              <a:rPr lang="en-US" dirty="0"/>
              <a:t>.</a:t>
            </a:r>
          </a:p>
          <a:p>
            <a:r>
              <a:rPr lang="en-US" dirty="0"/>
              <a:t>And most importantly, </a:t>
            </a:r>
            <a:r>
              <a:rPr lang="en-US" b="1" dirty="0"/>
              <a:t>Team Coordination</a:t>
            </a:r>
            <a:r>
              <a:rPr lang="en-US" dirty="0"/>
              <a:t>. We learned how to combine administrative efficiency with program logic to create a software solution that actually solves a business problem.“</a:t>
            </a:r>
            <a:br>
              <a:rPr lang="en-US" dirty="0"/>
            </a:br>
            <a:r>
              <a:rPr lang="en-US" dirty="0"/>
              <a:t>So now let throw to the demo code</a:t>
            </a:r>
          </a:p>
          <a:p>
            <a:endParaRPr lang="en-US" dirty="0"/>
          </a:p>
        </p:txBody>
      </p:sp>
      <p:sp>
        <p:nvSpPr>
          <p:cNvPr id="4" name="Slide Number Placeholder 3"/>
          <p:cNvSpPr>
            <a:spLocks noGrp="1"/>
          </p:cNvSpPr>
          <p:nvPr>
            <p:ph type="sldNum" sz="quarter" idx="5"/>
          </p:nvPr>
        </p:nvSpPr>
        <p:spPr/>
        <p:txBody>
          <a:bodyPr/>
          <a:lstStyle/>
          <a:p>
            <a:fld id="{2D932A8A-D34F-4423-8567-3BE6AD402A6C}" type="slidenum">
              <a:rPr lang="en-US" smtClean="0"/>
              <a:t>16</a:t>
            </a:fld>
            <a:endParaRPr lang="en-US"/>
          </a:p>
        </p:txBody>
      </p:sp>
    </p:spTree>
    <p:extLst>
      <p:ext uri="{BB962C8B-B14F-4D97-AF65-F5344CB8AC3E}">
        <p14:creationId xmlns:p14="http://schemas.microsoft.com/office/powerpoint/2010/main" val="2643624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00F2-806A-7663-3636-83D06B126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09B41-5D61-400B-4D6C-22FAB7F21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EB6B1-CCBE-DDE8-4C41-B15D3AE5970E}"/>
              </a:ext>
            </a:extLst>
          </p:cNvPr>
          <p:cNvSpPr>
            <a:spLocks noGrp="1"/>
          </p:cNvSpPr>
          <p:nvPr>
            <p:ph type="body" idx="1"/>
          </p:nvPr>
        </p:nvSpPr>
        <p:spPr/>
        <p:txBody>
          <a:bodyPr/>
          <a:lstStyle/>
          <a:p>
            <a:endParaRPr lang="fr-CA" dirty="0"/>
          </a:p>
          <a:p>
            <a:endParaRPr lang="en-US" dirty="0"/>
          </a:p>
        </p:txBody>
      </p:sp>
      <p:sp>
        <p:nvSpPr>
          <p:cNvPr id="4" name="Slide Number Placeholder 3">
            <a:extLst>
              <a:ext uri="{FF2B5EF4-FFF2-40B4-BE49-F238E27FC236}">
                <a16:creationId xmlns:a16="http://schemas.microsoft.com/office/drawing/2014/main" id="{A77849F7-4C4D-2BC9-E8D9-139572E551FD}"/>
              </a:ext>
            </a:extLst>
          </p:cNvPr>
          <p:cNvSpPr>
            <a:spLocks noGrp="1"/>
          </p:cNvSpPr>
          <p:nvPr>
            <p:ph type="sldNum" sz="quarter" idx="5"/>
          </p:nvPr>
        </p:nvSpPr>
        <p:spPr/>
        <p:txBody>
          <a:bodyPr/>
          <a:lstStyle/>
          <a:p>
            <a:fld id="{2D932A8A-D34F-4423-8567-3BE6AD402A6C}" type="slidenum">
              <a:rPr lang="en-US" smtClean="0"/>
              <a:t>17</a:t>
            </a:fld>
            <a:endParaRPr lang="en-US"/>
          </a:p>
        </p:txBody>
      </p:sp>
    </p:spTree>
    <p:extLst>
      <p:ext uri="{BB962C8B-B14F-4D97-AF65-F5344CB8AC3E}">
        <p14:creationId xmlns:p14="http://schemas.microsoft.com/office/powerpoint/2010/main" val="303636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7.svg"/><Relationship Id="rId3" Type="http://schemas.openxmlformats.org/officeDocument/2006/relationships/image" Target="../media/image1.jpeg"/><Relationship Id="rId7" Type="http://schemas.openxmlformats.org/officeDocument/2006/relationships/image" Target="../media/image3.svg"/><Relationship Id="rId12"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9.png"/><Relationship Id="rId5" Type="http://schemas.openxmlformats.org/officeDocument/2006/relationships/image" Target="../media/image11.jpeg"/><Relationship Id="rId15" Type="http://schemas.openxmlformats.org/officeDocument/2006/relationships/image" Target="../media/image5.svg"/><Relationship Id="rId10" Type="http://schemas.openxmlformats.org/officeDocument/2006/relationships/image" Target="../media/image8.jpeg"/><Relationship Id="rId4" Type="http://schemas.openxmlformats.org/officeDocument/2006/relationships/image" Target="../media/image10.jpeg"/><Relationship Id="rId9" Type="http://schemas.openxmlformats.org/officeDocument/2006/relationships/image" Target="../media/image13.jpeg"/><Relationship Id="rId1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3" Type="http://schemas.openxmlformats.org/officeDocument/2006/relationships/image" Target="../media/image1.jpeg"/><Relationship Id="rId7" Type="http://schemas.openxmlformats.org/officeDocument/2006/relationships/image" Target="../media/image7.svg"/><Relationship Id="rId12"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11" Type="http://schemas.microsoft.com/office/2007/relationships/hdphoto" Target="../media/hdphoto1.wdp"/><Relationship Id="rId5" Type="http://schemas.openxmlformats.org/officeDocument/2006/relationships/image" Target="../media/image3.svg"/><Relationship Id="rId10" Type="http://schemas.openxmlformats.org/officeDocument/2006/relationships/image" Target="../media/image14.png"/><Relationship Id="rId4" Type="http://schemas.openxmlformats.org/officeDocument/2006/relationships/image" Target="../media/image2.png"/><Relationship Id="rId9"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jpg"/><Relationship Id="rId3" Type="http://schemas.openxmlformats.org/officeDocument/2006/relationships/image" Target="../media/image1.jpeg"/><Relationship Id="rId7" Type="http://schemas.openxmlformats.org/officeDocument/2006/relationships/image" Target="../media/image16.svg"/><Relationship Id="rId12"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3.svg"/><Relationship Id="rId1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2.png"/><Relationship Id="rId9" Type="http://schemas.openxmlformats.org/officeDocument/2006/relationships/image" Target="../media/image18.svg"/><Relationship Id="rId1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1.jpe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26.jpe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jpeg"/><Relationship Id="rId7"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svg"/><Relationship Id="rId3" Type="http://schemas.openxmlformats.org/officeDocument/2006/relationships/image" Target="../media/image1.jpeg"/><Relationship Id="rId7" Type="http://schemas.openxmlformats.org/officeDocument/2006/relationships/image" Target="../media/image24.png"/><Relationship Id="rId12"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33.png"/><Relationship Id="rId5" Type="http://schemas.openxmlformats.org/officeDocument/2006/relationships/image" Target="../media/image3.svg"/><Relationship Id="rId15" Type="http://schemas.openxmlformats.org/officeDocument/2006/relationships/image" Target="../media/image9.png"/><Relationship Id="rId10" Type="http://schemas.openxmlformats.org/officeDocument/2006/relationships/image" Target="../media/image32.svg"/><Relationship Id="rId4" Type="http://schemas.openxmlformats.org/officeDocument/2006/relationships/image" Target="../media/image2.png"/><Relationship Id="rId9" Type="http://schemas.openxmlformats.org/officeDocument/2006/relationships/image" Target="../media/image31.svg"/><Relationship Id="rId14" Type="http://schemas.openxmlformats.org/officeDocument/2006/relationships/image" Target="../media/image8.jpeg"/></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jpeg"/><Relationship Id="rId11" Type="http://schemas.openxmlformats.org/officeDocument/2006/relationships/image" Target="../media/image35.svg"/><Relationship Id="rId5" Type="http://schemas.openxmlformats.org/officeDocument/2006/relationships/image" Target="../media/image3.svg"/><Relationship Id="rId10" Type="http://schemas.openxmlformats.org/officeDocument/2006/relationships/image" Target="../media/image33.png"/><Relationship Id="rId4" Type="http://schemas.openxmlformats.org/officeDocument/2006/relationships/image" Target="../media/image2.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1.jpeg"/><Relationship Id="rId7" Type="http://schemas.openxmlformats.org/officeDocument/2006/relationships/image" Target="../media/image38.jp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35.svg"/><Relationship Id="rId5" Type="http://schemas.openxmlformats.org/officeDocument/2006/relationships/image" Target="../media/image3.svg"/><Relationship Id="rId10" Type="http://schemas.openxmlformats.org/officeDocument/2006/relationships/image" Target="../media/image33.png"/><Relationship Id="rId4" Type="http://schemas.openxmlformats.org/officeDocument/2006/relationships/image" Target="../media/image2.png"/><Relationship Id="rId9"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40.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42.png"/></Relationships>
</file>

<file path=ppt/slides/_rels/slide1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1.jpeg"/><Relationship Id="rId7" Type="http://schemas.openxmlformats.org/officeDocument/2006/relationships/image" Target="../media/image31.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43.png"/><Relationship Id="rId5" Type="http://schemas.openxmlformats.org/officeDocument/2006/relationships/image" Target="../media/image3.sv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s/_rels/slide18.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3" name="Freeform 3"/>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258928" flipV="1">
            <a:off x="-5608231" y="9244371"/>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8484660" y="8823124"/>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sp>
      <p:sp>
        <p:nvSpPr>
          <p:cNvPr id="8" name="TextBox 8"/>
          <p:cNvSpPr txBox="1"/>
          <p:nvPr/>
        </p:nvSpPr>
        <p:spPr>
          <a:xfrm>
            <a:off x="2390340" y="2500983"/>
            <a:ext cx="15099296" cy="1718419"/>
          </a:xfrm>
          <a:prstGeom prst="rect">
            <a:avLst/>
          </a:prstGeom>
        </p:spPr>
        <p:txBody>
          <a:bodyPr wrap="square" lIns="0" tIns="0" rIns="0" bIns="0" rtlCol="0" anchor="t">
            <a:spAutoFit/>
          </a:bodyPr>
          <a:lstStyle/>
          <a:p>
            <a:pPr algn="l">
              <a:lnSpc>
                <a:spcPts val="13393"/>
              </a:lnSpc>
            </a:pPr>
            <a:r>
              <a:rPr lang="fr-CA" sz="9566" dirty="0">
                <a:solidFill>
                  <a:srgbClr val="00AAEB"/>
                </a:solidFill>
                <a:latin typeface="Lalezar"/>
                <a:ea typeface="Lalezar"/>
                <a:cs typeface="Lalezar"/>
                <a:sym typeface="Lalezar"/>
              </a:rPr>
              <a:t>P</a:t>
            </a:r>
            <a:r>
              <a:rPr lang="en-US" sz="9566" dirty="0" err="1">
                <a:solidFill>
                  <a:srgbClr val="00AAEB"/>
                </a:solidFill>
                <a:latin typeface="Lalezar"/>
                <a:ea typeface="Lalezar"/>
                <a:cs typeface="Lalezar"/>
                <a:sym typeface="Lalezar"/>
              </a:rPr>
              <a:t>ayroll</a:t>
            </a:r>
            <a:r>
              <a:rPr lang="en-US" sz="9566" dirty="0">
                <a:solidFill>
                  <a:srgbClr val="00AAEB"/>
                </a:solidFill>
                <a:latin typeface="Lalezar"/>
                <a:ea typeface="Lalezar"/>
                <a:cs typeface="Lalezar"/>
                <a:sym typeface="Lalezar"/>
              </a:rPr>
              <a:t> </a:t>
            </a:r>
            <a:r>
              <a:rPr lang="en-US" sz="9566" dirty="0">
                <a:latin typeface="Lalezar"/>
                <a:ea typeface="Lalezar"/>
                <a:cs typeface="Lalezar"/>
                <a:sym typeface="Lalezar"/>
              </a:rPr>
              <a:t>Management</a:t>
            </a:r>
            <a:r>
              <a:rPr lang="en-US" sz="9566" dirty="0">
                <a:solidFill>
                  <a:srgbClr val="00AAEB"/>
                </a:solidFill>
                <a:latin typeface="Lalezar"/>
                <a:ea typeface="Lalezar"/>
                <a:cs typeface="Lalezar"/>
                <a:sym typeface="Lalezar"/>
              </a:rPr>
              <a:t> </a:t>
            </a:r>
            <a:r>
              <a:rPr lang="en-US" sz="9566" dirty="0">
                <a:solidFill>
                  <a:schemeClr val="tx1">
                    <a:lumMod val="50000"/>
                    <a:lumOff val="50000"/>
                  </a:schemeClr>
                </a:solidFill>
                <a:latin typeface="Lalezar"/>
                <a:ea typeface="Lalezar"/>
                <a:cs typeface="Lalezar"/>
                <a:sym typeface="Lalezar"/>
              </a:rPr>
              <a:t>System</a:t>
            </a:r>
          </a:p>
        </p:txBody>
      </p:sp>
      <p:sp>
        <p:nvSpPr>
          <p:cNvPr id="11" name="TextBox 10">
            <a:extLst>
              <a:ext uri="{FF2B5EF4-FFF2-40B4-BE49-F238E27FC236}">
                <a16:creationId xmlns:a16="http://schemas.microsoft.com/office/drawing/2014/main" id="{C01D2F76-060D-2CB1-0993-8188BDF4437C}"/>
              </a:ext>
            </a:extLst>
          </p:cNvPr>
          <p:cNvSpPr txBox="1"/>
          <p:nvPr/>
        </p:nvSpPr>
        <p:spPr>
          <a:xfrm>
            <a:off x="4720353" y="4108154"/>
            <a:ext cx="8847294" cy="1077218"/>
          </a:xfrm>
          <a:prstGeom prst="rect">
            <a:avLst/>
          </a:prstGeom>
          <a:noFill/>
        </p:spPr>
        <p:txBody>
          <a:bodyPr wrap="none" rtlCol="0">
            <a:spAutoFit/>
          </a:bodyPr>
          <a:lstStyle/>
          <a:p>
            <a:pPr algn="ctr"/>
            <a:r>
              <a:rPr lang="en-US" sz="3200" b="1" dirty="0">
                <a:solidFill>
                  <a:srgbClr val="00B0F0"/>
                </a:solidFill>
                <a:latin typeface="Sukar"/>
                <a:cs typeface="Sukar"/>
              </a:rPr>
              <a:t>Data Structure and Programming II | Group I2-GIC-2</a:t>
            </a:r>
          </a:p>
          <a:p>
            <a:pPr algn="ctr"/>
            <a:r>
              <a:rPr lang="en-US" sz="3200" b="1" dirty="0">
                <a:solidFill>
                  <a:schemeClr val="accent1">
                    <a:lumMod val="50000"/>
                  </a:schemeClr>
                </a:solidFill>
                <a:latin typeface="Sukar"/>
                <a:cs typeface="Sukar"/>
              </a:rPr>
              <a:t>Academic Year 2025-2026</a:t>
            </a:r>
          </a:p>
        </p:txBody>
      </p:sp>
      <p:sp>
        <p:nvSpPr>
          <p:cNvPr id="12" name="Flowchart: Terminator 11">
            <a:extLst>
              <a:ext uri="{FF2B5EF4-FFF2-40B4-BE49-F238E27FC236}">
                <a16:creationId xmlns:a16="http://schemas.microsoft.com/office/drawing/2014/main" id="{489B0372-927F-0416-CD45-BA7D701A7C48}"/>
              </a:ext>
            </a:extLst>
          </p:cNvPr>
          <p:cNvSpPr/>
          <p:nvPr/>
        </p:nvSpPr>
        <p:spPr>
          <a:xfrm>
            <a:off x="1469683" y="6656776"/>
            <a:ext cx="3142950" cy="860488"/>
          </a:xfrm>
          <a:prstGeom prst="flowChartTerminato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b="1" dirty="0"/>
              <a:t>S. </a:t>
            </a:r>
            <a:r>
              <a:rPr lang="en-US" b="1" dirty="0" err="1"/>
              <a:t>Manutnithya</a:t>
            </a:r>
            <a:endParaRPr lang="en-US" b="1" dirty="0"/>
          </a:p>
          <a:p>
            <a:pPr algn="ctr"/>
            <a:r>
              <a:rPr lang="en-US" b="1" dirty="0"/>
              <a:t>e20240477</a:t>
            </a:r>
          </a:p>
        </p:txBody>
      </p:sp>
      <p:sp>
        <p:nvSpPr>
          <p:cNvPr id="15" name="Flowchart: Terminator 14">
            <a:extLst>
              <a:ext uri="{FF2B5EF4-FFF2-40B4-BE49-F238E27FC236}">
                <a16:creationId xmlns:a16="http://schemas.microsoft.com/office/drawing/2014/main" id="{064D0D75-A38D-E4BD-19F0-F009AAB9130B}"/>
              </a:ext>
            </a:extLst>
          </p:cNvPr>
          <p:cNvSpPr/>
          <p:nvPr/>
        </p:nvSpPr>
        <p:spPr>
          <a:xfrm>
            <a:off x="4806143" y="6642949"/>
            <a:ext cx="3142950" cy="860488"/>
          </a:xfrm>
          <a:prstGeom prst="flowChartTerminator">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b="1" dirty="0"/>
              <a:t>T. Chan Dara</a:t>
            </a:r>
          </a:p>
          <a:p>
            <a:pPr algn="ctr"/>
            <a:r>
              <a:rPr lang="en-US" b="1" dirty="0"/>
              <a:t>e20240165</a:t>
            </a:r>
          </a:p>
        </p:txBody>
      </p:sp>
      <p:sp>
        <p:nvSpPr>
          <p:cNvPr id="16" name="Flowchart: Terminator 15">
            <a:extLst>
              <a:ext uri="{FF2B5EF4-FFF2-40B4-BE49-F238E27FC236}">
                <a16:creationId xmlns:a16="http://schemas.microsoft.com/office/drawing/2014/main" id="{29773E29-E520-F924-6611-807802A9EE54}"/>
              </a:ext>
            </a:extLst>
          </p:cNvPr>
          <p:cNvSpPr/>
          <p:nvPr/>
        </p:nvSpPr>
        <p:spPr>
          <a:xfrm>
            <a:off x="8142603" y="6652206"/>
            <a:ext cx="3142950" cy="860488"/>
          </a:xfrm>
          <a:prstGeom prst="flowChartTerminator">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b="1" dirty="0"/>
              <a:t>T. </a:t>
            </a:r>
            <a:r>
              <a:rPr lang="en-US" b="1" dirty="0" err="1"/>
              <a:t>Sovanoudom</a:t>
            </a:r>
            <a:endParaRPr lang="en-US" b="1" dirty="0"/>
          </a:p>
          <a:p>
            <a:pPr algn="ctr"/>
            <a:r>
              <a:rPr lang="en-US" b="1" dirty="0"/>
              <a:t>e20240794</a:t>
            </a:r>
          </a:p>
        </p:txBody>
      </p:sp>
      <p:sp>
        <p:nvSpPr>
          <p:cNvPr id="17" name="Flowchart: Terminator 16">
            <a:extLst>
              <a:ext uri="{FF2B5EF4-FFF2-40B4-BE49-F238E27FC236}">
                <a16:creationId xmlns:a16="http://schemas.microsoft.com/office/drawing/2014/main" id="{CC1E900E-5BC0-9701-4D07-E9990606EAB5}"/>
              </a:ext>
            </a:extLst>
          </p:cNvPr>
          <p:cNvSpPr/>
          <p:nvPr/>
        </p:nvSpPr>
        <p:spPr>
          <a:xfrm>
            <a:off x="4871519" y="7812638"/>
            <a:ext cx="3142950" cy="860488"/>
          </a:xfrm>
          <a:prstGeom prst="flowChartTerminator">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US" b="1" dirty="0"/>
              <a:t>T. </a:t>
            </a:r>
            <a:r>
              <a:rPr lang="en-US" b="1" dirty="0" err="1"/>
              <a:t>Bounthet</a:t>
            </a:r>
            <a:endParaRPr lang="en-US" b="1" dirty="0"/>
          </a:p>
          <a:p>
            <a:pPr algn="ctr"/>
            <a:r>
              <a:rPr lang="en-US" b="1" dirty="0"/>
              <a:t>e20240920</a:t>
            </a:r>
          </a:p>
        </p:txBody>
      </p:sp>
      <p:sp>
        <p:nvSpPr>
          <p:cNvPr id="5" name="Freeform 5"/>
          <p:cNvSpPr/>
          <p:nvPr/>
        </p:nvSpPr>
        <p:spPr>
          <a:xfrm>
            <a:off x="10943495" y="4274236"/>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8" name="TextBox 17">
            <a:extLst>
              <a:ext uri="{FF2B5EF4-FFF2-40B4-BE49-F238E27FC236}">
                <a16:creationId xmlns:a16="http://schemas.microsoft.com/office/drawing/2014/main" id="{011519FA-7D71-27AB-D56B-4666B87FA13D}"/>
              </a:ext>
            </a:extLst>
          </p:cNvPr>
          <p:cNvSpPr txBox="1"/>
          <p:nvPr/>
        </p:nvSpPr>
        <p:spPr>
          <a:xfrm>
            <a:off x="5606413" y="5891684"/>
            <a:ext cx="1542410" cy="646331"/>
          </a:xfrm>
          <a:prstGeom prst="rect">
            <a:avLst/>
          </a:prstGeom>
          <a:noFill/>
        </p:spPr>
        <p:txBody>
          <a:bodyPr wrap="none" rtlCol="0">
            <a:spAutoFit/>
          </a:bodyPr>
          <a:lstStyle/>
          <a:p>
            <a:r>
              <a:rPr lang="en-US" sz="3600" dirty="0">
                <a:solidFill>
                  <a:schemeClr val="accent1">
                    <a:lumMod val="50000"/>
                  </a:schemeClr>
                </a:solidFill>
                <a:latin typeface="Lalezar"/>
                <a:cs typeface="Lalezar"/>
              </a:rPr>
              <a:t>Team 3</a:t>
            </a:r>
          </a:p>
        </p:txBody>
      </p:sp>
      <p:grpSp>
        <p:nvGrpSpPr>
          <p:cNvPr id="21" name="Group 20">
            <a:extLst>
              <a:ext uri="{FF2B5EF4-FFF2-40B4-BE49-F238E27FC236}">
                <a16:creationId xmlns:a16="http://schemas.microsoft.com/office/drawing/2014/main" id="{5098C69F-7227-1293-E2C3-CD970BD67283}"/>
              </a:ext>
            </a:extLst>
          </p:cNvPr>
          <p:cNvGrpSpPr/>
          <p:nvPr/>
        </p:nvGrpSpPr>
        <p:grpSpPr>
          <a:xfrm>
            <a:off x="1469683" y="1303328"/>
            <a:ext cx="11331916" cy="1124886"/>
            <a:chOff x="1469683" y="1303328"/>
            <a:chExt cx="11331916" cy="1124886"/>
          </a:xfrm>
        </p:grpSpPr>
        <p:sp>
          <p:nvSpPr>
            <p:cNvPr id="7" name="Freeform 7"/>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cstate="print">
                <a:extLst>
                  <a:ext uri="{28A0092B-C50C-407E-A947-70E740481C1C}">
                    <a14:useLocalDpi xmlns:a14="http://schemas.microsoft.com/office/drawing/2010/main" val="0"/>
                  </a:ext>
                </a:extLst>
              </a:blip>
              <a:stretch>
                <a:fillRect/>
              </a:stretch>
            </a:blipFill>
          </p:spPr>
        </p:sp>
        <p:sp>
          <p:nvSpPr>
            <p:cNvPr id="10" name="TextBox 10"/>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9" name="Freeform 3">
              <a:extLst>
                <a:ext uri="{FF2B5EF4-FFF2-40B4-BE49-F238E27FC236}">
                  <a16:creationId xmlns:a16="http://schemas.microsoft.com/office/drawing/2014/main" id="{BA27B4CA-3B6B-6DCC-E41D-9686E95CAA6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1"/>
              <a:stretch>
                <a:fillRect/>
              </a:stretch>
            </a:blipFill>
          </p:spPr>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5" name="Freeform 5"/>
          <p:cNvSpPr/>
          <p:nvPr/>
        </p:nvSpPr>
        <p:spPr>
          <a:xfrm>
            <a:off x="9597958"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4"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txBody>
          <a:bodyPr/>
          <a:lstStyle/>
          <a:p>
            <a:endParaRPr lang="en-US" dirty="0"/>
          </a:p>
        </p:txBody>
      </p:sp>
      <p:sp>
        <p:nvSpPr>
          <p:cNvPr id="7" name="Freeform 7"/>
          <p:cNvSpPr/>
          <p:nvPr/>
        </p:nvSpPr>
        <p:spPr>
          <a:xfrm>
            <a:off x="1297380"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5"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sp>
        <p:nvSpPr>
          <p:cNvPr id="11" name="TextBox 11"/>
          <p:cNvSpPr txBox="1"/>
          <p:nvPr/>
        </p:nvSpPr>
        <p:spPr>
          <a:xfrm>
            <a:off x="5382656" y="2223427"/>
            <a:ext cx="7761483" cy="1333698"/>
          </a:xfrm>
          <a:prstGeom prst="rect">
            <a:avLst/>
          </a:prstGeom>
        </p:spPr>
        <p:txBody>
          <a:bodyPr wrap="square" lIns="0" tIns="0" rIns="0" bIns="0" rtlCol="0" anchor="t">
            <a:spAutoFit/>
          </a:bodyPr>
          <a:lstStyle/>
          <a:p>
            <a:pPr algn="ctr">
              <a:lnSpc>
                <a:spcPts val="10353"/>
              </a:lnSpc>
            </a:pPr>
            <a:r>
              <a:rPr lang="en-US" sz="7395" dirty="0">
                <a:solidFill>
                  <a:srgbClr val="00AAEB"/>
                </a:solidFill>
                <a:latin typeface="Lalezar"/>
                <a:ea typeface="Lalezar"/>
                <a:cs typeface="Lalezar"/>
                <a:sym typeface="Lalezar"/>
              </a:rPr>
              <a:t>Our Team Members</a:t>
            </a:r>
          </a:p>
        </p:txBody>
      </p:sp>
      <p:sp>
        <p:nvSpPr>
          <p:cNvPr id="15" name="TextBox 15"/>
          <p:cNvSpPr txBox="1"/>
          <p:nvPr/>
        </p:nvSpPr>
        <p:spPr>
          <a:xfrm>
            <a:off x="5506915" y="6640357"/>
            <a:ext cx="2895601" cy="1179810"/>
          </a:xfrm>
          <a:prstGeom prst="rect">
            <a:avLst/>
          </a:prstGeom>
        </p:spPr>
        <p:txBody>
          <a:bodyPr wrap="square"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Taing </a:t>
            </a:r>
          </a:p>
          <a:p>
            <a:pPr algn="ctr">
              <a:lnSpc>
                <a:spcPts val="4587"/>
              </a:lnSpc>
            </a:pPr>
            <a:r>
              <a:rPr lang="en-US" sz="3699" dirty="0">
                <a:solidFill>
                  <a:srgbClr val="0067A8"/>
                </a:solidFill>
                <a:latin typeface="Lalezar"/>
                <a:ea typeface="Lalezar"/>
                <a:cs typeface="Lalezar"/>
                <a:sym typeface="Lalezar"/>
              </a:rPr>
              <a:t>Chan Dara</a:t>
            </a:r>
          </a:p>
        </p:txBody>
      </p:sp>
      <p:sp>
        <p:nvSpPr>
          <p:cNvPr id="16" name="TextBox 16"/>
          <p:cNvSpPr txBox="1"/>
          <p:nvPr/>
        </p:nvSpPr>
        <p:spPr>
          <a:xfrm>
            <a:off x="1180249" y="6640357"/>
            <a:ext cx="3508881" cy="1179810"/>
          </a:xfrm>
          <a:prstGeom prst="rect">
            <a:avLst/>
          </a:prstGeom>
        </p:spPr>
        <p:txBody>
          <a:bodyPr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Sean </a:t>
            </a:r>
            <a:r>
              <a:rPr lang="en-US" sz="3699" dirty="0" err="1">
                <a:solidFill>
                  <a:srgbClr val="0067A8"/>
                </a:solidFill>
                <a:latin typeface="Lalezar"/>
                <a:ea typeface="Lalezar"/>
                <a:cs typeface="Lalezar"/>
                <a:sym typeface="Lalezar"/>
              </a:rPr>
              <a:t>Manutnithya</a:t>
            </a:r>
            <a:endParaRPr lang="en-US" sz="3699" dirty="0">
              <a:solidFill>
                <a:srgbClr val="0067A8"/>
              </a:solidFill>
              <a:latin typeface="Lalezar"/>
              <a:ea typeface="Lalezar"/>
              <a:cs typeface="Lalezar"/>
              <a:sym typeface="Lalezar"/>
            </a:endParaRPr>
          </a:p>
        </p:txBody>
      </p:sp>
      <p:sp>
        <p:nvSpPr>
          <p:cNvPr id="17" name="TextBox 17"/>
          <p:cNvSpPr txBox="1"/>
          <p:nvPr/>
        </p:nvSpPr>
        <p:spPr>
          <a:xfrm>
            <a:off x="14149275" y="6640357"/>
            <a:ext cx="2733090" cy="1179810"/>
          </a:xfrm>
          <a:prstGeom prst="rect">
            <a:avLst/>
          </a:prstGeom>
        </p:spPr>
        <p:txBody>
          <a:bodyPr wrap="square" lIns="0" tIns="0" rIns="0" bIns="0" rtlCol="0" anchor="t">
            <a:spAutoFit/>
          </a:bodyPr>
          <a:lstStyle/>
          <a:p>
            <a:pPr algn="ctr">
              <a:lnSpc>
                <a:spcPts val="4587"/>
              </a:lnSpc>
            </a:pPr>
            <a:r>
              <a:rPr lang="en-US" sz="3699" dirty="0">
                <a:solidFill>
                  <a:srgbClr val="0067A8"/>
                </a:solidFill>
                <a:latin typeface="Lalezar"/>
                <a:ea typeface="Lalezar"/>
                <a:cs typeface="Lalezar"/>
                <a:sym typeface="Lalezar"/>
              </a:rPr>
              <a:t>Thon </a:t>
            </a:r>
            <a:r>
              <a:rPr lang="en-US" sz="3699" dirty="0" err="1">
                <a:solidFill>
                  <a:srgbClr val="0067A8"/>
                </a:solidFill>
                <a:latin typeface="Lalezar"/>
                <a:ea typeface="Lalezar"/>
                <a:cs typeface="Lalezar"/>
                <a:sym typeface="Lalezar"/>
              </a:rPr>
              <a:t>Bounthet</a:t>
            </a:r>
            <a:endParaRPr lang="en-US" sz="3699" dirty="0">
              <a:solidFill>
                <a:srgbClr val="0067A8"/>
              </a:solidFill>
              <a:latin typeface="Lalezar"/>
              <a:ea typeface="Lalezar"/>
              <a:cs typeface="Lalezar"/>
              <a:sym typeface="Lalezar"/>
            </a:endParaRPr>
          </a:p>
        </p:txBody>
      </p:sp>
      <p:sp>
        <p:nvSpPr>
          <p:cNvPr id="18" name="Freeform 18"/>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Freeform 9">
            <a:extLst>
              <a:ext uri="{FF2B5EF4-FFF2-40B4-BE49-F238E27FC236}">
                <a16:creationId xmlns:a16="http://schemas.microsoft.com/office/drawing/2014/main" id="{5E237497-04B5-D484-215B-B13215C469D8}"/>
              </a:ext>
            </a:extLst>
          </p:cNvPr>
          <p:cNvSpPr/>
          <p:nvPr/>
        </p:nvSpPr>
        <p:spPr>
          <a:xfrm>
            <a:off x="13878510" y="3429000"/>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8"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sp>
        <p:nvSpPr>
          <p:cNvPr id="4" name="TextBox 3">
            <a:extLst>
              <a:ext uri="{FF2B5EF4-FFF2-40B4-BE49-F238E27FC236}">
                <a16:creationId xmlns:a16="http://schemas.microsoft.com/office/drawing/2014/main" id="{405A7488-43D8-6F58-7ED4-880CE3C58B8B}"/>
              </a:ext>
            </a:extLst>
          </p:cNvPr>
          <p:cNvSpPr txBox="1"/>
          <p:nvPr/>
        </p:nvSpPr>
        <p:spPr>
          <a:xfrm>
            <a:off x="9874310" y="6614837"/>
            <a:ext cx="2895600" cy="1230850"/>
          </a:xfrm>
          <a:prstGeom prst="rect">
            <a:avLst/>
          </a:prstGeom>
          <a:noFill/>
        </p:spPr>
        <p:txBody>
          <a:bodyPr wrap="square" rtlCol="0">
            <a:spAutoFit/>
          </a:bodyPr>
          <a:lstStyle/>
          <a:p>
            <a:pPr algn="ctr"/>
            <a:r>
              <a:rPr lang="en-US" sz="3699" dirty="0">
                <a:solidFill>
                  <a:srgbClr val="0067A8"/>
                </a:solidFill>
                <a:latin typeface="Lalezar"/>
                <a:cs typeface="Lalezar"/>
              </a:rPr>
              <a:t>Tang </a:t>
            </a:r>
            <a:r>
              <a:rPr lang="en-US" sz="3699" dirty="0" err="1">
                <a:solidFill>
                  <a:srgbClr val="0067A8"/>
                </a:solidFill>
                <a:latin typeface="Lalezar"/>
                <a:cs typeface="Lalezar"/>
              </a:rPr>
              <a:t>Sovanoudom</a:t>
            </a:r>
            <a:endParaRPr lang="en-US" sz="3699" dirty="0">
              <a:solidFill>
                <a:srgbClr val="0067A8"/>
              </a:solidFill>
              <a:latin typeface="Lalezar"/>
              <a:cs typeface="Lalezar"/>
            </a:endParaRPr>
          </a:p>
        </p:txBody>
      </p:sp>
      <p:sp>
        <p:nvSpPr>
          <p:cNvPr id="6" name="Freeform 5">
            <a:extLst>
              <a:ext uri="{FF2B5EF4-FFF2-40B4-BE49-F238E27FC236}">
                <a16:creationId xmlns:a16="http://schemas.microsoft.com/office/drawing/2014/main" id="{D7A70C2E-A1A3-4DD0-C2EF-DA2184EF5391}"/>
              </a:ext>
            </a:extLst>
          </p:cNvPr>
          <p:cNvSpPr/>
          <p:nvPr/>
        </p:nvSpPr>
        <p:spPr>
          <a:xfrm>
            <a:off x="5317406" y="3466346"/>
            <a:ext cx="3274620" cy="2693959"/>
          </a:xfrm>
          <a:custGeom>
            <a:avLst/>
            <a:gdLst/>
            <a:ahLst/>
            <a:cxnLst/>
            <a:rect l="l" t="t" r="r" b="b"/>
            <a:pathLst>
              <a:path w="1381939" h="1136891">
                <a:moveTo>
                  <a:pt x="0" y="124380"/>
                </a:moveTo>
                <a:lnTo>
                  <a:pt x="0" y="740734"/>
                </a:lnTo>
                <a:cubicBezTo>
                  <a:pt x="0" y="809427"/>
                  <a:pt x="55687" y="865114"/>
                  <a:pt x="124380" y="865114"/>
                </a:cubicBezTo>
                <a:lnTo>
                  <a:pt x="267087" y="865114"/>
                </a:lnTo>
                <a:cubicBezTo>
                  <a:pt x="303063" y="865114"/>
                  <a:pt x="337276" y="880690"/>
                  <a:pt x="360898" y="907824"/>
                </a:cubicBezTo>
                <a:lnTo>
                  <a:pt x="523133" y="1094180"/>
                </a:lnTo>
                <a:cubicBezTo>
                  <a:pt x="546755" y="1121314"/>
                  <a:pt x="580969" y="1136891"/>
                  <a:pt x="616944" y="1136891"/>
                </a:cubicBezTo>
                <a:lnTo>
                  <a:pt x="1088079" y="1136891"/>
                </a:lnTo>
                <a:cubicBezTo>
                  <a:pt x="1123987" y="1136891"/>
                  <a:pt x="1158143" y="1121372"/>
                  <a:pt x="1181763" y="1094326"/>
                </a:cubicBezTo>
                <a:lnTo>
                  <a:pt x="1340954" y="912044"/>
                </a:lnTo>
                <a:cubicBezTo>
                  <a:pt x="1367377" y="881787"/>
                  <a:pt x="1381939" y="842978"/>
                  <a:pt x="1381939" y="802806"/>
                </a:cubicBezTo>
                <a:lnTo>
                  <a:pt x="1381939" y="124380"/>
                </a:lnTo>
                <a:cubicBezTo>
                  <a:pt x="1381939" y="91391"/>
                  <a:pt x="1368834" y="59754"/>
                  <a:pt x="1345507" y="36428"/>
                </a:cubicBezTo>
                <a:cubicBezTo>
                  <a:pt x="1322180" y="13102"/>
                  <a:pt x="1290542" y="-1"/>
                  <a:pt x="1257554" y="0"/>
                </a:cubicBezTo>
                <a:lnTo>
                  <a:pt x="124380" y="0"/>
                </a:lnTo>
                <a:cubicBezTo>
                  <a:pt x="55687" y="0"/>
                  <a:pt x="0" y="55687"/>
                  <a:pt x="0" y="124380"/>
                </a:cubicBezTo>
                <a:close/>
              </a:path>
            </a:pathLst>
          </a:custGeom>
          <a:blipFill>
            <a:blip r:embed="rId9"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txBody>
          <a:bodyPr/>
          <a:lstStyle/>
          <a:p>
            <a:endParaRPr lang="en-US" dirty="0"/>
          </a:p>
        </p:txBody>
      </p:sp>
      <p:grpSp>
        <p:nvGrpSpPr>
          <p:cNvPr id="21" name="Group 20">
            <a:extLst>
              <a:ext uri="{FF2B5EF4-FFF2-40B4-BE49-F238E27FC236}">
                <a16:creationId xmlns:a16="http://schemas.microsoft.com/office/drawing/2014/main" id="{013934A8-EFC7-0A20-0E89-040497324D84}"/>
              </a:ext>
            </a:extLst>
          </p:cNvPr>
          <p:cNvGrpSpPr/>
          <p:nvPr/>
        </p:nvGrpSpPr>
        <p:grpSpPr>
          <a:xfrm>
            <a:off x="1469683" y="1303328"/>
            <a:ext cx="11331916" cy="1124886"/>
            <a:chOff x="1469683" y="1303328"/>
            <a:chExt cx="11331916" cy="1124886"/>
          </a:xfrm>
        </p:grpSpPr>
        <p:sp>
          <p:nvSpPr>
            <p:cNvPr id="22" name="Freeform 7">
              <a:extLst>
                <a:ext uri="{FF2B5EF4-FFF2-40B4-BE49-F238E27FC236}">
                  <a16:creationId xmlns:a16="http://schemas.microsoft.com/office/drawing/2014/main" id="{8A661991-4D7C-79E6-B51F-36FAA1BF553E}"/>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cstate="print">
                <a:extLst>
                  <a:ext uri="{28A0092B-C50C-407E-A947-70E740481C1C}">
                    <a14:useLocalDpi xmlns:a14="http://schemas.microsoft.com/office/drawing/2010/main" val="0"/>
                  </a:ext>
                </a:extLst>
              </a:blip>
              <a:stretch>
                <a:fillRect/>
              </a:stretch>
            </a:blipFill>
          </p:spPr>
        </p:sp>
        <p:sp>
          <p:nvSpPr>
            <p:cNvPr id="23" name="TextBox 10">
              <a:extLst>
                <a:ext uri="{FF2B5EF4-FFF2-40B4-BE49-F238E27FC236}">
                  <a16:creationId xmlns:a16="http://schemas.microsoft.com/office/drawing/2014/main" id="{AA79B7C4-3CDF-A2A9-9BE1-53284B953ACE}"/>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4" name="Freeform 3">
              <a:extLst>
                <a:ext uri="{FF2B5EF4-FFF2-40B4-BE49-F238E27FC236}">
                  <a16:creationId xmlns:a16="http://schemas.microsoft.com/office/drawing/2014/main" id="{B3169FD8-E637-C542-6BE1-F039879824AE}"/>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1"/>
              <a:stretch>
                <a:fillRect/>
              </a:stretch>
            </a:blipFill>
          </p:spPr>
        </p:sp>
      </p:grpSp>
      <p:sp>
        <p:nvSpPr>
          <p:cNvPr id="3" name="Freeform 5">
            <a:extLst>
              <a:ext uri="{FF2B5EF4-FFF2-40B4-BE49-F238E27FC236}">
                <a16:creationId xmlns:a16="http://schemas.microsoft.com/office/drawing/2014/main" id="{4C3A20F0-D175-0248-A55D-5F314D01A0D6}"/>
              </a:ext>
            </a:extLst>
          </p:cNvPr>
          <p:cNvSpPr/>
          <p:nvPr/>
        </p:nvSpPr>
        <p:spPr>
          <a:xfrm>
            <a:off x="19293932" y="4035193"/>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Freeform 6">
            <a:extLst>
              <a:ext uri="{FF2B5EF4-FFF2-40B4-BE49-F238E27FC236}">
                <a16:creationId xmlns:a16="http://schemas.microsoft.com/office/drawing/2014/main" id="{82DF9471-2A99-BE3A-AC57-B9678BCACE5F}"/>
              </a:ext>
            </a:extLst>
          </p:cNvPr>
          <p:cNvSpPr/>
          <p:nvPr/>
        </p:nvSpPr>
        <p:spPr>
          <a:xfrm>
            <a:off x="18897600" y="10080006"/>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sp>
      <p:sp>
        <p:nvSpPr>
          <p:cNvPr id="9" name="Freeform 4">
            <a:extLst>
              <a:ext uri="{FF2B5EF4-FFF2-40B4-BE49-F238E27FC236}">
                <a16:creationId xmlns:a16="http://schemas.microsoft.com/office/drawing/2014/main" id="{183D4F36-B294-FF7B-1103-BCCC7E692FDB}"/>
              </a:ext>
            </a:extLst>
          </p:cNvPr>
          <p:cNvSpPr/>
          <p:nvPr/>
        </p:nvSpPr>
        <p:spPr>
          <a:xfrm rot="4650626" flipV="1">
            <a:off x="-6790239" y="10001034"/>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4" name="Freeform 4"/>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3204736" y="2253294"/>
            <a:ext cx="13025863"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TEAM MEMBER CONTRIBUTIONS</a:t>
            </a:r>
          </a:p>
        </p:txBody>
      </p:sp>
      <p:sp>
        <p:nvSpPr>
          <p:cNvPr id="5" name="TextBox 2">
            <a:extLst>
              <a:ext uri="{FF2B5EF4-FFF2-40B4-BE49-F238E27FC236}">
                <a16:creationId xmlns:a16="http://schemas.microsoft.com/office/drawing/2014/main" id="{D844D550-0050-CD0D-BB71-2E8D63007CCE}"/>
              </a:ext>
            </a:extLst>
          </p:cNvPr>
          <p:cNvSpPr txBox="1"/>
          <p:nvPr/>
        </p:nvSpPr>
        <p:spPr>
          <a:xfrm>
            <a:off x="3803707" y="4720828"/>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b="1" spc="6" dirty="0">
                <a:solidFill>
                  <a:srgbClr val="000000"/>
                </a:solidFill>
                <a:latin typeface="Fira Sans"/>
                <a:ea typeface="Fira Sans"/>
                <a:cs typeface="Fira Sans"/>
                <a:sym typeface="Fira Sans"/>
              </a:rPr>
              <a:t>SEAN MANUTNITHYA</a:t>
            </a:r>
            <a:endParaRPr lang="en-US" sz="1369" b="1" u="none" spc="6" dirty="0">
              <a:solidFill>
                <a:srgbClr val="000000"/>
              </a:solidFill>
              <a:latin typeface="Fira Sans"/>
              <a:ea typeface="Fira Sans"/>
              <a:cs typeface="Fira Sans"/>
              <a:sym typeface="Fira Sans"/>
            </a:endParaRPr>
          </a:p>
        </p:txBody>
      </p:sp>
      <p:sp>
        <p:nvSpPr>
          <p:cNvPr id="6" name="TextBox 3">
            <a:extLst>
              <a:ext uri="{FF2B5EF4-FFF2-40B4-BE49-F238E27FC236}">
                <a16:creationId xmlns:a16="http://schemas.microsoft.com/office/drawing/2014/main" id="{A6C22F41-A22E-6DDB-27B8-546D50B07607}"/>
              </a:ext>
            </a:extLst>
          </p:cNvPr>
          <p:cNvSpPr txBox="1"/>
          <p:nvPr/>
        </p:nvSpPr>
        <p:spPr>
          <a:xfrm>
            <a:off x="3803707" y="6008901"/>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b="1" spc="6" dirty="0">
                <a:solidFill>
                  <a:srgbClr val="000000"/>
                </a:solidFill>
                <a:latin typeface="Fira Sans"/>
                <a:ea typeface="Fira Sans"/>
                <a:cs typeface="Fira Sans"/>
                <a:sym typeface="Fira Sans"/>
              </a:rPr>
              <a:t>TAING CHAN DARA</a:t>
            </a:r>
            <a:endParaRPr lang="en-US" sz="1369" b="1" u="none" spc="6" dirty="0">
              <a:solidFill>
                <a:srgbClr val="000000"/>
              </a:solidFill>
              <a:latin typeface="Fira Sans"/>
              <a:ea typeface="Fira Sans"/>
              <a:cs typeface="Fira Sans"/>
              <a:sym typeface="Fira Sans"/>
            </a:endParaRPr>
          </a:p>
        </p:txBody>
      </p:sp>
      <p:sp>
        <p:nvSpPr>
          <p:cNvPr id="9" name="TextBox 4">
            <a:extLst>
              <a:ext uri="{FF2B5EF4-FFF2-40B4-BE49-F238E27FC236}">
                <a16:creationId xmlns:a16="http://schemas.microsoft.com/office/drawing/2014/main" id="{52B1AD0E-D66B-5B2C-0D77-D095DE5EF9C1}"/>
              </a:ext>
            </a:extLst>
          </p:cNvPr>
          <p:cNvSpPr txBox="1"/>
          <p:nvPr/>
        </p:nvSpPr>
        <p:spPr>
          <a:xfrm>
            <a:off x="3803707" y="7301370"/>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b="1" u="none" spc="6" dirty="0">
                <a:solidFill>
                  <a:srgbClr val="000000"/>
                </a:solidFill>
                <a:latin typeface="Fira Sans"/>
                <a:ea typeface="Fira Sans"/>
                <a:cs typeface="Fira Sans"/>
                <a:sym typeface="Fira Sans"/>
              </a:rPr>
              <a:t>TANG SOVANOUDOM</a:t>
            </a:r>
          </a:p>
        </p:txBody>
      </p:sp>
      <p:sp>
        <p:nvSpPr>
          <p:cNvPr id="13" name="TextBox 5">
            <a:extLst>
              <a:ext uri="{FF2B5EF4-FFF2-40B4-BE49-F238E27FC236}">
                <a16:creationId xmlns:a16="http://schemas.microsoft.com/office/drawing/2014/main" id="{497E4EBF-7885-BC99-39BA-B259281B2713}"/>
              </a:ext>
            </a:extLst>
          </p:cNvPr>
          <p:cNvSpPr txBox="1"/>
          <p:nvPr/>
        </p:nvSpPr>
        <p:spPr>
          <a:xfrm>
            <a:off x="3803707" y="8593839"/>
            <a:ext cx="3287656" cy="229165"/>
          </a:xfrm>
          <a:prstGeom prst="rect">
            <a:avLst/>
          </a:prstGeom>
        </p:spPr>
        <p:txBody>
          <a:bodyPr wrap="square" lIns="0" tIns="0" rIns="0" bIns="0" rtlCol="0" anchor="t">
            <a:spAutoFit/>
          </a:bodyPr>
          <a:lstStyle/>
          <a:p>
            <a:pPr marL="0" lvl="0" indent="0" algn="l">
              <a:lnSpc>
                <a:spcPts val="1917"/>
              </a:lnSpc>
              <a:spcBef>
                <a:spcPct val="0"/>
              </a:spcBef>
            </a:pPr>
            <a:r>
              <a:rPr lang="en-US" sz="1369" b="1" spc="6" dirty="0">
                <a:solidFill>
                  <a:srgbClr val="000000"/>
                </a:solidFill>
                <a:latin typeface="Fira Sans"/>
                <a:ea typeface="Fira Sans"/>
                <a:cs typeface="Fira Sans"/>
                <a:sym typeface="Fira Sans"/>
              </a:rPr>
              <a:t>THON BOUNTHET</a:t>
            </a:r>
            <a:endParaRPr lang="en-US" sz="1369" b="1" u="none" spc="6" dirty="0">
              <a:solidFill>
                <a:srgbClr val="000000"/>
              </a:solidFill>
              <a:latin typeface="Fira Sans"/>
              <a:ea typeface="Fira Sans"/>
              <a:cs typeface="Fira Sans"/>
              <a:sym typeface="Fira Sans"/>
            </a:endParaRPr>
          </a:p>
        </p:txBody>
      </p:sp>
      <p:sp>
        <p:nvSpPr>
          <p:cNvPr id="14" name="TextBox 6">
            <a:extLst>
              <a:ext uri="{FF2B5EF4-FFF2-40B4-BE49-F238E27FC236}">
                <a16:creationId xmlns:a16="http://schemas.microsoft.com/office/drawing/2014/main" id="{604E9CE8-F7D4-32EB-94C4-8D2DCC53C068}"/>
              </a:ext>
            </a:extLst>
          </p:cNvPr>
          <p:cNvSpPr txBox="1"/>
          <p:nvPr/>
        </p:nvSpPr>
        <p:spPr>
          <a:xfrm>
            <a:off x="7931694" y="4720828"/>
            <a:ext cx="6851106" cy="495649"/>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Leader / Dividing Task / Error checks and fixes / Record, Search and Sort /</a:t>
            </a:r>
          </a:p>
          <a:p>
            <a:pPr marL="0" lvl="0" indent="0" algn="l">
              <a:lnSpc>
                <a:spcPts val="1917"/>
              </a:lnSpc>
              <a:spcBef>
                <a:spcPct val="0"/>
              </a:spcBef>
            </a:pPr>
            <a:r>
              <a:rPr lang="en-US" dirty="0">
                <a:solidFill>
                  <a:srgbClr val="000000"/>
                </a:solidFill>
                <a:latin typeface="Sukar"/>
                <a:cs typeface="Sukar"/>
                <a:sym typeface="Fira Sans"/>
              </a:rPr>
              <a:t>Time and attendance / Edit Video </a:t>
            </a:r>
          </a:p>
        </p:txBody>
      </p:sp>
      <p:sp>
        <p:nvSpPr>
          <p:cNvPr id="15" name="TextBox 7">
            <a:extLst>
              <a:ext uri="{FF2B5EF4-FFF2-40B4-BE49-F238E27FC236}">
                <a16:creationId xmlns:a16="http://schemas.microsoft.com/office/drawing/2014/main" id="{CBC5C7C1-3D48-69D9-50D0-70AA9553250D}"/>
              </a:ext>
            </a:extLst>
          </p:cNvPr>
          <p:cNvSpPr txBox="1"/>
          <p:nvPr/>
        </p:nvSpPr>
        <p:spPr>
          <a:xfrm>
            <a:off x="7931694" y="6008901"/>
            <a:ext cx="6851105" cy="495649"/>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Program Menu / Tax information / Salary and Tax deduction / Calculate Salary after Deduction / Error checks and fixes</a:t>
            </a:r>
          </a:p>
        </p:txBody>
      </p:sp>
      <p:sp>
        <p:nvSpPr>
          <p:cNvPr id="16" name="TextBox 8">
            <a:extLst>
              <a:ext uri="{FF2B5EF4-FFF2-40B4-BE49-F238E27FC236}">
                <a16:creationId xmlns:a16="http://schemas.microsoft.com/office/drawing/2014/main" id="{56BCE48F-C6AC-7220-25AE-959C58E3D8BF}"/>
              </a:ext>
            </a:extLst>
          </p:cNvPr>
          <p:cNvSpPr txBox="1"/>
          <p:nvPr/>
        </p:nvSpPr>
        <p:spPr>
          <a:xfrm>
            <a:off x="7931695" y="7301370"/>
            <a:ext cx="6851104" cy="495649"/>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Project Report / Payment and Pay Schedule / Search and Sort Algorithm / Error fixes</a:t>
            </a:r>
          </a:p>
        </p:txBody>
      </p:sp>
      <p:sp>
        <p:nvSpPr>
          <p:cNvPr id="17" name="TextBox 9">
            <a:extLst>
              <a:ext uri="{FF2B5EF4-FFF2-40B4-BE49-F238E27FC236}">
                <a16:creationId xmlns:a16="http://schemas.microsoft.com/office/drawing/2014/main" id="{859029C0-4792-0F82-29FE-7BAE04224533}"/>
              </a:ext>
            </a:extLst>
          </p:cNvPr>
          <p:cNvSpPr txBox="1"/>
          <p:nvPr/>
        </p:nvSpPr>
        <p:spPr>
          <a:xfrm>
            <a:off x="7931694" y="8593839"/>
            <a:ext cx="6774906" cy="495649"/>
          </a:xfrm>
          <a:prstGeom prst="rect">
            <a:avLst/>
          </a:prstGeom>
        </p:spPr>
        <p:txBody>
          <a:bodyPr wrap="square" lIns="0" tIns="0" rIns="0" bIns="0" rtlCol="0" anchor="t">
            <a:spAutoFit/>
          </a:bodyPr>
          <a:lstStyle/>
          <a:p>
            <a:pPr marL="0" lvl="0" indent="0" algn="l">
              <a:lnSpc>
                <a:spcPts val="1917"/>
              </a:lnSpc>
              <a:spcBef>
                <a:spcPct val="0"/>
              </a:spcBef>
            </a:pPr>
            <a:r>
              <a:rPr lang="en-US" dirty="0">
                <a:solidFill>
                  <a:srgbClr val="000000"/>
                </a:solidFill>
                <a:latin typeface="Sukar"/>
                <a:cs typeface="Sukar"/>
                <a:sym typeface="Fira Sans"/>
              </a:rPr>
              <a:t>Project Slide / Calculate Salary after Deduction / Payroll Submission to government / Error fixes</a:t>
            </a:r>
          </a:p>
        </p:txBody>
      </p:sp>
      <p:grpSp>
        <p:nvGrpSpPr>
          <p:cNvPr id="18" name="Group 12">
            <a:extLst>
              <a:ext uri="{FF2B5EF4-FFF2-40B4-BE49-F238E27FC236}">
                <a16:creationId xmlns:a16="http://schemas.microsoft.com/office/drawing/2014/main" id="{A77E9CAF-B46E-E7E5-024E-245550848582}"/>
              </a:ext>
            </a:extLst>
          </p:cNvPr>
          <p:cNvGrpSpPr/>
          <p:nvPr/>
        </p:nvGrpSpPr>
        <p:grpSpPr>
          <a:xfrm>
            <a:off x="3401869" y="3546532"/>
            <a:ext cx="4634607" cy="845562"/>
            <a:chOff x="0" y="0"/>
            <a:chExt cx="29445010" cy="5372100"/>
          </a:xfrm>
          <a:solidFill>
            <a:schemeClr val="accent1">
              <a:lumMod val="75000"/>
            </a:schemeClr>
          </a:solidFill>
        </p:grpSpPr>
        <p:sp>
          <p:nvSpPr>
            <p:cNvPr id="19" name="Freeform 13">
              <a:extLst>
                <a:ext uri="{FF2B5EF4-FFF2-40B4-BE49-F238E27FC236}">
                  <a16:creationId xmlns:a16="http://schemas.microsoft.com/office/drawing/2014/main" id="{BB6E4530-011D-7A83-C9F8-D4ED91860034}"/>
                </a:ext>
              </a:extLst>
            </p:cNvPr>
            <p:cNvSpPr/>
            <p:nvPr/>
          </p:nvSpPr>
          <p:spPr>
            <a:xfrm>
              <a:off x="0" y="0"/>
              <a:ext cx="29445009" cy="5372100"/>
            </a:xfrm>
            <a:custGeom>
              <a:avLst/>
              <a:gdLst/>
              <a:ahLst/>
              <a:cxnLst/>
              <a:rect l="l" t="t" r="r" b="b"/>
              <a:pathLst>
                <a:path w="29445009" h="5372100">
                  <a:moveTo>
                    <a:pt x="27894341" y="0"/>
                  </a:moveTo>
                  <a:lnTo>
                    <a:pt x="1550670" y="0"/>
                  </a:lnTo>
                  <a:lnTo>
                    <a:pt x="0" y="2686050"/>
                  </a:lnTo>
                  <a:lnTo>
                    <a:pt x="1550670" y="5372100"/>
                  </a:lnTo>
                  <a:lnTo>
                    <a:pt x="27894341" y="5372100"/>
                  </a:lnTo>
                  <a:lnTo>
                    <a:pt x="29445009" y="2686050"/>
                  </a:lnTo>
                  <a:lnTo>
                    <a:pt x="27894341" y="0"/>
                  </a:lnTo>
                  <a:close/>
                </a:path>
              </a:pathLst>
            </a:custGeom>
            <a:grpFill/>
          </p:spPr>
        </p:sp>
      </p:grpSp>
      <p:grpSp>
        <p:nvGrpSpPr>
          <p:cNvPr id="20" name="Group 16">
            <a:extLst>
              <a:ext uri="{FF2B5EF4-FFF2-40B4-BE49-F238E27FC236}">
                <a16:creationId xmlns:a16="http://schemas.microsoft.com/office/drawing/2014/main" id="{6DC000E5-4D65-6288-4AB8-EBE09BC33786}"/>
              </a:ext>
            </a:extLst>
          </p:cNvPr>
          <p:cNvGrpSpPr/>
          <p:nvPr/>
        </p:nvGrpSpPr>
        <p:grpSpPr>
          <a:xfrm>
            <a:off x="7512563" y="3546532"/>
            <a:ext cx="4634607" cy="845562"/>
            <a:chOff x="0" y="0"/>
            <a:chExt cx="29445010" cy="5372100"/>
          </a:xfrm>
        </p:grpSpPr>
        <p:sp>
          <p:nvSpPr>
            <p:cNvPr id="21" name="Freeform 17">
              <a:extLst>
                <a:ext uri="{FF2B5EF4-FFF2-40B4-BE49-F238E27FC236}">
                  <a16:creationId xmlns:a16="http://schemas.microsoft.com/office/drawing/2014/main" id="{6E1D044E-D363-5AB5-A906-929FB085BABC}"/>
                </a:ext>
              </a:extLst>
            </p:cNvPr>
            <p:cNvSpPr/>
            <p:nvPr/>
          </p:nvSpPr>
          <p:spPr>
            <a:xfrm>
              <a:off x="0" y="0"/>
              <a:ext cx="29445009" cy="5372100"/>
            </a:xfrm>
            <a:custGeom>
              <a:avLst/>
              <a:gdLst/>
              <a:ahLst/>
              <a:cxnLst/>
              <a:rect l="l" t="t" r="r" b="b"/>
              <a:pathLst>
                <a:path w="29445009" h="5372100">
                  <a:moveTo>
                    <a:pt x="27894341" y="0"/>
                  </a:moveTo>
                  <a:lnTo>
                    <a:pt x="1550670" y="0"/>
                  </a:lnTo>
                  <a:lnTo>
                    <a:pt x="0" y="2686050"/>
                  </a:lnTo>
                  <a:lnTo>
                    <a:pt x="1550670" y="5372100"/>
                  </a:lnTo>
                  <a:lnTo>
                    <a:pt x="27894341" y="5372100"/>
                  </a:lnTo>
                  <a:lnTo>
                    <a:pt x="29445009" y="2686050"/>
                  </a:lnTo>
                  <a:lnTo>
                    <a:pt x="27894341" y="0"/>
                  </a:lnTo>
                  <a:close/>
                </a:path>
              </a:pathLst>
            </a:custGeom>
            <a:solidFill>
              <a:srgbClr val="86C7ED"/>
            </a:solidFill>
          </p:spPr>
          <p:txBody>
            <a:bodyPr/>
            <a:lstStyle/>
            <a:p>
              <a:endParaRPr lang="en-US" dirty="0"/>
            </a:p>
          </p:txBody>
        </p:sp>
      </p:grpSp>
      <p:sp>
        <p:nvSpPr>
          <p:cNvPr id="22" name="AutoShape 18">
            <a:extLst>
              <a:ext uri="{FF2B5EF4-FFF2-40B4-BE49-F238E27FC236}">
                <a16:creationId xmlns:a16="http://schemas.microsoft.com/office/drawing/2014/main" id="{CD2C09DC-F67D-A1FE-688C-671B50DE8836}"/>
              </a:ext>
            </a:extLst>
          </p:cNvPr>
          <p:cNvSpPr/>
          <p:nvPr/>
        </p:nvSpPr>
        <p:spPr>
          <a:xfrm>
            <a:off x="3651073" y="5668482"/>
            <a:ext cx="12357588" cy="0"/>
          </a:xfrm>
          <a:prstGeom prst="line">
            <a:avLst/>
          </a:prstGeom>
          <a:ln w="9525" cap="flat">
            <a:solidFill>
              <a:srgbClr val="A6A6A6"/>
            </a:solidFill>
            <a:prstDash val="solid"/>
            <a:headEnd type="none" w="sm" len="sm"/>
            <a:tailEnd type="none" w="sm" len="sm"/>
          </a:ln>
        </p:spPr>
      </p:sp>
      <p:sp>
        <p:nvSpPr>
          <p:cNvPr id="23" name="AutoShape 19">
            <a:extLst>
              <a:ext uri="{FF2B5EF4-FFF2-40B4-BE49-F238E27FC236}">
                <a16:creationId xmlns:a16="http://schemas.microsoft.com/office/drawing/2014/main" id="{7892A8C4-5333-F0A9-1ED1-D317A6DF4416}"/>
              </a:ext>
            </a:extLst>
          </p:cNvPr>
          <p:cNvSpPr/>
          <p:nvPr/>
        </p:nvSpPr>
        <p:spPr>
          <a:xfrm>
            <a:off x="3651073" y="6956555"/>
            <a:ext cx="12357588" cy="0"/>
          </a:xfrm>
          <a:prstGeom prst="line">
            <a:avLst/>
          </a:prstGeom>
          <a:ln w="9525" cap="flat">
            <a:solidFill>
              <a:srgbClr val="A6A6A6"/>
            </a:solidFill>
            <a:prstDash val="solid"/>
            <a:headEnd type="none" w="sm" len="sm"/>
            <a:tailEnd type="none" w="sm" len="sm"/>
          </a:ln>
        </p:spPr>
      </p:sp>
      <p:sp>
        <p:nvSpPr>
          <p:cNvPr id="24" name="AutoShape 20">
            <a:extLst>
              <a:ext uri="{FF2B5EF4-FFF2-40B4-BE49-F238E27FC236}">
                <a16:creationId xmlns:a16="http://schemas.microsoft.com/office/drawing/2014/main" id="{B925B9E1-260A-4302-E557-053418401881}"/>
              </a:ext>
            </a:extLst>
          </p:cNvPr>
          <p:cNvSpPr/>
          <p:nvPr/>
        </p:nvSpPr>
        <p:spPr>
          <a:xfrm>
            <a:off x="3651073" y="8249025"/>
            <a:ext cx="12357588" cy="0"/>
          </a:xfrm>
          <a:prstGeom prst="line">
            <a:avLst/>
          </a:prstGeom>
          <a:ln w="9525" cap="flat">
            <a:solidFill>
              <a:srgbClr val="A6A6A6"/>
            </a:solidFill>
            <a:prstDash val="solid"/>
            <a:headEnd type="none" w="sm" len="sm"/>
            <a:tailEnd type="none" w="sm" len="sm"/>
          </a:ln>
        </p:spPr>
      </p:sp>
      <p:sp>
        <p:nvSpPr>
          <p:cNvPr id="25" name="AutoShape 21">
            <a:extLst>
              <a:ext uri="{FF2B5EF4-FFF2-40B4-BE49-F238E27FC236}">
                <a16:creationId xmlns:a16="http://schemas.microsoft.com/office/drawing/2014/main" id="{E1247807-9E44-1BEE-9BDD-20D17830A7FB}"/>
              </a:ext>
            </a:extLst>
          </p:cNvPr>
          <p:cNvSpPr/>
          <p:nvPr/>
        </p:nvSpPr>
        <p:spPr>
          <a:xfrm>
            <a:off x="3983004" y="10375092"/>
            <a:ext cx="12357588" cy="0"/>
          </a:xfrm>
          <a:prstGeom prst="line">
            <a:avLst/>
          </a:prstGeom>
          <a:ln w="9525" cap="flat">
            <a:solidFill>
              <a:srgbClr val="A6A6A6"/>
            </a:solidFill>
            <a:prstDash val="solid"/>
            <a:headEnd type="none" w="sm" len="sm"/>
            <a:tailEnd type="none" w="sm" len="sm"/>
          </a:ln>
        </p:spPr>
      </p:sp>
      <p:sp>
        <p:nvSpPr>
          <p:cNvPr id="27" name="TextBox 32">
            <a:extLst>
              <a:ext uri="{FF2B5EF4-FFF2-40B4-BE49-F238E27FC236}">
                <a16:creationId xmlns:a16="http://schemas.microsoft.com/office/drawing/2014/main" id="{232C6AEA-7F65-8E67-2680-9FC44A5FC6D8}"/>
              </a:ext>
            </a:extLst>
          </p:cNvPr>
          <p:cNvSpPr txBox="1"/>
          <p:nvPr/>
        </p:nvSpPr>
        <p:spPr>
          <a:xfrm>
            <a:off x="3803707" y="3774156"/>
            <a:ext cx="3445917" cy="342900"/>
          </a:xfrm>
          <a:prstGeom prst="rect">
            <a:avLst/>
          </a:prstGeom>
        </p:spPr>
        <p:txBody>
          <a:bodyPr wrap="square" lIns="0" tIns="0" rIns="0" bIns="0" rtlCol="0" anchor="t">
            <a:spAutoFit/>
          </a:bodyPr>
          <a:lstStyle/>
          <a:p>
            <a:pPr marL="0" lvl="0" indent="0" algn="l">
              <a:lnSpc>
                <a:spcPts val="2676"/>
              </a:lnSpc>
            </a:pPr>
            <a:r>
              <a:rPr lang="en-US" sz="2230" b="1" dirty="0">
                <a:solidFill>
                  <a:srgbClr val="FFFFFF"/>
                </a:solidFill>
                <a:latin typeface="Fira Sans Medium"/>
                <a:ea typeface="Fira Sans Medium"/>
                <a:cs typeface="Fira Sans Medium"/>
                <a:sym typeface="Fira Sans Medium"/>
              </a:rPr>
              <a:t>Members' Name</a:t>
            </a:r>
          </a:p>
        </p:txBody>
      </p:sp>
      <p:sp>
        <p:nvSpPr>
          <p:cNvPr id="28" name="TextBox 33">
            <a:extLst>
              <a:ext uri="{FF2B5EF4-FFF2-40B4-BE49-F238E27FC236}">
                <a16:creationId xmlns:a16="http://schemas.microsoft.com/office/drawing/2014/main" id="{4A0C2FDE-2591-6272-98C9-0F6C7E1E421E}"/>
              </a:ext>
            </a:extLst>
          </p:cNvPr>
          <p:cNvSpPr txBox="1"/>
          <p:nvPr/>
        </p:nvSpPr>
        <p:spPr>
          <a:xfrm>
            <a:off x="7956018" y="3797863"/>
            <a:ext cx="3419540" cy="342900"/>
          </a:xfrm>
          <a:prstGeom prst="rect">
            <a:avLst/>
          </a:prstGeom>
        </p:spPr>
        <p:txBody>
          <a:bodyPr wrap="square" lIns="0" tIns="0" rIns="0" bIns="0" rtlCol="0" anchor="t">
            <a:spAutoFit/>
          </a:bodyPr>
          <a:lstStyle/>
          <a:p>
            <a:pPr marL="0" lvl="0" indent="0" algn="l">
              <a:lnSpc>
                <a:spcPts val="2676"/>
              </a:lnSpc>
              <a:spcBef>
                <a:spcPct val="0"/>
              </a:spcBef>
            </a:pPr>
            <a:r>
              <a:rPr lang="en-US" sz="2230" b="1" u="none" dirty="0">
                <a:solidFill>
                  <a:srgbClr val="FFFFFF"/>
                </a:solidFill>
                <a:latin typeface="Fira Sans Medium"/>
                <a:ea typeface="Fira Sans Medium"/>
                <a:cs typeface="Fira Sans Medium"/>
                <a:sym typeface="Fira Sans Medium"/>
              </a:rPr>
              <a:t>Role</a:t>
            </a:r>
          </a:p>
        </p:txBody>
      </p:sp>
      <p:grpSp>
        <p:nvGrpSpPr>
          <p:cNvPr id="29" name="Group 28">
            <a:extLst>
              <a:ext uri="{FF2B5EF4-FFF2-40B4-BE49-F238E27FC236}">
                <a16:creationId xmlns:a16="http://schemas.microsoft.com/office/drawing/2014/main" id="{77FD5A25-A990-3732-619A-4131CEDFDFA2}"/>
              </a:ext>
            </a:extLst>
          </p:cNvPr>
          <p:cNvGrpSpPr/>
          <p:nvPr/>
        </p:nvGrpSpPr>
        <p:grpSpPr>
          <a:xfrm>
            <a:off x="1469683" y="1303328"/>
            <a:ext cx="11331916" cy="1124886"/>
            <a:chOff x="1469683" y="1303328"/>
            <a:chExt cx="11331916" cy="1124886"/>
          </a:xfrm>
        </p:grpSpPr>
        <p:sp>
          <p:nvSpPr>
            <p:cNvPr id="30" name="Freeform 7">
              <a:extLst>
                <a:ext uri="{FF2B5EF4-FFF2-40B4-BE49-F238E27FC236}">
                  <a16:creationId xmlns:a16="http://schemas.microsoft.com/office/drawing/2014/main" id="{095F4F07-D6D9-0B38-4BDA-6376BDE9479A}"/>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31" name="TextBox 10">
              <a:extLst>
                <a:ext uri="{FF2B5EF4-FFF2-40B4-BE49-F238E27FC236}">
                  <a16:creationId xmlns:a16="http://schemas.microsoft.com/office/drawing/2014/main" id="{156FBB47-FB87-A9D3-20E3-4CD89428398D}"/>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32" name="Freeform 3">
              <a:extLst>
                <a:ext uri="{FF2B5EF4-FFF2-40B4-BE49-F238E27FC236}">
                  <a16:creationId xmlns:a16="http://schemas.microsoft.com/office/drawing/2014/main" id="{A06D818A-C3AD-7385-47F4-C8A34EFF0E0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58A72-235A-DF96-023E-901AEAEB24F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B25C7E-8832-D2B1-BB1C-F9A52816AFD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4" name="Freeform 4">
            <a:extLst>
              <a:ext uri="{FF2B5EF4-FFF2-40B4-BE49-F238E27FC236}">
                <a16:creationId xmlns:a16="http://schemas.microsoft.com/office/drawing/2014/main" id="{7B7AD65B-CE00-F14B-BE2B-6EDCAC20EFAF}"/>
              </a:ext>
            </a:extLst>
          </p:cNvPr>
          <p:cNvSpPr/>
          <p:nvPr/>
        </p:nvSpPr>
        <p:spPr>
          <a:xfrm flipV="1">
            <a:off x="-2425805" y="8660399"/>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9E9D9BDD-7841-7580-9615-1B1405E09700}"/>
              </a:ext>
            </a:extLst>
          </p:cNvPr>
          <p:cNvSpPr txBox="1"/>
          <p:nvPr/>
        </p:nvSpPr>
        <p:spPr>
          <a:xfrm>
            <a:off x="2390340" y="2522225"/>
            <a:ext cx="7224562" cy="1265646"/>
          </a:xfrm>
          <a:prstGeom prst="rect">
            <a:avLst/>
          </a:prstGeom>
        </p:spPr>
        <p:txBody>
          <a:bodyPr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Table Of Content</a:t>
            </a:r>
          </a:p>
        </p:txBody>
      </p:sp>
      <p:sp>
        <p:nvSpPr>
          <p:cNvPr id="11" name="Freeform: Shape 10">
            <a:extLst>
              <a:ext uri="{FF2B5EF4-FFF2-40B4-BE49-F238E27FC236}">
                <a16:creationId xmlns:a16="http://schemas.microsoft.com/office/drawing/2014/main" id="{06F62C05-4A60-5A96-08BD-1CA4438F454B}"/>
              </a:ext>
            </a:extLst>
          </p:cNvPr>
          <p:cNvSpPr/>
          <p:nvPr/>
        </p:nvSpPr>
        <p:spPr>
          <a:xfrm>
            <a:off x="6201315" y="-1233623"/>
            <a:ext cx="2999090" cy="1047447"/>
          </a:xfrm>
          <a:custGeom>
            <a:avLst/>
            <a:gdLst>
              <a:gd name="connsiteX0" fmla="*/ 0 w 2999090"/>
              <a:gd name="connsiteY0" fmla="*/ 0 h 1047447"/>
              <a:gd name="connsiteX1" fmla="*/ 2999090 w 2999090"/>
              <a:gd name="connsiteY1" fmla="*/ 0 h 1047447"/>
              <a:gd name="connsiteX2" fmla="*/ 2999090 w 2999090"/>
              <a:gd name="connsiteY2" fmla="*/ 1047447 h 1047447"/>
              <a:gd name="connsiteX3" fmla="*/ 0 w 2999090"/>
              <a:gd name="connsiteY3" fmla="*/ 1047447 h 1047447"/>
              <a:gd name="connsiteX4" fmla="*/ 0 w 2999090"/>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090" h="1047447">
                <a:moveTo>
                  <a:pt x="0" y="0"/>
                </a:moveTo>
                <a:lnTo>
                  <a:pt x="2999090" y="0"/>
                </a:lnTo>
                <a:lnTo>
                  <a:pt x="2999090"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01. Introduction &amp; Purpose</a:t>
            </a:r>
          </a:p>
          <a:p>
            <a:pPr marL="114300" lvl="1" indent="-114300" algn="l" defTabSz="533400">
              <a:lnSpc>
                <a:spcPct val="90000"/>
              </a:lnSpc>
              <a:spcBef>
                <a:spcPct val="0"/>
              </a:spcBef>
              <a:spcAft>
                <a:spcPct val="15000"/>
              </a:spcAft>
              <a:buChar char="•"/>
            </a:pPr>
            <a:r>
              <a:rPr lang="en-US" sz="1200" kern="1200" dirty="0"/>
              <a:t>Real-World importance and objectives of a Payroll Management </a:t>
            </a:r>
          </a:p>
        </p:txBody>
      </p:sp>
      <p:sp>
        <p:nvSpPr>
          <p:cNvPr id="13" name="Freeform: Shape 12">
            <a:extLst>
              <a:ext uri="{FF2B5EF4-FFF2-40B4-BE49-F238E27FC236}">
                <a16:creationId xmlns:a16="http://schemas.microsoft.com/office/drawing/2014/main" id="{3A079751-D3FE-991D-0C9C-8A7955BE4DCE}"/>
              </a:ext>
            </a:extLst>
          </p:cNvPr>
          <p:cNvSpPr/>
          <p:nvPr/>
        </p:nvSpPr>
        <p:spPr>
          <a:xfrm>
            <a:off x="18745200" y="-1806158"/>
            <a:ext cx="1822187" cy="1147204"/>
          </a:xfrm>
          <a:custGeom>
            <a:avLst/>
            <a:gdLst>
              <a:gd name="connsiteX0" fmla="*/ 0 w 1822187"/>
              <a:gd name="connsiteY0" fmla="*/ 0 h 1147204"/>
              <a:gd name="connsiteX1" fmla="*/ 1822187 w 1822187"/>
              <a:gd name="connsiteY1" fmla="*/ 0 h 1147204"/>
              <a:gd name="connsiteX2" fmla="*/ 1822187 w 1822187"/>
              <a:gd name="connsiteY2" fmla="*/ 1147204 h 1147204"/>
              <a:gd name="connsiteX3" fmla="*/ 0 w 1822187"/>
              <a:gd name="connsiteY3" fmla="*/ 1147204 h 1147204"/>
              <a:gd name="connsiteX4" fmla="*/ 0 w 1822187"/>
              <a:gd name="connsiteY4" fmla="*/ 0 h 114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147204">
                <a:moveTo>
                  <a:pt x="0" y="0"/>
                </a:moveTo>
                <a:lnTo>
                  <a:pt x="1822187" y="0"/>
                </a:lnTo>
                <a:lnTo>
                  <a:pt x="1822187" y="1147204"/>
                </a:lnTo>
                <a:lnTo>
                  <a:pt x="0" y="1147204"/>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02. Core System Features</a:t>
            </a:r>
          </a:p>
          <a:p>
            <a:pPr marL="114300" lvl="1" indent="-114300" algn="l" defTabSz="533400">
              <a:lnSpc>
                <a:spcPct val="90000"/>
              </a:lnSpc>
              <a:spcBef>
                <a:spcPct val="0"/>
              </a:spcBef>
              <a:spcAft>
                <a:spcPct val="15000"/>
              </a:spcAft>
              <a:buChar char="•"/>
            </a:pPr>
            <a:r>
              <a:rPr lang="en-US" sz="1200" kern="1200" dirty="0"/>
              <a:t>Employee management, attendance tracking, and search functions.</a:t>
            </a:r>
          </a:p>
        </p:txBody>
      </p:sp>
      <p:sp>
        <p:nvSpPr>
          <p:cNvPr id="15" name="Freeform: Shape 14">
            <a:extLst>
              <a:ext uri="{FF2B5EF4-FFF2-40B4-BE49-F238E27FC236}">
                <a16:creationId xmlns:a16="http://schemas.microsoft.com/office/drawing/2014/main" id="{E7BF3D14-61F3-BDA8-5D5C-530AB6725A02}"/>
              </a:ext>
            </a:extLst>
          </p:cNvPr>
          <p:cNvSpPr/>
          <p:nvPr/>
        </p:nvSpPr>
        <p:spPr>
          <a:xfrm>
            <a:off x="19122730" y="6169568"/>
            <a:ext cx="1822187"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03. Technical Implementation</a:t>
            </a:r>
          </a:p>
          <a:p>
            <a:pPr marL="114300" lvl="1" indent="-114300" algn="l" defTabSz="533400">
              <a:lnSpc>
                <a:spcPct val="90000"/>
              </a:lnSpc>
              <a:spcBef>
                <a:spcPct val="0"/>
              </a:spcBef>
              <a:spcAft>
                <a:spcPct val="15000"/>
              </a:spcAft>
              <a:buChar char="•"/>
            </a:pPr>
            <a:r>
              <a:rPr lang="en-US" sz="1200" kern="1200" dirty="0"/>
              <a:t>Programming Language environment and key C++ Modules.</a:t>
            </a:r>
          </a:p>
        </p:txBody>
      </p:sp>
      <p:sp>
        <p:nvSpPr>
          <p:cNvPr id="17" name="Freeform: Shape 16">
            <a:extLst>
              <a:ext uri="{FF2B5EF4-FFF2-40B4-BE49-F238E27FC236}">
                <a16:creationId xmlns:a16="http://schemas.microsoft.com/office/drawing/2014/main" id="{9FE3456B-A717-13D4-9E9F-B0A3602EF5A8}"/>
              </a:ext>
            </a:extLst>
          </p:cNvPr>
          <p:cNvSpPr/>
          <p:nvPr/>
        </p:nvSpPr>
        <p:spPr>
          <a:xfrm>
            <a:off x="6926054" y="11154323"/>
            <a:ext cx="1922814" cy="1047447"/>
          </a:xfrm>
          <a:custGeom>
            <a:avLst/>
            <a:gdLst>
              <a:gd name="connsiteX0" fmla="*/ 0 w 1922814"/>
              <a:gd name="connsiteY0" fmla="*/ 0 h 1047447"/>
              <a:gd name="connsiteX1" fmla="*/ 1922814 w 1922814"/>
              <a:gd name="connsiteY1" fmla="*/ 0 h 1047447"/>
              <a:gd name="connsiteX2" fmla="*/ 1922814 w 1922814"/>
              <a:gd name="connsiteY2" fmla="*/ 1047447 h 1047447"/>
              <a:gd name="connsiteX3" fmla="*/ 0 w 1922814"/>
              <a:gd name="connsiteY3" fmla="*/ 1047447 h 1047447"/>
              <a:gd name="connsiteX4" fmla="*/ 0 w 1922814"/>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814" h="1047447">
                <a:moveTo>
                  <a:pt x="0" y="0"/>
                </a:moveTo>
                <a:lnTo>
                  <a:pt x="1922814" y="0"/>
                </a:lnTo>
                <a:lnTo>
                  <a:pt x="1922814"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04. Data Structure &amp; Logic</a:t>
            </a:r>
          </a:p>
          <a:p>
            <a:pPr marL="114300" lvl="1" indent="-114300" algn="l" defTabSz="533400">
              <a:lnSpc>
                <a:spcPct val="90000"/>
              </a:lnSpc>
              <a:spcBef>
                <a:spcPct val="0"/>
              </a:spcBef>
              <a:spcAft>
                <a:spcPct val="15000"/>
              </a:spcAft>
              <a:buChar char="•"/>
            </a:pPr>
            <a:r>
              <a:rPr lang="en-US" sz="1200" kern="1200" dirty="0"/>
              <a:t>Doubly Linked Lists, CSV File handling, and algorithms.</a:t>
            </a:r>
          </a:p>
        </p:txBody>
      </p:sp>
      <p:sp>
        <p:nvSpPr>
          <p:cNvPr id="19" name="Freeform: Shape 18">
            <a:extLst>
              <a:ext uri="{FF2B5EF4-FFF2-40B4-BE49-F238E27FC236}">
                <a16:creationId xmlns:a16="http://schemas.microsoft.com/office/drawing/2014/main" id="{FF9B26A4-2F8F-D120-3EFE-CBE7CB0001C2}"/>
              </a:ext>
            </a:extLst>
          </p:cNvPr>
          <p:cNvSpPr/>
          <p:nvPr/>
        </p:nvSpPr>
        <p:spPr>
          <a:xfrm>
            <a:off x="-6040828" y="10513385"/>
            <a:ext cx="1822187"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600" kern="1200" dirty="0"/>
              <a:t>05. System result</a:t>
            </a:r>
          </a:p>
          <a:p>
            <a:pPr marL="114300" lvl="1" indent="-114300" algn="l" defTabSz="533400">
              <a:lnSpc>
                <a:spcPct val="90000"/>
              </a:lnSpc>
              <a:spcBef>
                <a:spcPct val="0"/>
              </a:spcBef>
              <a:spcAft>
                <a:spcPct val="15000"/>
              </a:spcAft>
              <a:buChar char="•"/>
            </a:pPr>
            <a:r>
              <a:rPr lang="en-US" sz="1200" kern="1200" dirty="0"/>
              <a:t>Output Validation, test cases and tax report verification.</a:t>
            </a:r>
          </a:p>
        </p:txBody>
      </p:sp>
      <p:sp>
        <p:nvSpPr>
          <p:cNvPr id="1054" name="Freeform: Shape 1053">
            <a:extLst>
              <a:ext uri="{FF2B5EF4-FFF2-40B4-BE49-F238E27FC236}">
                <a16:creationId xmlns:a16="http://schemas.microsoft.com/office/drawing/2014/main" id="{AA4CF907-144C-4FF0-E60E-3759ACA79986}"/>
              </a:ext>
            </a:extLst>
          </p:cNvPr>
          <p:cNvSpPr/>
          <p:nvPr/>
        </p:nvSpPr>
        <p:spPr>
          <a:xfrm>
            <a:off x="-5379896" y="11663375"/>
            <a:ext cx="1371782" cy="1530508"/>
          </a:xfrm>
          <a:custGeom>
            <a:avLst/>
            <a:gdLst>
              <a:gd name="connsiteX0" fmla="*/ 769126 w 1371782"/>
              <a:gd name="connsiteY0" fmla="*/ 0 h 1530508"/>
              <a:gd name="connsiteX1" fmla="*/ 924132 w 1371782"/>
              <a:gd name="connsiteY1" fmla="*/ 15626 h 1530508"/>
              <a:gd name="connsiteX2" fmla="*/ 1013325 w 1371782"/>
              <a:gd name="connsiteY2" fmla="*/ 43313 h 1530508"/>
              <a:gd name="connsiteX3" fmla="*/ 1068505 w 1371782"/>
              <a:gd name="connsiteY3" fmla="*/ 60442 h 1530508"/>
              <a:gd name="connsiteX4" fmla="*/ 1199152 w 1371782"/>
              <a:gd name="connsiteY4" fmla="*/ 131355 h 1530508"/>
              <a:gd name="connsiteX5" fmla="*/ 1268417 w 1371782"/>
              <a:gd name="connsiteY5" fmla="*/ 188504 h 1530508"/>
              <a:gd name="connsiteX6" fmla="*/ 1312980 w 1371782"/>
              <a:gd name="connsiteY6" fmla="*/ 225272 h 1530508"/>
              <a:gd name="connsiteX7" fmla="*/ 1371782 w 1371782"/>
              <a:gd name="connsiteY7" fmla="*/ 296541 h 1530508"/>
              <a:gd name="connsiteX8" fmla="*/ 1347056 w 1371782"/>
              <a:gd name="connsiteY8" fmla="*/ 292767 h 1530508"/>
              <a:gd name="connsiteX9" fmla="*/ 1268417 w 1371782"/>
              <a:gd name="connsiteY9" fmla="*/ 288796 h 1530508"/>
              <a:gd name="connsiteX10" fmla="*/ 1189778 w 1371782"/>
              <a:gd name="connsiteY10" fmla="*/ 292767 h 1530508"/>
              <a:gd name="connsiteX11" fmla="*/ 1165052 w 1371782"/>
              <a:gd name="connsiteY11" fmla="*/ 296541 h 1530508"/>
              <a:gd name="connsiteX12" fmla="*/ 1113411 w 1371782"/>
              <a:gd name="connsiteY12" fmla="*/ 304422 h 1530508"/>
              <a:gd name="connsiteX13" fmla="*/ 1012413 w 1371782"/>
              <a:gd name="connsiteY13" fmla="*/ 335774 h 1530508"/>
              <a:gd name="connsiteX14" fmla="*/ 969038 w 1371782"/>
              <a:gd name="connsiteY14" fmla="*/ 349238 h 1530508"/>
              <a:gd name="connsiteX15" fmla="*/ 838391 w 1371782"/>
              <a:gd name="connsiteY15" fmla="*/ 420151 h 1530508"/>
              <a:gd name="connsiteX16" fmla="*/ 764547 w 1371782"/>
              <a:gd name="connsiteY16" fmla="*/ 481078 h 1530508"/>
              <a:gd name="connsiteX17" fmla="*/ 724563 w 1371782"/>
              <a:gd name="connsiteY17" fmla="*/ 514068 h 1530508"/>
              <a:gd name="connsiteX18" fmla="*/ 514917 w 1371782"/>
              <a:gd name="connsiteY18" fmla="*/ 902916 h 1530508"/>
              <a:gd name="connsiteX19" fmla="*/ 513122 w 1371782"/>
              <a:gd name="connsiteY19" fmla="*/ 914680 h 1530508"/>
              <a:gd name="connsiteX20" fmla="*/ 503262 w 1371782"/>
              <a:gd name="connsiteY20" fmla="*/ 979283 h 1530508"/>
              <a:gd name="connsiteX21" fmla="*/ 499291 w 1371782"/>
              <a:gd name="connsiteY21" fmla="*/ 1057922 h 1530508"/>
              <a:gd name="connsiteX22" fmla="*/ 630646 w 1371782"/>
              <a:gd name="connsiteY22" fmla="*/ 1487948 h 1530508"/>
              <a:gd name="connsiteX23" fmla="*/ 665761 w 1371782"/>
              <a:gd name="connsiteY23" fmla="*/ 1530508 h 1530508"/>
              <a:gd name="connsiteX24" fmla="*/ 614120 w 1371782"/>
              <a:gd name="connsiteY24" fmla="*/ 1522626 h 1530508"/>
              <a:gd name="connsiteX25" fmla="*/ 0 w 1371782"/>
              <a:gd name="connsiteY25" fmla="*/ 769126 h 1530508"/>
              <a:gd name="connsiteX26" fmla="*/ 15626 w 1371782"/>
              <a:gd name="connsiteY26" fmla="*/ 614120 h 1530508"/>
              <a:gd name="connsiteX27" fmla="*/ 57002 w 1371782"/>
              <a:gd name="connsiteY27" fmla="*/ 480829 h 1530508"/>
              <a:gd name="connsiteX28" fmla="*/ 60442 w 1371782"/>
              <a:gd name="connsiteY28" fmla="*/ 469747 h 1530508"/>
              <a:gd name="connsiteX29" fmla="*/ 469747 w 1371782"/>
              <a:gd name="connsiteY29" fmla="*/ 60442 h 1530508"/>
              <a:gd name="connsiteX30" fmla="*/ 513049 w 1371782"/>
              <a:gd name="connsiteY30" fmla="*/ 47001 h 1530508"/>
              <a:gd name="connsiteX31" fmla="*/ 614120 w 1371782"/>
              <a:gd name="connsiteY31" fmla="*/ 15626 h 1530508"/>
              <a:gd name="connsiteX32" fmla="*/ 769126 w 1371782"/>
              <a:gd name="connsiteY32" fmla="*/ 0 h 153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782" h="1530508">
                <a:moveTo>
                  <a:pt x="769126" y="0"/>
                </a:moveTo>
                <a:cubicBezTo>
                  <a:pt x="822223" y="0"/>
                  <a:pt x="874064" y="5381"/>
                  <a:pt x="924132" y="15626"/>
                </a:cubicBezTo>
                <a:lnTo>
                  <a:pt x="1013325" y="43313"/>
                </a:lnTo>
                <a:lnTo>
                  <a:pt x="1068505" y="60442"/>
                </a:lnTo>
                <a:cubicBezTo>
                  <a:pt x="1114513" y="79902"/>
                  <a:pt x="1158234" y="103711"/>
                  <a:pt x="1199152" y="131355"/>
                </a:cubicBezTo>
                <a:lnTo>
                  <a:pt x="1268417" y="188504"/>
                </a:lnTo>
                <a:lnTo>
                  <a:pt x="1312980" y="225272"/>
                </a:lnTo>
                <a:lnTo>
                  <a:pt x="1371782" y="296541"/>
                </a:lnTo>
                <a:lnTo>
                  <a:pt x="1347056" y="292767"/>
                </a:lnTo>
                <a:cubicBezTo>
                  <a:pt x="1321200" y="290141"/>
                  <a:pt x="1294966" y="288796"/>
                  <a:pt x="1268417" y="288796"/>
                </a:cubicBezTo>
                <a:cubicBezTo>
                  <a:pt x="1241869" y="288796"/>
                  <a:pt x="1215634" y="290141"/>
                  <a:pt x="1189778" y="292767"/>
                </a:cubicBezTo>
                <a:lnTo>
                  <a:pt x="1165052" y="296541"/>
                </a:lnTo>
                <a:lnTo>
                  <a:pt x="1113411" y="304422"/>
                </a:lnTo>
                <a:lnTo>
                  <a:pt x="1012413" y="335774"/>
                </a:lnTo>
                <a:lnTo>
                  <a:pt x="969038" y="349238"/>
                </a:lnTo>
                <a:cubicBezTo>
                  <a:pt x="923030" y="368698"/>
                  <a:pt x="879309" y="392507"/>
                  <a:pt x="838391" y="420151"/>
                </a:cubicBezTo>
                <a:lnTo>
                  <a:pt x="764547" y="481078"/>
                </a:lnTo>
                <a:lnTo>
                  <a:pt x="724563" y="514068"/>
                </a:lnTo>
                <a:cubicBezTo>
                  <a:pt x="620175" y="618456"/>
                  <a:pt x="545653" y="752712"/>
                  <a:pt x="514917" y="902916"/>
                </a:cubicBezTo>
                <a:lnTo>
                  <a:pt x="513122" y="914680"/>
                </a:lnTo>
                <a:lnTo>
                  <a:pt x="503262" y="979283"/>
                </a:lnTo>
                <a:cubicBezTo>
                  <a:pt x="500636" y="1005139"/>
                  <a:pt x="499291" y="1031374"/>
                  <a:pt x="499291" y="1057922"/>
                </a:cubicBezTo>
                <a:cubicBezTo>
                  <a:pt x="499291" y="1217214"/>
                  <a:pt x="547715" y="1365195"/>
                  <a:pt x="630646" y="1487948"/>
                </a:cubicBezTo>
                <a:lnTo>
                  <a:pt x="665761" y="1530508"/>
                </a:lnTo>
                <a:lnTo>
                  <a:pt x="614120" y="1522626"/>
                </a:lnTo>
                <a:cubicBezTo>
                  <a:pt x="263642" y="1450908"/>
                  <a:pt x="0" y="1140806"/>
                  <a:pt x="0" y="769126"/>
                </a:cubicBezTo>
                <a:cubicBezTo>
                  <a:pt x="0" y="716029"/>
                  <a:pt x="5381" y="664189"/>
                  <a:pt x="15626" y="614120"/>
                </a:cubicBezTo>
                <a:lnTo>
                  <a:pt x="57002" y="480829"/>
                </a:lnTo>
                <a:lnTo>
                  <a:pt x="60442" y="469747"/>
                </a:lnTo>
                <a:cubicBezTo>
                  <a:pt x="138282" y="285714"/>
                  <a:pt x="285714" y="138282"/>
                  <a:pt x="469747" y="60442"/>
                </a:cubicBezTo>
                <a:lnTo>
                  <a:pt x="513049" y="47001"/>
                </a:lnTo>
                <a:lnTo>
                  <a:pt x="614120" y="15626"/>
                </a:lnTo>
                <a:cubicBezTo>
                  <a:pt x="664189" y="5381"/>
                  <a:pt x="716029" y="0"/>
                  <a:pt x="769126" y="0"/>
                </a:cubicBezTo>
                <a:close/>
              </a:path>
            </a:pathLst>
          </a:custGeom>
          <a:solidFill>
            <a:schemeClr val="accent1">
              <a:lumMod val="75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5" name="Freeform: Shape 1054">
            <a:extLst>
              <a:ext uri="{FF2B5EF4-FFF2-40B4-BE49-F238E27FC236}">
                <a16:creationId xmlns:a16="http://schemas.microsoft.com/office/drawing/2014/main" id="{72292459-42C9-54E2-4F80-4FCC6D7934DB}"/>
              </a:ext>
            </a:extLst>
          </p:cNvPr>
          <p:cNvSpPr/>
          <p:nvPr/>
        </p:nvSpPr>
        <p:spPr>
          <a:xfrm>
            <a:off x="7201570" y="12191937"/>
            <a:ext cx="1371782" cy="1530507"/>
          </a:xfrm>
          <a:custGeom>
            <a:avLst/>
            <a:gdLst>
              <a:gd name="connsiteX0" fmla="*/ 665761 w 1371782"/>
              <a:gd name="connsiteY0" fmla="*/ 0 h 1530507"/>
              <a:gd name="connsiteX1" fmla="*/ 630646 w 1371782"/>
              <a:gd name="connsiteY1" fmla="*/ 42559 h 1530507"/>
              <a:gd name="connsiteX2" fmla="*/ 559733 w 1371782"/>
              <a:gd name="connsiteY2" fmla="*/ 173206 h 1530507"/>
              <a:gd name="connsiteX3" fmla="*/ 556293 w 1371782"/>
              <a:gd name="connsiteY3" fmla="*/ 184288 h 1530507"/>
              <a:gd name="connsiteX4" fmla="*/ 514917 w 1371782"/>
              <a:gd name="connsiteY4" fmla="*/ 317579 h 1530507"/>
              <a:gd name="connsiteX5" fmla="*/ 513049 w 1371782"/>
              <a:gd name="connsiteY5" fmla="*/ 329819 h 1530507"/>
              <a:gd name="connsiteX6" fmla="*/ 503262 w 1371782"/>
              <a:gd name="connsiteY6" fmla="*/ 393946 h 1530507"/>
              <a:gd name="connsiteX7" fmla="*/ 499291 w 1371782"/>
              <a:gd name="connsiteY7" fmla="*/ 472585 h 1530507"/>
              <a:gd name="connsiteX8" fmla="*/ 503262 w 1371782"/>
              <a:gd name="connsiteY8" fmla="*/ 551224 h 1530507"/>
              <a:gd name="connsiteX9" fmla="*/ 514034 w 1371782"/>
              <a:gd name="connsiteY9" fmla="*/ 621803 h 1530507"/>
              <a:gd name="connsiteX10" fmla="*/ 514917 w 1371782"/>
              <a:gd name="connsiteY10" fmla="*/ 627591 h 1530507"/>
              <a:gd name="connsiteX11" fmla="*/ 724563 w 1371782"/>
              <a:gd name="connsiteY11" fmla="*/ 1016439 h 1530507"/>
              <a:gd name="connsiteX12" fmla="*/ 769126 w 1371782"/>
              <a:gd name="connsiteY12" fmla="*/ 1053207 h 1530507"/>
              <a:gd name="connsiteX13" fmla="*/ 838391 w 1371782"/>
              <a:gd name="connsiteY13" fmla="*/ 1110356 h 1530507"/>
              <a:gd name="connsiteX14" fmla="*/ 1268417 w 1371782"/>
              <a:gd name="connsiteY14" fmla="*/ 1241711 h 1530507"/>
              <a:gd name="connsiteX15" fmla="*/ 1347056 w 1371782"/>
              <a:gd name="connsiteY15" fmla="*/ 1237740 h 1530507"/>
              <a:gd name="connsiteX16" fmla="*/ 1371782 w 1371782"/>
              <a:gd name="connsiteY16" fmla="*/ 1233967 h 1530507"/>
              <a:gd name="connsiteX17" fmla="*/ 1312980 w 1371782"/>
              <a:gd name="connsiteY17" fmla="*/ 1305235 h 1530507"/>
              <a:gd name="connsiteX18" fmla="*/ 769126 w 1371782"/>
              <a:gd name="connsiteY18" fmla="*/ 1530507 h 1530507"/>
              <a:gd name="connsiteX19" fmla="*/ 225272 w 1371782"/>
              <a:gd name="connsiteY19" fmla="*/ 1305235 h 1530507"/>
              <a:gd name="connsiteX20" fmla="*/ 166470 w 1371782"/>
              <a:gd name="connsiteY20" fmla="*/ 1233967 h 1530507"/>
              <a:gd name="connsiteX21" fmla="*/ 131355 w 1371782"/>
              <a:gd name="connsiteY21" fmla="*/ 1191407 h 1530507"/>
              <a:gd name="connsiteX22" fmla="*/ 0 w 1371782"/>
              <a:gd name="connsiteY22" fmla="*/ 761381 h 1530507"/>
              <a:gd name="connsiteX23" fmla="*/ 3971 w 1371782"/>
              <a:gd name="connsiteY23" fmla="*/ 682742 h 1530507"/>
              <a:gd name="connsiteX24" fmla="*/ 13831 w 1371782"/>
              <a:gd name="connsiteY24" fmla="*/ 618139 h 1530507"/>
              <a:gd name="connsiteX25" fmla="*/ 15626 w 1371782"/>
              <a:gd name="connsiteY25" fmla="*/ 606375 h 1530507"/>
              <a:gd name="connsiteX26" fmla="*/ 225272 w 1371782"/>
              <a:gd name="connsiteY26" fmla="*/ 217527 h 1530507"/>
              <a:gd name="connsiteX27" fmla="*/ 265256 w 1371782"/>
              <a:gd name="connsiteY27" fmla="*/ 184537 h 1530507"/>
              <a:gd name="connsiteX28" fmla="*/ 339100 w 1371782"/>
              <a:gd name="connsiteY28" fmla="*/ 123610 h 1530507"/>
              <a:gd name="connsiteX29" fmla="*/ 469747 w 1371782"/>
              <a:gd name="connsiteY29" fmla="*/ 52697 h 1530507"/>
              <a:gd name="connsiteX30" fmla="*/ 513122 w 1371782"/>
              <a:gd name="connsiteY30" fmla="*/ 39233 h 1530507"/>
              <a:gd name="connsiteX31" fmla="*/ 614120 w 1371782"/>
              <a:gd name="connsiteY31" fmla="*/ 7881 h 153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782" h="1530507">
                <a:moveTo>
                  <a:pt x="665761" y="0"/>
                </a:moveTo>
                <a:lnTo>
                  <a:pt x="630646" y="42559"/>
                </a:lnTo>
                <a:cubicBezTo>
                  <a:pt x="603002" y="83477"/>
                  <a:pt x="579193" y="127198"/>
                  <a:pt x="559733" y="173206"/>
                </a:cubicBezTo>
                <a:lnTo>
                  <a:pt x="556293" y="184288"/>
                </a:lnTo>
                <a:lnTo>
                  <a:pt x="514917" y="317579"/>
                </a:lnTo>
                <a:lnTo>
                  <a:pt x="513049" y="329819"/>
                </a:lnTo>
                <a:lnTo>
                  <a:pt x="503262" y="393946"/>
                </a:lnTo>
                <a:cubicBezTo>
                  <a:pt x="500636" y="419802"/>
                  <a:pt x="499291" y="446037"/>
                  <a:pt x="499291" y="472585"/>
                </a:cubicBezTo>
                <a:cubicBezTo>
                  <a:pt x="499291" y="499134"/>
                  <a:pt x="500636" y="525368"/>
                  <a:pt x="503262" y="551224"/>
                </a:cubicBezTo>
                <a:lnTo>
                  <a:pt x="514034" y="621803"/>
                </a:lnTo>
                <a:lnTo>
                  <a:pt x="514917" y="627591"/>
                </a:lnTo>
                <a:cubicBezTo>
                  <a:pt x="545653" y="777796"/>
                  <a:pt x="620175" y="912051"/>
                  <a:pt x="724563" y="1016439"/>
                </a:cubicBezTo>
                <a:lnTo>
                  <a:pt x="769126" y="1053207"/>
                </a:lnTo>
                <a:lnTo>
                  <a:pt x="838391" y="1110356"/>
                </a:lnTo>
                <a:cubicBezTo>
                  <a:pt x="961145" y="1193287"/>
                  <a:pt x="1109126" y="1241711"/>
                  <a:pt x="1268417" y="1241711"/>
                </a:cubicBezTo>
                <a:cubicBezTo>
                  <a:pt x="1294966" y="1241711"/>
                  <a:pt x="1321200" y="1240366"/>
                  <a:pt x="1347056" y="1237740"/>
                </a:cubicBezTo>
                <a:lnTo>
                  <a:pt x="1371782" y="1233967"/>
                </a:lnTo>
                <a:lnTo>
                  <a:pt x="1312980" y="1305235"/>
                </a:lnTo>
                <a:cubicBezTo>
                  <a:pt x="1173796" y="1444420"/>
                  <a:pt x="981515" y="1530507"/>
                  <a:pt x="769126" y="1530507"/>
                </a:cubicBezTo>
                <a:cubicBezTo>
                  <a:pt x="556738" y="1530507"/>
                  <a:pt x="364456" y="1444420"/>
                  <a:pt x="225272" y="1305235"/>
                </a:cubicBezTo>
                <a:lnTo>
                  <a:pt x="166470" y="1233967"/>
                </a:lnTo>
                <a:lnTo>
                  <a:pt x="131355" y="1191407"/>
                </a:lnTo>
                <a:cubicBezTo>
                  <a:pt x="48424" y="1068654"/>
                  <a:pt x="0" y="920673"/>
                  <a:pt x="0" y="761381"/>
                </a:cubicBezTo>
                <a:cubicBezTo>
                  <a:pt x="0" y="734833"/>
                  <a:pt x="1345" y="708598"/>
                  <a:pt x="3971" y="682742"/>
                </a:cubicBezTo>
                <a:lnTo>
                  <a:pt x="13831" y="618139"/>
                </a:lnTo>
                <a:lnTo>
                  <a:pt x="15626" y="606375"/>
                </a:lnTo>
                <a:cubicBezTo>
                  <a:pt x="46362" y="456171"/>
                  <a:pt x="120884" y="321915"/>
                  <a:pt x="225272" y="217527"/>
                </a:cubicBezTo>
                <a:lnTo>
                  <a:pt x="265256" y="184537"/>
                </a:lnTo>
                <a:lnTo>
                  <a:pt x="339100" y="123610"/>
                </a:lnTo>
                <a:cubicBezTo>
                  <a:pt x="380018" y="95966"/>
                  <a:pt x="423739" y="72157"/>
                  <a:pt x="469747" y="52697"/>
                </a:cubicBezTo>
                <a:lnTo>
                  <a:pt x="513122" y="39233"/>
                </a:lnTo>
                <a:lnTo>
                  <a:pt x="614120" y="7881"/>
                </a:lnTo>
                <a:close/>
              </a:path>
            </a:pathLst>
          </a:custGeom>
          <a:solidFill>
            <a:schemeClr val="accent1">
              <a:lumMod val="5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3" name="Freeform: Shape 1052">
            <a:extLst>
              <a:ext uri="{FF2B5EF4-FFF2-40B4-BE49-F238E27FC236}">
                <a16:creationId xmlns:a16="http://schemas.microsoft.com/office/drawing/2014/main" id="{D6D2805C-C67A-C213-9EF5-1EE5928DD67C}"/>
              </a:ext>
            </a:extLst>
          </p:cNvPr>
          <p:cNvSpPr/>
          <p:nvPr/>
        </p:nvSpPr>
        <p:spPr>
          <a:xfrm>
            <a:off x="-5559997" y="-274832"/>
            <a:ext cx="1538252" cy="1057424"/>
          </a:xfrm>
          <a:custGeom>
            <a:avLst/>
            <a:gdLst>
              <a:gd name="connsiteX0" fmla="*/ 769126 w 1538252"/>
              <a:gd name="connsiteY0" fmla="*/ 0 h 1057424"/>
              <a:gd name="connsiteX1" fmla="*/ 1199152 w 1538252"/>
              <a:gd name="connsiteY1" fmla="*/ 131355 h 1057424"/>
              <a:gd name="connsiteX2" fmla="*/ 1268417 w 1538252"/>
              <a:gd name="connsiteY2" fmla="*/ 188504 h 1057424"/>
              <a:gd name="connsiteX3" fmla="*/ 1312980 w 1538252"/>
              <a:gd name="connsiteY3" fmla="*/ 225272 h 1057424"/>
              <a:gd name="connsiteX4" fmla="*/ 1522626 w 1538252"/>
              <a:gd name="connsiteY4" fmla="*/ 614120 h 1057424"/>
              <a:gd name="connsiteX5" fmla="*/ 1523510 w 1538252"/>
              <a:gd name="connsiteY5" fmla="*/ 619908 h 1057424"/>
              <a:gd name="connsiteX6" fmla="*/ 1534281 w 1538252"/>
              <a:gd name="connsiteY6" fmla="*/ 690487 h 1057424"/>
              <a:gd name="connsiteX7" fmla="*/ 1538252 w 1538252"/>
              <a:gd name="connsiteY7" fmla="*/ 769126 h 1057424"/>
              <a:gd name="connsiteX8" fmla="*/ 1534281 w 1538252"/>
              <a:gd name="connsiteY8" fmla="*/ 847765 h 1057424"/>
              <a:gd name="connsiteX9" fmla="*/ 1524422 w 1538252"/>
              <a:gd name="connsiteY9" fmla="*/ 912369 h 1057424"/>
              <a:gd name="connsiteX10" fmla="*/ 1522626 w 1538252"/>
              <a:gd name="connsiteY10" fmla="*/ 924132 h 1057424"/>
              <a:gd name="connsiteX11" fmla="*/ 1481250 w 1538252"/>
              <a:gd name="connsiteY11" fmla="*/ 1057424 h 1057424"/>
              <a:gd name="connsiteX12" fmla="*/ 1477810 w 1538252"/>
              <a:gd name="connsiteY12" fmla="*/ 1046342 h 1057424"/>
              <a:gd name="connsiteX13" fmla="*/ 1406897 w 1538252"/>
              <a:gd name="connsiteY13" fmla="*/ 915695 h 1057424"/>
              <a:gd name="connsiteX14" fmla="*/ 1371782 w 1538252"/>
              <a:gd name="connsiteY14" fmla="*/ 873136 h 1057424"/>
              <a:gd name="connsiteX15" fmla="*/ 1312980 w 1538252"/>
              <a:gd name="connsiteY15" fmla="*/ 801867 h 1057424"/>
              <a:gd name="connsiteX16" fmla="*/ 1268417 w 1538252"/>
              <a:gd name="connsiteY16" fmla="*/ 765099 h 1057424"/>
              <a:gd name="connsiteX17" fmla="*/ 1199152 w 1538252"/>
              <a:gd name="connsiteY17" fmla="*/ 707950 h 1057424"/>
              <a:gd name="connsiteX18" fmla="*/ 1068505 w 1538252"/>
              <a:gd name="connsiteY18" fmla="*/ 637037 h 1057424"/>
              <a:gd name="connsiteX19" fmla="*/ 1013325 w 1538252"/>
              <a:gd name="connsiteY19" fmla="*/ 619908 h 1057424"/>
              <a:gd name="connsiteX20" fmla="*/ 924132 w 1538252"/>
              <a:gd name="connsiteY20" fmla="*/ 592221 h 1057424"/>
              <a:gd name="connsiteX21" fmla="*/ 769126 w 1538252"/>
              <a:gd name="connsiteY21" fmla="*/ 576595 h 1057424"/>
              <a:gd name="connsiteX22" fmla="*/ 614120 w 1538252"/>
              <a:gd name="connsiteY22" fmla="*/ 592221 h 1057424"/>
              <a:gd name="connsiteX23" fmla="*/ 513049 w 1538252"/>
              <a:gd name="connsiteY23" fmla="*/ 623596 h 1057424"/>
              <a:gd name="connsiteX24" fmla="*/ 469747 w 1538252"/>
              <a:gd name="connsiteY24" fmla="*/ 637037 h 1057424"/>
              <a:gd name="connsiteX25" fmla="*/ 60442 w 1538252"/>
              <a:gd name="connsiteY25" fmla="*/ 1046342 h 1057424"/>
              <a:gd name="connsiteX26" fmla="*/ 57002 w 1538252"/>
              <a:gd name="connsiteY26" fmla="*/ 1057424 h 1057424"/>
              <a:gd name="connsiteX27" fmla="*/ 15626 w 1538252"/>
              <a:gd name="connsiteY27" fmla="*/ 924132 h 1057424"/>
              <a:gd name="connsiteX28" fmla="*/ 0 w 1538252"/>
              <a:gd name="connsiteY28" fmla="*/ 769126 h 1057424"/>
              <a:gd name="connsiteX29" fmla="*/ 614120 w 1538252"/>
              <a:gd name="connsiteY29" fmla="*/ 15626 h 1057424"/>
              <a:gd name="connsiteX30" fmla="*/ 666232 w 1538252"/>
              <a:gd name="connsiteY30" fmla="*/ 7673 h 1057424"/>
              <a:gd name="connsiteX31" fmla="*/ 690487 w 1538252"/>
              <a:gd name="connsiteY31" fmla="*/ 3971 h 1057424"/>
              <a:gd name="connsiteX32" fmla="*/ 769126 w 1538252"/>
              <a:gd name="connsiteY32" fmla="*/ 0 h 105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38252" h="1057424">
                <a:moveTo>
                  <a:pt x="769126" y="0"/>
                </a:moveTo>
                <a:cubicBezTo>
                  <a:pt x="928418" y="0"/>
                  <a:pt x="1076399" y="48424"/>
                  <a:pt x="1199152" y="131355"/>
                </a:cubicBezTo>
                <a:lnTo>
                  <a:pt x="1268417" y="188504"/>
                </a:lnTo>
                <a:lnTo>
                  <a:pt x="1312980" y="225272"/>
                </a:lnTo>
                <a:cubicBezTo>
                  <a:pt x="1417369" y="329660"/>
                  <a:pt x="1491890" y="463916"/>
                  <a:pt x="1522626" y="614120"/>
                </a:cubicBezTo>
                <a:lnTo>
                  <a:pt x="1523510" y="619908"/>
                </a:lnTo>
                <a:lnTo>
                  <a:pt x="1534281" y="690487"/>
                </a:lnTo>
                <a:cubicBezTo>
                  <a:pt x="1536907" y="716343"/>
                  <a:pt x="1538252" y="742578"/>
                  <a:pt x="1538252" y="769126"/>
                </a:cubicBezTo>
                <a:cubicBezTo>
                  <a:pt x="1538252" y="795675"/>
                  <a:pt x="1536907" y="821909"/>
                  <a:pt x="1534281" y="847765"/>
                </a:cubicBezTo>
                <a:lnTo>
                  <a:pt x="1524422" y="912369"/>
                </a:lnTo>
                <a:lnTo>
                  <a:pt x="1522626" y="924132"/>
                </a:lnTo>
                <a:lnTo>
                  <a:pt x="1481250" y="1057424"/>
                </a:lnTo>
                <a:lnTo>
                  <a:pt x="1477810" y="1046342"/>
                </a:lnTo>
                <a:cubicBezTo>
                  <a:pt x="1458351" y="1000334"/>
                  <a:pt x="1434541" y="956613"/>
                  <a:pt x="1406897" y="915695"/>
                </a:cubicBezTo>
                <a:lnTo>
                  <a:pt x="1371782" y="873136"/>
                </a:lnTo>
                <a:lnTo>
                  <a:pt x="1312980" y="801867"/>
                </a:lnTo>
                <a:lnTo>
                  <a:pt x="1268417" y="765099"/>
                </a:lnTo>
                <a:lnTo>
                  <a:pt x="1199152" y="707950"/>
                </a:lnTo>
                <a:cubicBezTo>
                  <a:pt x="1158234" y="680306"/>
                  <a:pt x="1114513" y="656497"/>
                  <a:pt x="1068505" y="637037"/>
                </a:cubicBezTo>
                <a:lnTo>
                  <a:pt x="1013325" y="619908"/>
                </a:lnTo>
                <a:lnTo>
                  <a:pt x="924132" y="592221"/>
                </a:lnTo>
                <a:cubicBezTo>
                  <a:pt x="874064" y="581976"/>
                  <a:pt x="822223" y="576595"/>
                  <a:pt x="769126" y="576595"/>
                </a:cubicBezTo>
                <a:cubicBezTo>
                  <a:pt x="716029" y="576595"/>
                  <a:pt x="664189" y="581976"/>
                  <a:pt x="614120" y="592221"/>
                </a:cubicBezTo>
                <a:lnTo>
                  <a:pt x="513049" y="623596"/>
                </a:lnTo>
                <a:lnTo>
                  <a:pt x="469747" y="637037"/>
                </a:lnTo>
                <a:cubicBezTo>
                  <a:pt x="285714" y="714877"/>
                  <a:pt x="138282" y="862309"/>
                  <a:pt x="60442" y="1046342"/>
                </a:cubicBezTo>
                <a:lnTo>
                  <a:pt x="57002" y="1057424"/>
                </a:lnTo>
                <a:lnTo>
                  <a:pt x="15626" y="924132"/>
                </a:lnTo>
                <a:cubicBezTo>
                  <a:pt x="5381" y="874064"/>
                  <a:pt x="0" y="822223"/>
                  <a:pt x="0" y="769126"/>
                </a:cubicBezTo>
                <a:cubicBezTo>
                  <a:pt x="0" y="397446"/>
                  <a:pt x="263642" y="87344"/>
                  <a:pt x="614120" y="15626"/>
                </a:cubicBezTo>
                <a:lnTo>
                  <a:pt x="666232" y="7673"/>
                </a:lnTo>
                <a:lnTo>
                  <a:pt x="690487" y="3971"/>
                </a:lnTo>
                <a:cubicBezTo>
                  <a:pt x="716343" y="1345"/>
                  <a:pt x="742578" y="0"/>
                  <a:pt x="769126" y="0"/>
                </a:cubicBezTo>
                <a:close/>
              </a:path>
            </a:pathLst>
          </a:custGeom>
          <a:solidFill>
            <a:schemeClr val="accent1">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6" name="Freeform: Shape 1045">
            <a:extLst>
              <a:ext uri="{FF2B5EF4-FFF2-40B4-BE49-F238E27FC236}">
                <a16:creationId xmlns:a16="http://schemas.microsoft.com/office/drawing/2014/main" id="{596BDA90-ACE1-636F-B333-EE4FA7903230}"/>
              </a:ext>
            </a:extLst>
          </p:cNvPr>
          <p:cNvSpPr/>
          <p:nvPr/>
        </p:nvSpPr>
        <p:spPr>
          <a:xfrm>
            <a:off x="18887167" y="7664439"/>
            <a:ext cx="1538252" cy="1057423"/>
          </a:xfrm>
          <a:custGeom>
            <a:avLst/>
            <a:gdLst>
              <a:gd name="connsiteX0" fmla="*/ 57002 w 1538252"/>
              <a:gd name="connsiteY0" fmla="*/ 0 h 1057423"/>
              <a:gd name="connsiteX1" fmla="*/ 60442 w 1538252"/>
              <a:gd name="connsiteY1" fmla="*/ 11081 h 1057423"/>
              <a:gd name="connsiteX2" fmla="*/ 131355 w 1538252"/>
              <a:gd name="connsiteY2" fmla="*/ 141728 h 1057423"/>
              <a:gd name="connsiteX3" fmla="*/ 166941 w 1538252"/>
              <a:gd name="connsiteY3" fmla="*/ 184858 h 1057423"/>
              <a:gd name="connsiteX4" fmla="*/ 225272 w 1538252"/>
              <a:gd name="connsiteY4" fmla="*/ 255556 h 1057423"/>
              <a:gd name="connsiteX5" fmla="*/ 269835 w 1538252"/>
              <a:gd name="connsiteY5" fmla="*/ 292324 h 1057423"/>
              <a:gd name="connsiteX6" fmla="*/ 339100 w 1538252"/>
              <a:gd name="connsiteY6" fmla="*/ 349473 h 1057423"/>
              <a:gd name="connsiteX7" fmla="*/ 469747 w 1538252"/>
              <a:gd name="connsiteY7" fmla="*/ 420386 h 1057423"/>
              <a:gd name="connsiteX8" fmla="*/ 524928 w 1538252"/>
              <a:gd name="connsiteY8" fmla="*/ 437515 h 1057423"/>
              <a:gd name="connsiteX9" fmla="*/ 614120 w 1538252"/>
              <a:gd name="connsiteY9" fmla="*/ 465202 h 1057423"/>
              <a:gd name="connsiteX10" fmla="*/ 769126 w 1538252"/>
              <a:gd name="connsiteY10" fmla="*/ 480828 h 1057423"/>
              <a:gd name="connsiteX11" fmla="*/ 924132 w 1538252"/>
              <a:gd name="connsiteY11" fmla="*/ 465202 h 1057423"/>
              <a:gd name="connsiteX12" fmla="*/ 1025130 w 1538252"/>
              <a:gd name="connsiteY12" fmla="*/ 433851 h 1057423"/>
              <a:gd name="connsiteX13" fmla="*/ 1068505 w 1538252"/>
              <a:gd name="connsiteY13" fmla="*/ 420386 h 1057423"/>
              <a:gd name="connsiteX14" fmla="*/ 1477810 w 1538252"/>
              <a:gd name="connsiteY14" fmla="*/ 11081 h 1057423"/>
              <a:gd name="connsiteX15" fmla="*/ 1481250 w 1538252"/>
              <a:gd name="connsiteY15" fmla="*/ 0 h 1057423"/>
              <a:gd name="connsiteX16" fmla="*/ 1522626 w 1538252"/>
              <a:gd name="connsiteY16" fmla="*/ 133291 h 1057423"/>
              <a:gd name="connsiteX17" fmla="*/ 1538252 w 1538252"/>
              <a:gd name="connsiteY17" fmla="*/ 288297 h 1057423"/>
              <a:gd name="connsiteX18" fmla="*/ 924132 w 1538252"/>
              <a:gd name="connsiteY18" fmla="*/ 1041797 h 1057423"/>
              <a:gd name="connsiteX19" fmla="*/ 872491 w 1538252"/>
              <a:gd name="connsiteY19" fmla="*/ 1049679 h 1057423"/>
              <a:gd name="connsiteX20" fmla="*/ 847765 w 1538252"/>
              <a:gd name="connsiteY20" fmla="*/ 1053452 h 1057423"/>
              <a:gd name="connsiteX21" fmla="*/ 769126 w 1538252"/>
              <a:gd name="connsiteY21" fmla="*/ 1057423 h 1057423"/>
              <a:gd name="connsiteX22" fmla="*/ 339100 w 1538252"/>
              <a:gd name="connsiteY22" fmla="*/ 926068 h 1057423"/>
              <a:gd name="connsiteX23" fmla="*/ 269835 w 1538252"/>
              <a:gd name="connsiteY23" fmla="*/ 868919 h 1057423"/>
              <a:gd name="connsiteX24" fmla="*/ 225272 w 1538252"/>
              <a:gd name="connsiteY24" fmla="*/ 832151 h 1057423"/>
              <a:gd name="connsiteX25" fmla="*/ 15626 w 1538252"/>
              <a:gd name="connsiteY25" fmla="*/ 443303 h 1057423"/>
              <a:gd name="connsiteX26" fmla="*/ 14743 w 1538252"/>
              <a:gd name="connsiteY26" fmla="*/ 437515 h 1057423"/>
              <a:gd name="connsiteX27" fmla="*/ 3971 w 1538252"/>
              <a:gd name="connsiteY27" fmla="*/ 366936 h 1057423"/>
              <a:gd name="connsiteX28" fmla="*/ 0 w 1538252"/>
              <a:gd name="connsiteY28" fmla="*/ 288297 h 1057423"/>
              <a:gd name="connsiteX29" fmla="*/ 3971 w 1538252"/>
              <a:gd name="connsiteY29" fmla="*/ 209658 h 1057423"/>
              <a:gd name="connsiteX30" fmla="*/ 13758 w 1538252"/>
              <a:gd name="connsiteY30" fmla="*/ 145531 h 1057423"/>
              <a:gd name="connsiteX31" fmla="*/ 15626 w 1538252"/>
              <a:gd name="connsiteY31" fmla="*/ 133291 h 1057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38252" h="1057423">
                <a:moveTo>
                  <a:pt x="57002" y="0"/>
                </a:moveTo>
                <a:lnTo>
                  <a:pt x="60442" y="11081"/>
                </a:lnTo>
                <a:cubicBezTo>
                  <a:pt x="79902" y="57089"/>
                  <a:pt x="103711" y="100810"/>
                  <a:pt x="131355" y="141728"/>
                </a:cubicBezTo>
                <a:lnTo>
                  <a:pt x="166941" y="184858"/>
                </a:lnTo>
                <a:lnTo>
                  <a:pt x="225272" y="255556"/>
                </a:lnTo>
                <a:lnTo>
                  <a:pt x="269835" y="292324"/>
                </a:lnTo>
                <a:lnTo>
                  <a:pt x="339100" y="349473"/>
                </a:lnTo>
                <a:cubicBezTo>
                  <a:pt x="380018" y="377117"/>
                  <a:pt x="423739" y="400927"/>
                  <a:pt x="469747" y="420386"/>
                </a:cubicBezTo>
                <a:lnTo>
                  <a:pt x="524928" y="437515"/>
                </a:lnTo>
                <a:lnTo>
                  <a:pt x="614120" y="465202"/>
                </a:lnTo>
                <a:cubicBezTo>
                  <a:pt x="664189" y="475448"/>
                  <a:pt x="716029" y="480828"/>
                  <a:pt x="769126" y="480828"/>
                </a:cubicBezTo>
                <a:cubicBezTo>
                  <a:pt x="822223" y="480828"/>
                  <a:pt x="874064" y="475448"/>
                  <a:pt x="924132" y="465202"/>
                </a:cubicBezTo>
                <a:lnTo>
                  <a:pt x="1025130" y="433851"/>
                </a:lnTo>
                <a:lnTo>
                  <a:pt x="1068505" y="420386"/>
                </a:lnTo>
                <a:cubicBezTo>
                  <a:pt x="1252539" y="342547"/>
                  <a:pt x="1399971" y="195115"/>
                  <a:pt x="1477810" y="11081"/>
                </a:cubicBezTo>
                <a:lnTo>
                  <a:pt x="1481250" y="0"/>
                </a:lnTo>
                <a:lnTo>
                  <a:pt x="1522626" y="133291"/>
                </a:lnTo>
                <a:cubicBezTo>
                  <a:pt x="1532872" y="183360"/>
                  <a:pt x="1538252" y="235200"/>
                  <a:pt x="1538252" y="288297"/>
                </a:cubicBezTo>
                <a:cubicBezTo>
                  <a:pt x="1538252" y="659977"/>
                  <a:pt x="1274610" y="970079"/>
                  <a:pt x="924132" y="1041797"/>
                </a:cubicBezTo>
                <a:lnTo>
                  <a:pt x="872491" y="1049679"/>
                </a:lnTo>
                <a:lnTo>
                  <a:pt x="847765" y="1053452"/>
                </a:lnTo>
                <a:cubicBezTo>
                  <a:pt x="821909" y="1056078"/>
                  <a:pt x="795675" y="1057423"/>
                  <a:pt x="769126" y="1057423"/>
                </a:cubicBezTo>
                <a:cubicBezTo>
                  <a:pt x="609835" y="1057423"/>
                  <a:pt x="461854" y="1008999"/>
                  <a:pt x="339100" y="926068"/>
                </a:cubicBezTo>
                <a:lnTo>
                  <a:pt x="269835" y="868919"/>
                </a:lnTo>
                <a:lnTo>
                  <a:pt x="225272" y="832151"/>
                </a:lnTo>
                <a:cubicBezTo>
                  <a:pt x="120884" y="727763"/>
                  <a:pt x="46362" y="593508"/>
                  <a:pt x="15626" y="443303"/>
                </a:cubicBezTo>
                <a:lnTo>
                  <a:pt x="14743" y="437515"/>
                </a:lnTo>
                <a:lnTo>
                  <a:pt x="3971" y="366936"/>
                </a:lnTo>
                <a:cubicBezTo>
                  <a:pt x="1345" y="341080"/>
                  <a:pt x="0" y="314846"/>
                  <a:pt x="0" y="288297"/>
                </a:cubicBezTo>
                <a:cubicBezTo>
                  <a:pt x="0" y="261749"/>
                  <a:pt x="1345" y="235514"/>
                  <a:pt x="3971" y="209658"/>
                </a:cubicBezTo>
                <a:lnTo>
                  <a:pt x="13758" y="145531"/>
                </a:lnTo>
                <a:lnTo>
                  <a:pt x="15626" y="133291"/>
                </a:lnTo>
                <a:close/>
              </a:path>
            </a:pathLst>
          </a:custGeom>
          <a:solidFill>
            <a:schemeClr val="accent1">
              <a:lumMod val="20000"/>
              <a:lumOff val="8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8" name="Freeform: Shape 1047">
            <a:extLst>
              <a:ext uri="{FF2B5EF4-FFF2-40B4-BE49-F238E27FC236}">
                <a16:creationId xmlns:a16="http://schemas.microsoft.com/office/drawing/2014/main" id="{B469EFD7-A3A3-3027-2662-45C0BB0D27B1}"/>
              </a:ext>
            </a:extLst>
          </p:cNvPr>
          <p:cNvSpPr/>
          <p:nvPr/>
        </p:nvSpPr>
        <p:spPr>
          <a:xfrm>
            <a:off x="6540470" y="-2771947"/>
            <a:ext cx="1371311" cy="1530579"/>
          </a:xfrm>
          <a:custGeom>
            <a:avLst/>
            <a:gdLst>
              <a:gd name="connsiteX0" fmla="*/ 602185 w 1371311"/>
              <a:gd name="connsiteY0" fmla="*/ 0 h 1530579"/>
              <a:gd name="connsiteX1" fmla="*/ 1146039 w 1371311"/>
              <a:gd name="connsiteY1" fmla="*/ 225272 h 1530579"/>
              <a:gd name="connsiteX2" fmla="*/ 1204370 w 1371311"/>
              <a:gd name="connsiteY2" fmla="*/ 295970 h 1530579"/>
              <a:gd name="connsiteX3" fmla="*/ 1239956 w 1371311"/>
              <a:gd name="connsiteY3" fmla="*/ 339100 h 1530579"/>
              <a:gd name="connsiteX4" fmla="*/ 1371311 w 1371311"/>
              <a:gd name="connsiteY4" fmla="*/ 769126 h 1530579"/>
              <a:gd name="connsiteX5" fmla="*/ 1367340 w 1371311"/>
              <a:gd name="connsiteY5" fmla="*/ 847765 h 1530579"/>
              <a:gd name="connsiteX6" fmla="*/ 1357553 w 1371311"/>
              <a:gd name="connsiteY6" fmla="*/ 911893 h 1530579"/>
              <a:gd name="connsiteX7" fmla="*/ 1355685 w 1371311"/>
              <a:gd name="connsiteY7" fmla="*/ 924132 h 1530579"/>
              <a:gd name="connsiteX8" fmla="*/ 1146039 w 1371311"/>
              <a:gd name="connsiteY8" fmla="*/ 1312980 h 1530579"/>
              <a:gd name="connsiteX9" fmla="*/ 1106055 w 1371311"/>
              <a:gd name="connsiteY9" fmla="*/ 1345970 h 1530579"/>
              <a:gd name="connsiteX10" fmla="*/ 1032211 w 1371311"/>
              <a:gd name="connsiteY10" fmla="*/ 1406897 h 1530579"/>
              <a:gd name="connsiteX11" fmla="*/ 901564 w 1371311"/>
              <a:gd name="connsiteY11" fmla="*/ 1477810 h 1530579"/>
              <a:gd name="connsiteX12" fmla="*/ 858262 w 1371311"/>
              <a:gd name="connsiteY12" fmla="*/ 1491252 h 1530579"/>
              <a:gd name="connsiteX13" fmla="*/ 757191 w 1371311"/>
              <a:gd name="connsiteY13" fmla="*/ 1522626 h 1530579"/>
              <a:gd name="connsiteX14" fmla="*/ 705079 w 1371311"/>
              <a:gd name="connsiteY14" fmla="*/ 1530579 h 1530579"/>
              <a:gd name="connsiteX15" fmla="*/ 740665 w 1371311"/>
              <a:gd name="connsiteY15" fmla="*/ 1487449 h 1530579"/>
              <a:gd name="connsiteX16" fmla="*/ 811578 w 1371311"/>
              <a:gd name="connsiteY16" fmla="*/ 1356802 h 1530579"/>
              <a:gd name="connsiteX17" fmla="*/ 815018 w 1371311"/>
              <a:gd name="connsiteY17" fmla="*/ 1345721 h 1530579"/>
              <a:gd name="connsiteX18" fmla="*/ 856394 w 1371311"/>
              <a:gd name="connsiteY18" fmla="*/ 1212429 h 1530579"/>
              <a:gd name="connsiteX19" fmla="*/ 858190 w 1371311"/>
              <a:gd name="connsiteY19" fmla="*/ 1200666 h 1530579"/>
              <a:gd name="connsiteX20" fmla="*/ 868049 w 1371311"/>
              <a:gd name="connsiteY20" fmla="*/ 1136062 h 1530579"/>
              <a:gd name="connsiteX21" fmla="*/ 872020 w 1371311"/>
              <a:gd name="connsiteY21" fmla="*/ 1057423 h 1530579"/>
              <a:gd name="connsiteX22" fmla="*/ 868049 w 1371311"/>
              <a:gd name="connsiteY22" fmla="*/ 978784 h 1530579"/>
              <a:gd name="connsiteX23" fmla="*/ 857278 w 1371311"/>
              <a:gd name="connsiteY23" fmla="*/ 908205 h 1530579"/>
              <a:gd name="connsiteX24" fmla="*/ 856394 w 1371311"/>
              <a:gd name="connsiteY24" fmla="*/ 902417 h 1530579"/>
              <a:gd name="connsiteX25" fmla="*/ 646748 w 1371311"/>
              <a:gd name="connsiteY25" fmla="*/ 513569 h 1530579"/>
              <a:gd name="connsiteX26" fmla="*/ 602185 w 1371311"/>
              <a:gd name="connsiteY26" fmla="*/ 476801 h 1530579"/>
              <a:gd name="connsiteX27" fmla="*/ 532920 w 1371311"/>
              <a:gd name="connsiteY27" fmla="*/ 419652 h 1530579"/>
              <a:gd name="connsiteX28" fmla="*/ 102894 w 1371311"/>
              <a:gd name="connsiteY28" fmla="*/ 288297 h 1530579"/>
              <a:gd name="connsiteX29" fmla="*/ 24255 w 1371311"/>
              <a:gd name="connsiteY29" fmla="*/ 292268 h 1530579"/>
              <a:gd name="connsiteX30" fmla="*/ 0 w 1371311"/>
              <a:gd name="connsiteY30" fmla="*/ 295970 h 1530579"/>
              <a:gd name="connsiteX31" fmla="*/ 58331 w 1371311"/>
              <a:gd name="connsiteY31" fmla="*/ 225272 h 1530579"/>
              <a:gd name="connsiteX32" fmla="*/ 602185 w 1371311"/>
              <a:gd name="connsiteY32" fmla="*/ 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311" h="1530579">
                <a:moveTo>
                  <a:pt x="602185" y="0"/>
                </a:moveTo>
                <a:cubicBezTo>
                  <a:pt x="814574" y="0"/>
                  <a:pt x="1006855" y="86087"/>
                  <a:pt x="1146039" y="225272"/>
                </a:cubicBezTo>
                <a:lnTo>
                  <a:pt x="1204370" y="295970"/>
                </a:lnTo>
                <a:lnTo>
                  <a:pt x="1239956" y="339100"/>
                </a:lnTo>
                <a:cubicBezTo>
                  <a:pt x="1322887" y="461854"/>
                  <a:pt x="1371311" y="609835"/>
                  <a:pt x="1371311" y="769126"/>
                </a:cubicBezTo>
                <a:cubicBezTo>
                  <a:pt x="1371311" y="795675"/>
                  <a:pt x="1369966" y="821909"/>
                  <a:pt x="1367340" y="847765"/>
                </a:cubicBezTo>
                <a:lnTo>
                  <a:pt x="1357553" y="911893"/>
                </a:lnTo>
                <a:lnTo>
                  <a:pt x="1355685" y="924132"/>
                </a:lnTo>
                <a:cubicBezTo>
                  <a:pt x="1324949" y="1074337"/>
                  <a:pt x="1250428" y="1208592"/>
                  <a:pt x="1146039" y="1312980"/>
                </a:cubicBezTo>
                <a:lnTo>
                  <a:pt x="1106055" y="1345970"/>
                </a:lnTo>
                <a:lnTo>
                  <a:pt x="1032211" y="1406897"/>
                </a:lnTo>
                <a:cubicBezTo>
                  <a:pt x="991293" y="1434541"/>
                  <a:pt x="947572" y="1458351"/>
                  <a:pt x="901564" y="1477810"/>
                </a:cubicBezTo>
                <a:lnTo>
                  <a:pt x="858262" y="1491252"/>
                </a:lnTo>
                <a:lnTo>
                  <a:pt x="757191" y="1522626"/>
                </a:lnTo>
                <a:lnTo>
                  <a:pt x="705079" y="1530579"/>
                </a:lnTo>
                <a:lnTo>
                  <a:pt x="740665" y="1487449"/>
                </a:lnTo>
                <a:cubicBezTo>
                  <a:pt x="768309" y="1446531"/>
                  <a:pt x="792119" y="1402810"/>
                  <a:pt x="811578" y="1356802"/>
                </a:cubicBezTo>
                <a:lnTo>
                  <a:pt x="815018" y="1345721"/>
                </a:lnTo>
                <a:lnTo>
                  <a:pt x="856394" y="1212429"/>
                </a:lnTo>
                <a:lnTo>
                  <a:pt x="858190" y="1200666"/>
                </a:lnTo>
                <a:lnTo>
                  <a:pt x="868049" y="1136062"/>
                </a:lnTo>
                <a:cubicBezTo>
                  <a:pt x="870675" y="1110206"/>
                  <a:pt x="872020" y="1083972"/>
                  <a:pt x="872020" y="1057423"/>
                </a:cubicBezTo>
                <a:cubicBezTo>
                  <a:pt x="872020" y="1030875"/>
                  <a:pt x="870675" y="1004640"/>
                  <a:pt x="868049" y="978784"/>
                </a:cubicBezTo>
                <a:lnTo>
                  <a:pt x="857278" y="908205"/>
                </a:lnTo>
                <a:lnTo>
                  <a:pt x="856394" y="902417"/>
                </a:lnTo>
                <a:cubicBezTo>
                  <a:pt x="825658" y="752213"/>
                  <a:pt x="751137" y="617957"/>
                  <a:pt x="646748" y="513569"/>
                </a:cubicBezTo>
                <a:lnTo>
                  <a:pt x="602185" y="476801"/>
                </a:lnTo>
                <a:lnTo>
                  <a:pt x="532920" y="419652"/>
                </a:lnTo>
                <a:cubicBezTo>
                  <a:pt x="410167" y="336721"/>
                  <a:pt x="262186" y="288297"/>
                  <a:pt x="102894" y="288297"/>
                </a:cubicBezTo>
                <a:cubicBezTo>
                  <a:pt x="76346" y="288297"/>
                  <a:pt x="50111" y="289642"/>
                  <a:pt x="24255" y="292268"/>
                </a:cubicBezTo>
                <a:lnTo>
                  <a:pt x="0" y="295970"/>
                </a:lnTo>
                <a:lnTo>
                  <a:pt x="58331" y="225272"/>
                </a:lnTo>
                <a:cubicBezTo>
                  <a:pt x="197515" y="86087"/>
                  <a:pt x="389797" y="0"/>
                  <a:pt x="602185" y="0"/>
                </a:cubicBezTo>
                <a:close/>
              </a:path>
            </a:pathLst>
          </a:custGeom>
          <a:solidFill>
            <a:schemeClr val="accent1">
              <a:lumMod val="60000"/>
              <a:lumOff val="4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7" name="Freeform: Shape 1046">
            <a:extLst>
              <a:ext uri="{FF2B5EF4-FFF2-40B4-BE49-F238E27FC236}">
                <a16:creationId xmlns:a16="http://schemas.microsoft.com/office/drawing/2014/main" id="{71A6FAB1-3B85-C3E4-264A-B72CEF6E8BD7}"/>
              </a:ext>
            </a:extLst>
          </p:cNvPr>
          <p:cNvSpPr/>
          <p:nvPr/>
        </p:nvSpPr>
        <p:spPr>
          <a:xfrm>
            <a:off x="18662513" y="-709900"/>
            <a:ext cx="1371311" cy="1530579"/>
          </a:xfrm>
          <a:custGeom>
            <a:avLst/>
            <a:gdLst>
              <a:gd name="connsiteX0" fmla="*/ 705079 w 1371311"/>
              <a:gd name="connsiteY0" fmla="*/ 0 h 1530579"/>
              <a:gd name="connsiteX1" fmla="*/ 757191 w 1371311"/>
              <a:gd name="connsiteY1" fmla="*/ 7953 h 1530579"/>
              <a:gd name="connsiteX2" fmla="*/ 1371311 w 1371311"/>
              <a:gd name="connsiteY2" fmla="*/ 761453 h 1530579"/>
              <a:gd name="connsiteX3" fmla="*/ 1355685 w 1371311"/>
              <a:gd name="connsiteY3" fmla="*/ 916459 h 1530579"/>
              <a:gd name="connsiteX4" fmla="*/ 1314309 w 1371311"/>
              <a:gd name="connsiteY4" fmla="*/ 1049751 h 1530579"/>
              <a:gd name="connsiteX5" fmla="*/ 1310869 w 1371311"/>
              <a:gd name="connsiteY5" fmla="*/ 1060832 h 1530579"/>
              <a:gd name="connsiteX6" fmla="*/ 901564 w 1371311"/>
              <a:gd name="connsiteY6" fmla="*/ 1470137 h 1530579"/>
              <a:gd name="connsiteX7" fmla="*/ 858189 w 1371311"/>
              <a:gd name="connsiteY7" fmla="*/ 1483602 h 1530579"/>
              <a:gd name="connsiteX8" fmla="*/ 757191 w 1371311"/>
              <a:gd name="connsiteY8" fmla="*/ 1514953 h 1530579"/>
              <a:gd name="connsiteX9" fmla="*/ 602185 w 1371311"/>
              <a:gd name="connsiteY9" fmla="*/ 1530579 h 1530579"/>
              <a:gd name="connsiteX10" fmla="*/ 447179 w 1371311"/>
              <a:gd name="connsiteY10" fmla="*/ 1514953 h 1530579"/>
              <a:gd name="connsiteX11" fmla="*/ 357987 w 1371311"/>
              <a:gd name="connsiteY11" fmla="*/ 1487266 h 1530579"/>
              <a:gd name="connsiteX12" fmla="*/ 302806 w 1371311"/>
              <a:gd name="connsiteY12" fmla="*/ 1470137 h 1530579"/>
              <a:gd name="connsiteX13" fmla="*/ 172159 w 1371311"/>
              <a:gd name="connsiteY13" fmla="*/ 1399224 h 1530579"/>
              <a:gd name="connsiteX14" fmla="*/ 102894 w 1371311"/>
              <a:gd name="connsiteY14" fmla="*/ 1342075 h 1530579"/>
              <a:gd name="connsiteX15" fmla="*/ 58331 w 1371311"/>
              <a:gd name="connsiteY15" fmla="*/ 1305307 h 1530579"/>
              <a:gd name="connsiteX16" fmla="*/ 0 w 1371311"/>
              <a:gd name="connsiteY16" fmla="*/ 1234609 h 1530579"/>
              <a:gd name="connsiteX17" fmla="*/ 24255 w 1371311"/>
              <a:gd name="connsiteY17" fmla="*/ 1238311 h 1530579"/>
              <a:gd name="connsiteX18" fmla="*/ 102894 w 1371311"/>
              <a:gd name="connsiteY18" fmla="*/ 1242282 h 1530579"/>
              <a:gd name="connsiteX19" fmla="*/ 181533 w 1371311"/>
              <a:gd name="connsiteY19" fmla="*/ 1238311 h 1530579"/>
              <a:gd name="connsiteX20" fmla="*/ 205788 w 1371311"/>
              <a:gd name="connsiteY20" fmla="*/ 1234609 h 1530579"/>
              <a:gd name="connsiteX21" fmla="*/ 257900 w 1371311"/>
              <a:gd name="connsiteY21" fmla="*/ 1226656 h 1530579"/>
              <a:gd name="connsiteX22" fmla="*/ 358971 w 1371311"/>
              <a:gd name="connsiteY22" fmla="*/ 1195282 h 1530579"/>
              <a:gd name="connsiteX23" fmla="*/ 402273 w 1371311"/>
              <a:gd name="connsiteY23" fmla="*/ 1181840 h 1530579"/>
              <a:gd name="connsiteX24" fmla="*/ 532920 w 1371311"/>
              <a:gd name="connsiteY24" fmla="*/ 1110927 h 1530579"/>
              <a:gd name="connsiteX25" fmla="*/ 606764 w 1371311"/>
              <a:gd name="connsiteY25" fmla="*/ 1050000 h 1530579"/>
              <a:gd name="connsiteX26" fmla="*/ 646748 w 1371311"/>
              <a:gd name="connsiteY26" fmla="*/ 1017010 h 1530579"/>
              <a:gd name="connsiteX27" fmla="*/ 856394 w 1371311"/>
              <a:gd name="connsiteY27" fmla="*/ 628162 h 1530579"/>
              <a:gd name="connsiteX28" fmla="*/ 858262 w 1371311"/>
              <a:gd name="connsiteY28" fmla="*/ 615923 h 1530579"/>
              <a:gd name="connsiteX29" fmla="*/ 868049 w 1371311"/>
              <a:gd name="connsiteY29" fmla="*/ 551795 h 1530579"/>
              <a:gd name="connsiteX30" fmla="*/ 872020 w 1371311"/>
              <a:gd name="connsiteY30" fmla="*/ 473156 h 1530579"/>
              <a:gd name="connsiteX31" fmla="*/ 740665 w 1371311"/>
              <a:gd name="connsiteY31" fmla="*/ 4313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311" h="1530579">
                <a:moveTo>
                  <a:pt x="705079" y="0"/>
                </a:moveTo>
                <a:lnTo>
                  <a:pt x="757191" y="7953"/>
                </a:lnTo>
                <a:cubicBezTo>
                  <a:pt x="1107669" y="79671"/>
                  <a:pt x="1371311" y="389773"/>
                  <a:pt x="1371311" y="761453"/>
                </a:cubicBezTo>
                <a:cubicBezTo>
                  <a:pt x="1371311" y="814550"/>
                  <a:pt x="1365931" y="866391"/>
                  <a:pt x="1355685" y="916459"/>
                </a:cubicBezTo>
                <a:lnTo>
                  <a:pt x="1314309" y="1049751"/>
                </a:lnTo>
                <a:lnTo>
                  <a:pt x="1310869" y="1060832"/>
                </a:lnTo>
                <a:cubicBezTo>
                  <a:pt x="1233030" y="1244866"/>
                  <a:pt x="1085598" y="1392298"/>
                  <a:pt x="901564" y="1470137"/>
                </a:cubicBezTo>
                <a:lnTo>
                  <a:pt x="858189" y="1483602"/>
                </a:lnTo>
                <a:lnTo>
                  <a:pt x="757191" y="1514953"/>
                </a:lnTo>
                <a:cubicBezTo>
                  <a:pt x="707123" y="1525199"/>
                  <a:pt x="655282" y="1530579"/>
                  <a:pt x="602185" y="1530579"/>
                </a:cubicBezTo>
                <a:cubicBezTo>
                  <a:pt x="549088" y="1530579"/>
                  <a:pt x="497248" y="1525199"/>
                  <a:pt x="447179" y="1514953"/>
                </a:cubicBezTo>
                <a:lnTo>
                  <a:pt x="357987" y="1487266"/>
                </a:lnTo>
                <a:lnTo>
                  <a:pt x="302806" y="1470137"/>
                </a:lnTo>
                <a:cubicBezTo>
                  <a:pt x="256798" y="1450678"/>
                  <a:pt x="213077" y="1426868"/>
                  <a:pt x="172159" y="1399224"/>
                </a:cubicBezTo>
                <a:lnTo>
                  <a:pt x="102894" y="1342075"/>
                </a:lnTo>
                <a:lnTo>
                  <a:pt x="58331" y="1305307"/>
                </a:lnTo>
                <a:lnTo>
                  <a:pt x="0" y="1234609"/>
                </a:lnTo>
                <a:lnTo>
                  <a:pt x="24255" y="1238311"/>
                </a:lnTo>
                <a:cubicBezTo>
                  <a:pt x="50111" y="1240937"/>
                  <a:pt x="76346" y="1242282"/>
                  <a:pt x="102894" y="1242282"/>
                </a:cubicBezTo>
                <a:cubicBezTo>
                  <a:pt x="129443" y="1242282"/>
                  <a:pt x="155677" y="1240937"/>
                  <a:pt x="181533" y="1238311"/>
                </a:cubicBezTo>
                <a:lnTo>
                  <a:pt x="205788" y="1234609"/>
                </a:lnTo>
                <a:lnTo>
                  <a:pt x="257900" y="1226656"/>
                </a:lnTo>
                <a:lnTo>
                  <a:pt x="358971" y="1195282"/>
                </a:lnTo>
                <a:lnTo>
                  <a:pt x="402273" y="1181840"/>
                </a:lnTo>
                <a:cubicBezTo>
                  <a:pt x="448281" y="1162381"/>
                  <a:pt x="492002" y="1138571"/>
                  <a:pt x="532920" y="1110927"/>
                </a:cubicBezTo>
                <a:lnTo>
                  <a:pt x="606764" y="1050000"/>
                </a:lnTo>
                <a:lnTo>
                  <a:pt x="646748" y="1017010"/>
                </a:lnTo>
                <a:cubicBezTo>
                  <a:pt x="751137" y="912622"/>
                  <a:pt x="825658" y="778367"/>
                  <a:pt x="856394" y="628162"/>
                </a:cubicBezTo>
                <a:lnTo>
                  <a:pt x="858262" y="615923"/>
                </a:lnTo>
                <a:lnTo>
                  <a:pt x="868049" y="551795"/>
                </a:lnTo>
                <a:cubicBezTo>
                  <a:pt x="870675" y="525939"/>
                  <a:pt x="872020" y="499705"/>
                  <a:pt x="872020" y="473156"/>
                </a:cubicBezTo>
                <a:cubicBezTo>
                  <a:pt x="872020" y="313865"/>
                  <a:pt x="823596" y="165884"/>
                  <a:pt x="740665" y="43130"/>
                </a:cubicBezTo>
                <a:close/>
              </a:path>
            </a:pathLst>
          </a:custGeom>
          <a:solidFill>
            <a:schemeClr val="accent1">
              <a:lumMod val="40000"/>
              <a:lumOff val="6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22" name="Freeform: Shape 21">
            <a:extLst>
              <a:ext uri="{FF2B5EF4-FFF2-40B4-BE49-F238E27FC236}">
                <a16:creationId xmlns:a16="http://schemas.microsoft.com/office/drawing/2014/main" id="{F588B632-3FDB-C253-7D34-196B392131BF}"/>
              </a:ext>
            </a:extLst>
          </p:cNvPr>
          <p:cNvSpPr/>
          <p:nvPr/>
        </p:nvSpPr>
        <p:spPr>
          <a:xfrm>
            <a:off x="-6052551" y="-1959538"/>
            <a:ext cx="3205263" cy="1281876"/>
          </a:xfrm>
          <a:custGeom>
            <a:avLst/>
            <a:gdLst>
              <a:gd name="connsiteX0" fmla="*/ 0 w 3205263"/>
              <a:gd name="connsiteY0" fmla="*/ 0 h 1281876"/>
              <a:gd name="connsiteX1" fmla="*/ 3205263 w 3205263"/>
              <a:gd name="connsiteY1" fmla="*/ 0 h 1281876"/>
              <a:gd name="connsiteX2" fmla="*/ 3205263 w 3205263"/>
              <a:gd name="connsiteY2" fmla="*/ 1281876 h 1281876"/>
              <a:gd name="connsiteX3" fmla="*/ 0 w 3205263"/>
              <a:gd name="connsiteY3" fmla="*/ 1281876 h 1281876"/>
              <a:gd name="connsiteX4" fmla="*/ 0 w 3205263"/>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5263" h="1281876">
                <a:moveTo>
                  <a:pt x="0" y="0"/>
                </a:moveTo>
                <a:lnTo>
                  <a:pt x="3205263" y="0"/>
                </a:lnTo>
                <a:lnTo>
                  <a:pt x="3205263"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endParaRPr lang="en-US" sz="1200" kern="1200" dirty="0"/>
          </a:p>
        </p:txBody>
      </p:sp>
      <p:sp>
        <p:nvSpPr>
          <p:cNvPr id="20" name="Rectangle 3">
            <a:extLst>
              <a:ext uri="{FF2B5EF4-FFF2-40B4-BE49-F238E27FC236}">
                <a16:creationId xmlns:a16="http://schemas.microsoft.com/office/drawing/2014/main" id="{2F24DB3B-21AD-EDC4-73A0-691CF38C3E9B}"/>
              </a:ext>
            </a:extLst>
          </p:cNvPr>
          <p:cNvSpPr>
            <a:spLocks noChangeArrowheads="1"/>
          </p:cNvSpPr>
          <p:nvPr/>
        </p:nvSpPr>
        <p:spPr bwMode="auto">
          <a:xfrm>
            <a:off x="0" y="-253879"/>
            <a:ext cx="65" cy="507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14264"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ircle: Hollow 8">
            <a:extLst>
              <a:ext uri="{FF2B5EF4-FFF2-40B4-BE49-F238E27FC236}">
                <a16:creationId xmlns:a16="http://schemas.microsoft.com/office/drawing/2014/main" id="{9F2E053F-D1F6-42EF-A6E3-83E5F076E9DF}"/>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BDCFE4E8-4651-00A2-F9A4-82EC3FB35557}"/>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eeform 5">
            <a:extLst>
              <a:ext uri="{FF2B5EF4-FFF2-40B4-BE49-F238E27FC236}">
                <a16:creationId xmlns:a16="http://schemas.microsoft.com/office/drawing/2014/main" id="{26680424-4338-69FC-0B2D-25B44C9E5907}"/>
              </a:ext>
            </a:extLst>
          </p:cNvPr>
          <p:cNvSpPr/>
          <p:nvPr/>
        </p:nvSpPr>
        <p:spPr>
          <a:xfrm>
            <a:off x="21779647" y="4427572"/>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a:extLst>
              <a:ext uri="{FF2B5EF4-FFF2-40B4-BE49-F238E27FC236}">
                <a16:creationId xmlns:a16="http://schemas.microsoft.com/office/drawing/2014/main" id="{92E3BDB3-215B-3DD2-232B-E3EDC8EE7A9C}"/>
              </a:ext>
            </a:extLst>
          </p:cNvPr>
          <p:cNvSpPr/>
          <p:nvPr/>
        </p:nvSpPr>
        <p:spPr>
          <a:xfrm rot="10646367">
            <a:off x="13962651" y="12508603"/>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sp>
      <p:grpSp>
        <p:nvGrpSpPr>
          <p:cNvPr id="16" name="Group 15">
            <a:extLst>
              <a:ext uri="{FF2B5EF4-FFF2-40B4-BE49-F238E27FC236}">
                <a16:creationId xmlns:a16="http://schemas.microsoft.com/office/drawing/2014/main" id="{B18E0BD0-CB59-97D5-EA15-133BF3B837F6}"/>
              </a:ext>
            </a:extLst>
          </p:cNvPr>
          <p:cNvGrpSpPr/>
          <p:nvPr/>
        </p:nvGrpSpPr>
        <p:grpSpPr>
          <a:xfrm>
            <a:off x="11277600" y="1374122"/>
            <a:ext cx="6164461" cy="4224577"/>
            <a:chOff x="11277600" y="1374122"/>
            <a:chExt cx="6164461" cy="4224577"/>
          </a:xfrm>
        </p:grpSpPr>
        <p:pic>
          <p:nvPicPr>
            <p:cNvPr id="18" name="Picture 2" descr="Payroll Management System">
              <a:extLst>
                <a:ext uri="{FF2B5EF4-FFF2-40B4-BE49-F238E27FC236}">
                  <a16:creationId xmlns:a16="http://schemas.microsoft.com/office/drawing/2014/main" id="{7D75F4F5-BA96-BB59-B656-1DE4103077C1}"/>
                </a:ext>
              </a:extLst>
            </p:cNvPr>
            <p:cNvPicPr>
              <a:picLocks noChangeAspect="1" noChangeArrowheads="1"/>
            </p:cNvPicPr>
            <p:nvPr/>
          </p:nvPicPr>
          <p:blipFill>
            <a:blip r:embed="rId10" cstate="print">
              <a:extLst>
                <a:ext uri="{BEBA8EAE-BF5A-486C-A8C5-ECC9F3942E4B}">
                  <a14:imgProps xmlns:a14="http://schemas.microsoft.com/office/drawing/2010/main">
                    <a14:imgLayer r:embed="rId11">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1310937" y="1511283"/>
              <a:ext cx="6131124" cy="4087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21" name="Circle: Hollow 20">
              <a:extLst>
                <a:ext uri="{FF2B5EF4-FFF2-40B4-BE49-F238E27FC236}">
                  <a16:creationId xmlns:a16="http://schemas.microsoft.com/office/drawing/2014/main" id="{114F7A07-AB02-67B9-52A4-8BF132A9A4C2}"/>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Circle: Hollow 22">
              <a:extLst>
                <a:ext uri="{FF2B5EF4-FFF2-40B4-BE49-F238E27FC236}">
                  <a16:creationId xmlns:a16="http://schemas.microsoft.com/office/drawing/2014/main" id="{88BE4914-2498-F955-8017-79B048B0062B}"/>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4" name="Group 23">
            <a:extLst>
              <a:ext uri="{FF2B5EF4-FFF2-40B4-BE49-F238E27FC236}">
                <a16:creationId xmlns:a16="http://schemas.microsoft.com/office/drawing/2014/main" id="{A85F1FE5-5E35-5E23-9B56-891132F21BB7}"/>
              </a:ext>
            </a:extLst>
          </p:cNvPr>
          <p:cNvGrpSpPr/>
          <p:nvPr/>
        </p:nvGrpSpPr>
        <p:grpSpPr>
          <a:xfrm>
            <a:off x="1469683" y="1303328"/>
            <a:ext cx="11331916" cy="1124886"/>
            <a:chOff x="1469683" y="1303328"/>
            <a:chExt cx="11331916" cy="1124886"/>
          </a:xfrm>
        </p:grpSpPr>
        <p:sp>
          <p:nvSpPr>
            <p:cNvPr id="25" name="Freeform 7">
              <a:extLst>
                <a:ext uri="{FF2B5EF4-FFF2-40B4-BE49-F238E27FC236}">
                  <a16:creationId xmlns:a16="http://schemas.microsoft.com/office/drawing/2014/main" id="{CAAFCC01-10F9-73CE-EB9E-4095C26BF17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2" cstate="print">
                <a:extLst>
                  <a:ext uri="{28A0092B-C50C-407E-A947-70E740481C1C}">
                    <a14:useLocalDpi xmlns:a14="http://schemas.microsoft.com/office/drawing/2010/main" val="0"/>
                  </a:ext>
                </a:extLst>
              </a:blip>
              <a:stretch>
                <a:fillRect/>
              </a:stretch>
            </a:blipFill>
          </p:spPr>
        </p:sp>
        <p:sp>
          <p:nvSpPr>
            <p:cNvPr id="26" name="TextBox 10">
              <a:extLst>
                <a:ext uri="{FF2B5EF4-FFF2-40B4-BE49-F238E27FC236}">
                  <a16:creationId xmlns:a16="http://schemas.microsoft.com/office/drawing/2014/main" id="{C08D41F9-DBDF-2693-580F-EE8D6F790DC3}"/>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7" name="Freeform 3">
              <a:extLst>
                <a:ext uri="{FF2B5EF4-FFF2-40B4-BE49-F238E27FC236}">
                  <a16:creationId xmlns:a16="http://schemas.microsoft.com/office/drawing/2014/main" id="{AF68821A-BC44-C745-9C03-15BAB916ECFF}"/>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3"/>
              <a:stretch>
                <a:fillRect/>
              </a:stretch>
            </a:blipFill>
          </p:spPr>
        </p:sp>
      </p:grpSp>
      <p:sp>
        <p:nvSpPr>
          <p:cNvPr id="7" name="TextBox 6">
            <a:extLst>
              <a:ext uri="{FF2B5EF4-FFF2-40B4-BE49-F238E27FC236}">
                <a16:creationId xmlns:a16="http://schemas.microsoft.com/office/drawing/2014/main" id="{0FE1AB57-195E-71F9-3934-72EC2B95B9E3}"/>
              </a:ext>
            </a:extLst>
          </p:cNvPr>
          <p:cNvSpPr txBox="1"/>
          <p:nvPr/>
        </p:nvSpPr>
        <p:spPr>
          <a:xfrm>
            <a:off x="-6052551" y="-1219877"/>
            <a:ext cx="4071351" cy="754822"/>
          </a:xfrm>
          <a:prstGeom prst="rect">
            <a:avLst/>
          </a:prstGeom>
          <a:noFill/>
        </p:spPr>
        <p:txBody>
          <a:bodyPr wrap="square">
            <a:spAutoFit/>
          </a:bodyPr>
          <a:lstStyle/>
          <a:p>
            <a:pPr lvl="0" defTabSz="711200">
              <a:lnSpc>
                <a:spcPct val="90000"/>
              </a:lnSpc>
              <a:spcBef>
                <a:spcPct val="0"/>
              </a:spcBef>
              <a:spcAft>
                <a:spcPct val="35000"/>
              </a:spcAft>
            </a:pPr>
            <a:r>
              <a:rPr lang="en-US" sz="1400" dirty="0">
                <a:solidFill>
                  <a:srgbClr val="000000"/>
                </a:solidFill>
                <a:latin typeface="Sukar"/>
                <a:cs typeface="Sukar"/>
              </a:rPr>
              <a:t>06. Conclusion &amp; Demonstration</a:t>
            </a:r>
          </a:p>
          <a:p>
            <a:pPr marL="114300" lvl="1" indent="-114300" defTabSz="533400">
              <a:lnSpc>
                <a:spcPct val="90000"/>
              </a:lnSpc>
              <a:spcBef>
                <a:spcPct val="0"/>
              </a:spcBef>
              <a:spcAft>
                <a:spcPct val="15000"/>
              </a:spcAft>
              <a:buChar char="•"/>
            </a:pPr>
            <a:r>
              <a:rPr lang="en-US" sz="1400" dirty="0">
                <a:solidFill>
                  <a:srgbClr val="000000"/>
                </a:solidFill>
                <a:latin typeface="Sukar"/>
                <a:cs typeface="Sukar"/>
              </a:rPr>
              <a:t>Summary of achievements, learning outcomes, and future upgrades.</a:t>
            </a:r>
          </a:p>
        </p:txBody>
      </p:sp>
    </p:spTree>
    <p:extLst>
      <p:ext uri="{BB962C8B-B14F-4D97-AF65-F5344CB8AC3E}">
        <p14:creationId xmlns:p14="http://schemas.microsoft.com/office/powerpoint/2010/main" val="996447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 name="Freeform 2">
            <a:extLst>
              <a:ext uri="{FF2B5EF4-FFF2-40B4-BE49-F238E27FC236}">
                <a16:creationId xmlns:a16="http://schemas.microsoft.com/office/drawing/2014/main" id="{AD8B1C85-D387-19A3-A98D-283EACA357A1}"/>
              </a:ext>
            </a:extLst>
          </p:cNvPr>
          <p:cNvSpPr/>
          <p:nvPr/>
        </p:nvSpPr>
        <p:spPr>
          <a:xfrm>
            <a:off x="23653"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4" name="Freeform 4"/>
          <p:cNvSpPr/>
          <p:nvPr/>
        </p:nvSpPr>
        <p:spPr>
          <a:xfrm flipV="1">
            <a:off x="-2425805" y="8660399"/>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390340" y="2522225"/>
            <a:ext cx="7224562" cy="1265646"/>
          </a:xfrm>
          <a:prstGeom prst="rect">
            <a:avLst/>
          </a:prstGeom>
        </p:spPr>
        <p:txBody>
          <a:bodyPr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Table Of Content</a:t>
            </a:r>
          </a:p>
        </p:txBody>
      </p:sp>
      <p:sp>
        <p:nvSpPr>
          <p:cNvPr id="11" name="Freeform: Shape 10">
            <a:extLst>
              <a:ext uri="{FF2B5EF4-FFF2-40B4-BE49-F238E27FC236}">
                <a16:creationId xmlns:a16="http://schemas.microsoft.com/office/drawing/2014/main" id="{80C65410-9B7A-AE2C-8289-D30A737BDED2}"/>
              </a:ext>
            </a:extLst>
          </p:cNvPr>
          <p:cNvSpPr/>
          <p:nvPr/>
        </p:nvSpPr>
        <p:spPr>
          <a:xfrm>
            <a:off x="6284551" y="3787872"/>
            <a:ext cx="2999090" cy="1047447"/>
          </a:xfrm>
          <a:custGeom>
            <a:avLst/>
            <a:gdLst>
              <a:gd name="connsiteX0" fmla="*/ 0 w 2999090"/>
              <a:gd name="connsiteY0" fmla="*/ 0 h 1047447"/>
              <a:gd name="connsiteX1" fmla="*/ 2999090 w 2999090"/>
              <a:gd name="connsiteY1" fmla="*/ 0 h 1047447"/>
              <a:gd name="connsiteX2" fmla="*/ 2999090 w 2999090"/>
              <a:gd name="connsiteY2" fmla="*/ 1047447 h 1047447"/>
              <a:gd name="connsiteX3" fmla="*/ 0 w 2999090"/>
              <a:gd name="connsiteY3" fmla="*/ 1047447 h 1047447"/>
              <a:gd name="connsiteX4" fmla="*/ 0 w 2999090"/>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9090" h="1047447">
                <a:moveTo>
                  <a:pt x="0" y="0"/>
                </a:moveTo>
                <a:lnTo>
                  <a:pt x="2999090" y="0"/>
                </a:lnTo>
                <a:lnTo>
                  <a:pt x="2999090"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01. Introduction &amp; Purpose</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Real-World importance and objectives of a Payroll Management </a:t>
            </a:r>
          </a:p>
        </p:txBody>
      </p:sp>
      <p:sp>
        <p:nvSpPr>
          <p:cNvPr id="13" name="Freeform: Shape 12">
            <a:extLst>
              <a:ext uri="{FF2B5EF4-FFF2-40B4-BE49-F238E27FC236}">
                <a16:creationId xmlns:a16="http://schemas.microsoft.com/office/drawing/2014/main" id="{C589C398-4B67-851D-3CA4-E58FB095A351}"/>
              </a:ext>
            </a:extLst>
          </p:cNvPr>
          <p:cNvSpPr/>
          <p:nvPr/>
        </p:nvSpPr>
        <p:spPr>
          <a:xfrm>
            <a:off x="9089332" y="4785441"/>
            <a:ext cx="2188268" cy="1147204"/>
          </a:xfrm>
          <a:custGeom>
            <a:avLst/>
            <a:gdLst>
              <a:gd name="connsiteX0" fmla="*/ 0 w 1822187"/>
              <a:gd name="connsiteY0" fmla="*/ 0 h 1147204"/>
              <a:gd name="connsiteX1" fmla="*/ 1822187 w 1822187"/>
              <a:gd name="connsiteY1" fmla="*/ 0 h 1147204"/>
              <a:gd name="connsiteX2" fmla="*/ 1822187 w 1822187"/>
              <a:gd name="connsiteY2" fmla="*/ 1147204 h 1147204"/>
              <a:gd name="connsiteX3" fmla="*/ 0 w 1822187"/>
              <a:gd name="connsiteY3" fmla="*/ 1147204 h 1147204"/>
              <a:gd name="connsiteX4" fmla="*/ 0 w 1822187"/>
              <a:gd name="connsiteY4" fmla="*/ 0 h 1147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147204">
                <a:moveTo>
                  <a:pt x="0" y="0"/>
                </a:moveTo>
                <a:lnTo>
                  <a:pt x="1822187" y="0"/>
                </a:lnTo>
                <a:lnTo>
                  <a:pt x="1822187" y="1147204"/>
                </a:lnTo>
                <a:lnTo>
                  <a:pt x="0" y="1147204"/>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02. Core System Features</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Employee management, attendance tracking, and search functions.</a:t>
            </a:r>
          </a:p>
        </p:txBody>
      </p:sp>
      <p:sp>
        <p:nvSpPr>
          <p:cNvPr id="15" name="Freeform: Shape 14">
            <a:extLst>
              <a:ext uri="{FF2B5EF4-FFF2-40B4-BE49-F238E27FC236}">
                <a16:creationId xmlns:a16="http://schemas.microsoft.com/office/drawing/2014/main" id="{6155FF1C-2B99-831C-EF0C-5C83617880A6}"/>
              </a:ext>
            </a:extLst>
          </p:cNvPr>
          <p:cNvSpPr/>
          <p:nvPr/>
        </p:nvSpPr>
        <p:spPr>
          <a:xfrm>
            <a:off x="9166600" y="6496272"/>
            <a:ext cx="2796800"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03. Technical Implementation</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Programming Language environment and key C++ Modules.</a:t>
            </a:r>
          </a:p>
        </p:txBody>
      </p:sp>
      <p:sp>
        <p:nvSpPr>
          <p:cNvPr id="17" name="Freeform: Shape 16">
            <a:extLst>
              <a:ext uri="{FF2B5EF4-FFF2-40B4-BE49-F238E27FC236}">
                <a16:creationId xmlns:a16="http://schemas.microsoft.com/office/drawing/2014/main" id="{1B4A1621-FABE-0C94-EBB9-09A1CE63F79E}"/>
              </a:ext>
            </a:extLst>
          </p:cNvPr>
          <p:cNvSpPr/>
          <p:nvPr/>
        </p:nvSpPr>
        <p:spPr>
          <a:xfrm>
            <a:off x="6822688" y="7728270"/>
            <a:ext cx="2168911" cy="1047447"/>
          </a:xfrm>
          <a:custGeom>
            <a:avLst/>
            <a:gdLst>
              <a:gd name="connsiteX0" fmla="*/ 0 w 1922814"/>
              <a:gd name="connsiteY0" fmla="*/ 0 h 1047447"/>
              <a:gd name="connsiteX1" fmla="*/ 1922814 w 1922814"/>
              <a:gd name="connsiteY1" fmla="*/ 0 h 1047447"/>
              <a:gd name="connsiteX2" fmla="*/ 1922814 w 1922814"/>
              <a:gd name="connsiteY2" fmla="*/ 1047447 h 1047447"/>
              <a:gd name="connsiteX3" fmla="*/ 0 w 1922814"/>
              <a:gd name="connsiteY3" fmla="*/ 1047447 h 1047447"/>
              <a:gd name="connsiteX4" fmla="*/ 0 w 1922814"/>
              <a:gd name="connsiteY4" fmla="*/ 0 h 1047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2814" h="1047447">
                <a:moveTo>
                  <a:pt x="0" y="0"/>
                </a:moveTo>
                <a:lnTo>
                  <a:pt x="1922814" y="0"/>
                </a:lnTo>
                <a:lnTo>
                  <a:pt x="1922814" y="1047447"/>
                </a:lnTo>
                <a:lnTo>
                  <a:pt x="0" y="104744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04. Data Structure &amp; Logic</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Doubly Linked Lists, CSV File handling, and algorithms.</a:t>
            </a:r>
          </a:p>
        </p:txBody>
      </p:sp>
      <p:sp>
        <p:nvSpPr>
          <p:cNvPr id="19" name="Freeform: Shape 18">
            <a:extLst>
              <a:ext uri="{FF2B5EF4-FFF2-40B4-BE49-F238E27FC236}">
                <a16:creationId xmlns:a16="http://schemas.microsoft.com/office/drawing/2014/main" id="{31A1D6D0-F5CB-4482-8851-D9EA5FAF17FF}"/>
              </a:ext>
            </a:extLst>
          </p:cNvPr>
          <p:cNvSpPr/>
          <p:nvPr/>
        </p:nvSpPr>
        <p:spPr>
          <a:xfrm>
            <a:off x="4038600" y="6496272"/>
            <a:ext cx="2362993" cy="1281876"/>
          </a:xfrm>
          <a:custGeom>
            <a:avLst/>
            <a:gdLst>
              <a:gd name="connsiteX0" fmla="*/ 0 w 1822187"/>
              <a:gd name="connsiteY0" fmla="*/ 0 h 1281876"/>
              <a:gd name="connsiteX1" fmla="*/ 1822187 w 1822187"/>
              <a:gd name="connsiteY1" fmla="*/ 0 h 1281876"/>
              <a:gd name="connsiteX2" fmla="*/ 1822187 w 1822187"/>
              <a:gd name="connsiteY2" fmla="*/ 1281876 h 1281876"/>
              <a:gd name="connsiteX3" fmla="*/ 0 w 1822187"/>
              <a:gd name="connsiteY3" fmla="*/ 1281876 h 1281876"/>
              <a:gd name="connsiteX4" fmla="*/ 0 w 1822187"/>
              <a:gd name="connsiteY4" fmla="*/ 0 h 1281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2187" h="1281876">
                <a:moveTo>
                  <a:pt x="0" y="0"/>
                </a:moveTo>
                <a:lnTo>
                  <a:pt x="1822187" y="0"/>
                </a:lnTo>
                <a:lnTo>
                  <a:pt x="1822187" y="1281876"/>
                </a:lnTo>
                <a:lnTo>
                  <a:pt x="0" y="128187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1">
            <a:noAutofit/>
          </a:bodyPr>
          <a:lstStyle/>
          <a:p>
            <a:pPr marL="0" lvl="0" indent="0" algn="l" defTabSz="711200">
              <a:lnSpc>
                <a:spcPct val="90000"/>
              </a:lnSpc>
              <a:spcBef>
                <a:spcPct val="0"/>
              </a:spcBef>
              <a:spcAft>
                <a:spcPct val="35000"/>
              </a:spcAft>
              <a:buNone/>
            </a:pPr>
            <a:r>
              <a:rPr lang="en-US" sz="1400" b="1" dirty="0">
                <a:solidFill>
                  <a:srgbClr val="000000"/>
                </a:solidFill>
                <a:latin typeface="Sukar"/>
                <a:cs typeface="Sukar"/>
              </a:rPr>
              <a:t>05. System result</a:t>
            </a:r>
          </a:p>
          <a:p>
            <a:pPr marL="114300" lvl="1" indent="-114300" algn="l" defTabSz="533400">
              <a:lnSpc>
                <a:spcPct val="90000"/>
              </a:lnSpc>
              <a:spcBef>
                <a:spcPct val="0"/>
              </a:spcBef>
              <a:spcAft>
                <a:spcPct val="15000"/>
              </a:spcAft>
              <a:buChar char="•"/>
            </a:pPr>
            <a:r>
              <a:rPr lang="en-US" sz="1400" b="1" dirty="0">
                <a:solidFill>
                  <a:srgbClr val="000000"/>
                </a:solidFill>
                <a:latin typeface="Sukar"/>
                <a:cs typeface="Sukar"/>
              </a:rPr>
              <a:t>Output Validation, test cases and tax report verification.</a:t>
            </a:r>
          </a:p>
        </p:txBody>
      </p:sp>
      <p:sp>
        <p:nvSpPr>
          <p:cNvPr id="1054" name="Freeform: Shape 1053">
            <a:extLst>
              <a:ext uri="{FF2B5EF4-FFF2-40B4-BE49-F238E27FC236}">
                <a16:creationId xmlns:a16="http://schemas.microsoft.com/office/drawing/2014/main" id="{5E7CE748-93B2-2C3C-86C0-C064002D64D7}"/>
              </a:ext>
            </a:extLst>
          </p:cNvPr>
          <p:cNvSpPr/>
          <p:nvPr/>
        </p:nvSpPr>
        <p:spPr>
          <a:xfrm>
            <a:off x="6515679" y="5800965"/>
            <a:ext cx="1371782" cy="1530508"/>
          </a:xfrm>
          <a:custGeom>
            <a:avLst/>
            <a:gdLst>
              <a:gd name="connsiteX0" fmla="*/ 769126 w 1371782"/>
              <a:gd name="connsiteY0" fmla="*/ 0 h 1530508"/>
              <a:gd name="connsiteX1" fmla="*/ 924132 w 1371782"/>
              <a:gd name="connsiteY1" fmla="*/ 15626 h 1530508"/>
              <a:gd name="connsiteX2" fmla="*/ 1013325 w 1371782"/>
              <a:gd name="connsiteY2" fmla="*/ 43313 h 1530508"/>
              <a:gd name="connsiteX3" fmla="*/ 1068505 w 1371782"/>
              <a:gd name="connsiteY3" fmla="*/ 60442 h 1530508"/>
              <a:gd name="connsiteX4" fmla="*/ 1199152 w 1371782"/>
              <a:gd name="connsiteY4" fmla="*/ 131355 h 1530508"/>
              <a:gd name="connsiteX5" fmla="*/ 1268417 w 1371782"/>
              <a:gd name="connsiteY5" fmla="*/ 188504 h 1530508"/>
              <a:gd name="connsiteX6" fmla="*/ 1312980 w 1371782"/>
              <a:gd name="connsiteY6" fmla="*/ 225272 h 1530508"/>
              <a:gd name="connsiteX7" fmla="*/ 1371782 w 1371782"/>
              <a:gd name="connsiteY7" fmla="*/ 296541 h 1530508"/>
              <a:gd name="connsiteX8" fmla="*/ 1347056 w 1371782"/>
              <a:gd name="connsiteY8" fmla="*/ 292767 h 1530508"/>
              <a:gd name="connsiteX9" fmla="*/ 1268417 w 1371782"/>
              <a:gd name="connsiteY9" fmla="*/ 288796 h 1530508"/>
              <a:gd name="connsiteX10" fmla="*/ 1189778 w 1371782"/>
              <a:gd name="connsiteY10" fmla="*/ 292767 h 1530508"/>
              <a:gd name="connsiteX11" fmla="*/ 1165052 w 1371782"/>
              <a:gd name="connsiteY11" fmla="*/ 296541 h 1530508"/>
              <a:gd name="connsiteX12" fmla="*/ 1113411 w 1371782"/>
              <a:gd name="connsiteY12" fmla="*/ 304422 h 1530508"/>
              <a:gd name="connsiteX13" fmla="*/ 1012413 w 1371782"/>
              <a:gd name="connsiteY13" fmla="*/ 335774 h 1530508"/>
              <a:gd name="connsiteX14" fmla="*/ 969038 w 1371782"/>
              <a:gd name="connsiteY14" fmla="*/ 349238 h 1530508"/>
              <a:gd name="connsiteX15" fmla="*/ 838391 w 1371782"/>
              <a:gd name="connsiteY15" fmla="*/ 420151 h 1530508"/>
              <a:gd name="connsiteX16" fmla="*/ 764547 w 1371782"/>
              <a:gd name="connsiteY16" fmla="*/ 481078 h 1530508"/>
              <a:gd name="connsiteX17" fmla="*/ 724563 w 1371782"/>
              <a:gd name="connsiteY17" fmla="*/ 514068 h 1530508"/>
              <a:gd name="connsiteX18" fmla="*/ 514917 w 1371782"/>
              <a:gd name="connsiteY18" fmla="*/ 902916 h 1530508"/>
              <a:gd name="connsiteX19" fmla="*/ 513122 w 1371782"/>
              <a:gd name="connsiteY19" fmla="*/ 914680 h 1530508"/>
              <a:gd name="connsiteX20" fmla="*/ 503262 w 1371782"/>
              <a:gd name="connsiteY20" fmla="*/ 979283 h 1530508"/>
              <a:gd name="connsiteX21" fmla="*/ 499291 w 1371782"/>
              <a:gd name="connsiteY21" fmla="*/ 1057922 h 1530508"/>
              <a:gd name="connsiteX22" fmla="*/ 630646 w 1371782"/>
              <a:gd name="connsiteY22" fmla="*/ 1487948 h 1530508"/>
              <a:gd name="connsiteX23" fmla="*/ 665761 w 1371782"/>
              <a:gd name="connsiteY23" fmla="*/ 1530508 h 1530508"/>
              <a:gd name="connsiteX24" fmla="*/ 614120 w 1371782"/>
              <a:gd name="connsiteY24" fmla="*/ 1522626 h 1530508"/>
              <a:gd name="connsiteX25" fmla="*/ 0 w 1371782"/>
              <a:gd name="connsiteY25" fmla="*/ 769126 h 1530508"/>
              <a:gd name="connsiteX26" fmla="*/ 15626 w 1371782"/>
              <a:gd name="connsiteY26" fmla="*/ 614120 h 1530508"/>
              <a:gd name="connsiteX27" fmla="*/ 57002 w 1371782"/>
              <a:gd name="connsiteY27" fmla="*/ 480829 h 1530508"/>
              <a:gd name="connsiteX28" fmla="*/ 60442 w 1371782"/>
              <a:gd name="connsiteY28" fmla="*/ 469747 h 1530508"/>
              <a:gd name="connsiteX29" fmla="*/ 469747 w 1371782"/>
              <a:gd name="connsiteY29" fmla="*/ 60442 h 1530508"/>
              <a:gd name="connsiteX30" fmla="*/ 513049 w 1371782"/>
              <a:gd name="connsiteY30" fmla="*/ 47001 h 1530508"/>
              <a:gd name="connsiteX31" fmla="*/ 614120 w 1371782"/>
              <a:gd name="connsiteY31" fmla="*/ 15626 h 1530508"/>
              <a:gd name="connsiteX32" fmla="*/ 769126 w 1371782"/>
              <a:gd name="connsiteY32" fmla="*/ 0 h 153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782" h="1530508">
                <a:moveTo>
                  <a:pt x="769126" y="0"/>
                </a:moveTo>
                <a:cubicBezTo>
                  <a:pt x="822223" y="0"/>
                  <a:pt x="874064" y="5381"/>
                  <a:pt x="924132" y="15626"/>
                </a:cubicBezTo>
                <a:lnTo>
                  <a:pt x="1013325" y="43313"/>
                </a:lnTo>
                <a:lnTo>
                  <a:pt x="1068505" y="60442"/>
                </a:lnTo>
                <a:cubicBezTo>
                  <a:pt x="1114513" y="79902"/>
                  <a:pt x="1158234" y="103711"/>
                  <a:pt x="1199152" y="131355"/>
                </a:cubicBezTo>
                <a:lnTo>
                  <a:pt x="1268417" y="188504"/>
                </a:lnTo>
                <a:lnTo>
                  <a:pt x="1312980" y="225272"/>
                </a:lnTo>
                <a:lnTo>
                  <a:pt x="1371782" y="296541"/>
                </a:lnTo>
                <a:lnTo>
                  <a:pt x="1347056" y="292767"/>
                </a:lnTo>
                <a:cubicBezTo>
                  <a:pt x="1321200" y="290141"/>
                  <a:pt x="1294966" y="288796"/>
                  <a:pt x="1268417" y="288796"/>
                </a:cubicBezTo>
                <a:cubicBezTo>
                  <a:pt x="1241869" y="288796"/>
                  <a:pt x="1215634" y="290141"/>
                  <a:pt x="1189778" y="292767"/>
                </a:cubicBezTo>
                <a:lnTo>
                  <a:pt x="1165052" y="296541"/>
                </a:lnTo>
                <a:lnTo>
                  <a:pt x="1113411" y="304422"/>
                </a:lnTo>
                <a:lnTo>
                  <a:pt x="1012413" y="335774"/>
                </a:lnTo>
                <a:lnTo>
                  <a:pt x="969038" y="349238"/>
                </a:lnTo>
                <a:cubicBezTo>
                  <a:pt x="923030" y="368698"/>
                  <a:pt x="879309" y="392507"/>
                  <a:pt x="838391" y="420151"/>
                </a:cubicBezTo>
                <a:lnTo>
                  <a:pt x="764547" y="481078"/>
                </a:lnTo>
                <a:lnTo>
                  <a:pt x="724563" y="514068"/>
                </a:lnTo>
                <a:cubicBezTo>
                  <a:pt x="620175" y="618456"/>
                  <a:pt x="545653" y="752712"/>
                  <a:pt x="514917" y="902916"/>
                </a:cubicBezTo>
                <a:lnTo>
                  <a:pt x="513122" y="914680"/>
                </a:lnTo>
                <a:lnTo>
                  <a:pt x="503262" y="979283"/>
                </a:lnTo>
                <a:cubicBezTo>
                  <a:pt x="500636" y="1005139"/>
                  <a:pt x="499291" y="1031374"/>
                  <a:pt x="499291" y="1057922"/>
                </a:cubicBezTo>
                <a:cubicBezTo>
                  <a:pt x="499291" y="1217214"/>
                  <a:pt x="547715" y="1365195"/>
                  <a:pt x="630646" y="1487948"/>
                </a:cubicBezTo>
                <a:lnTo>
                  <a:pt x="665761" y="1530508"/>
                </a:lnTo>
                <a:lnTo>
                  <a:pt x="614120" y="1522626"/>
                </a:lnTo>
                <a:cubicBezTo>
                  <a:pt x="263642" y="1450908"/>
                  <a:pt x="0" y="1140806"/>
                  <a:pt x="0" y="769126"/>
                </a:cubicBezTo>
                <a:cubicBezTo>
                  <a:pt x="0" y="716029"/>
                  <a:pt x="5381" y="664189"/>
                  <a:pt x="15626" y="614120"/>
                </a:cubicBezTo>
                <a:lnTo>
                  <a:pt x="57002" y="480829"/>
                </a:lnTo>
                <a:lnTo>
                  <a:pt x="60442" y="469747"/>
                </a:lnTo>
                <a:cubicBezTo>
                  <a:pt x="138282" y="285714"/>
                  <a:pt x="285714" y="138282"/>
                  <a:pt x="469747" y="60442"/>
                </a:cubicBezTo>
                <a:lnTo>
                  <a:pt x="513049" y="47001"/>
                </a:lnTo>
                <a:lnTo>
                  <a:pt x="614120" y="15626"/>
                </a:lnTo>
                <a:cubicBezTo>
                  <a:pt x="664189" y="5381"/>
                  <a:pt x="716029" y="0"/>
                  <a:pt x="769126" y="0"/>
                </a:cubicBezTo>
                <a:close/>
              </a:path>
            </a:pathLst>
          </a:custGeom>
          <a:solidFill>
            <a:schemeClr val="accent1">
              <a:lumMod val="75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5" name="Freeform: Shape 1054">
            <a:extLst>
              <a:ext uri="{FF2B5EF4-FFF2-40B4-BE49-F238E27FC236}">
                <a16:creationId xmlns:a16="http://schemas.microsoft.com/office/drawing/2014/main" id="{10DF3583-8AC0-C727-27DF-D8A64C65A952}"/>
              </a:ext>
            </a:extLst>
          </p:cNvPr>
          <p:cNvSpPr/>
          <p:nvPr/>
        </p:nvSpPr>
        <p:spPr>
          <a:xfrm>
            <a:off x="7014969" y="6097507"/>
            <a:ext cx="1371782" cy="1530507"/>
          </a:xfrm>
          <a:custGeom>
            <a:avLst/>
            <a:gdLst>
              <a:gd name="connsiteX0" fmla="*/ 665761 w 1371782"/>
              <a:gd name="connsiteY0" fmla="*/ 0 h 1530507"/>
              <a:gd name="connsiteX1" fmla="*/ 630646 w 1371782"/>
              <a:gd name="connsiteY1" fmla="*/ 42559 h 1530507"/>
              <a:gd name="connsiteX2" fmla="*/ 559733 w 1371782"/>
              <a:gd name="connsiteY2" fmla="*/ 173206 h 1530507"/>
              <a:gd name="connsiteX3" fmla="*/ 556293 w 1371782"/>
              <a:gd name="connsiteY3" fmla="*/ 184288 h 1530507"/>
              <a:gd name="connsiteX4" fmla="*/ 514917 w 1371782"/>
              <a:gd name="connsiteY4" fmla="*/ 317579 h 1530507"/>
              <a:gd name="connsiteX5" fmla="*/ 513049 w 1371782"/>
              <a:gd name="connsiteY5" fmla="*/ 329819 h 1530507"/>
              <a:gd name="connsiteX6" fmla="*/ 503262 w 1371782"/>
              <a:gd name="connsiteY6" fmla="*/ 393946 h 1530507"/>
              <a:gd name="connsiteX7" fmla="*/ 499291 w 1371782"/>
              <a:gd name="connsiteY7" fmla="*/ 472585 h 1530507"/>
              <a:gd name="connsiteX8" fmla="*/ 503262 w 1371782"/>
              <a:gd name="connsiteY8" fmla="*/ 551224 h 1530507"/>
              <a:gd name="connsiteX9" fmla="*/ 514034 w 1371782"/>
              <a:gd name="connsiteY9" fmla="*/ 621803 h 1530507"/>
              <a:gd name="connsiteX10" fmla="*/ 514917 w 1371782"/>
              <a:gd name="connsiteY10" fmla="*/ 627591 h 1530507"/>
              <a:gd name="connsiteX11" fmla="*/ 724563 w 1371782"/>
              <a:gd name="connsiteY11" fmla="*/ 1016439 h 1530507"/>
              <a:gd name="connsiteX12" fmla="*/ 769126 w 1371782"/>
              <a:gd name="connsiteY12" fmla="*/ 1053207 h 1530507"/>
              <a:gd name="connsiteX13" fmla="*/ 838391 w 1371782"/>
              <a:gd name="connsiteY13" fmla="*/ 1110356 h 1530507"/>
              <a:gd name="connsiteX14" fmla="*/ 1268417 w 1371782"/>
              <a:gd name="connsiteY14" fmla="*/ 1241711 h 1530507"/>
              <a:gd name="connsiteX15" fmla="*/ 1347056 w 1371782"/>
              <a:gd name="connsiteY15" fmla="*/ 1237740 h 1530507"/>
              <a:gd name="connsiteX16" fmla="*/ 1371782 w 1371782"/>
              <a:gd name="connsiteY16" fmla="*/ 1233967 h 1530507"/>
              <a:gd name="connsiteX17" fmla="*/ 1312980 w 1371782"/>
              <a:gd name="connsiteY17" fmla="*/ 1305235 h 1530507"/>
              <a:gd name="connsiteX18" fmla="*/ 769126 w 1371782"/>
              <a:gd name="connsiteY18" fmla="*/ 1530507 h 1530507"/>
              <a:gd name="connsiteX19" fmla="*/ 225272 w 1371782"/>
              <a:gd name="connsiteY19" fmla="*/ 1305235 h 1530507"/>
              <a:gd name="connsiteX20" fmla="*/ 166470 w 1371782"/>
              <a:gd name="connsiteY20" fmla="*/ 1233967 h 1530507"/>
              <a:gd name="connsiteX21" fmla="*/ 131355 w 1371782"/>
              <a:gd name="connsiteY21" fmla="*/ 1191407 h 1530507"/>
              <a:gd name="connsiteX22" fmla="*/ 0 w 1371782"/>
              <a:gd name="connsiteY22" fmla="*/ 761381 h 1530507"/>
              <a:gd name="connsiteX23" fmla="*/ 3971 w 1371782"/>
              <a:gd name="connsiteY23" fmla="*/ 682742 h 1530507"/>
              <a:gd name="connsiteX24" fmla="*/ 13831 w 1371782"/>
              <a:gd name="connsiteY24" fmla="*/ 618139 h 1530507"/>
              <a:gd name="connsiteX25" fmla="*/ 15626 w 1371782"/>
              <a:gd name="connsiteY25" fmla="*/ 606375 h 1530507"/>
              <a:gd name="connsiteX26" fmla="*/ 225272 w 1371782"/>
              <a:gd name="connsiteY26" fmla="*/ 217527 h 1530507"/>
              <a:gd name="connsiteX27" fmla="*/ 265256 w 1371782"/>
              <a:gd name="connsiteY27" fmla="*/ 184537 h 1530507"/>
              <a:gd name="connsiteX28" fmla="*/ 339100 w 1371782"/>
              <a:gd name="connsiteY28" fmla="*/ 123610 h 1530507"/>
              <a:gd name="connsiteX29" fmla="*/ 469747 w 1371782"/>
              <a:gd name="connsiteY29" fmla="*/ 52697 h 1530507"/>
              <a:gd name="connsiteX30" fmla="*/ 513122 w 1371782"/>
              <a:gd name="connsiteY30" fmla="*/ 39233 h 1530507"/>
              <a:gd name="connsiteX31" fmla="*/ 614120 w 1371782"/>
              <a:gd name="connsiteY31" fmla="*/ 7881 h 153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782" h="1530507">
                <a:moveTo>
                  <a:pt x="665761" y="0"/>
                </a:moveTo>
                <a:lnTo>
                  <a:pt x="630646" y="42559"/>
                </a:lnTo>
                <a:cubicBezTo>
                  <a:pt x="603002" y="83477"/>
                  <a:pt x="579193" y="127198"/>
                  <a:pt x="559733" y="173206"/>
                </a:cubicBezTo>
                <a:lnTo>
                  <a:pt x="556293" y="184288"/>
                </a:lnTo>
                <a:lnTo>
                  <a:pt x="514917" y="317579"/>
                </a:lnTo>
                <a:lnTo>
                  <a:pt x="513049" y="329819"/>
                </a:lnTo>
                <a:lnTo>
                  <a:pt x="503262" y="393946"/>
                </a:lnTo>
                <a:cubicBezTo>
                  <a:pt x="500636" y="419802"/>
                  <a:pt x="499291" y="446037"/>
                  <a:pt x="499291" y="472585"/>
                </a:cubicBezTo>
                <a:cubicBezTo>
                  <a:pt x="499291" y="499134"/>
                  <a:pt x="500636" y="525368"/>
                  <a:pt x="503262" y="551224"/>
                </a:cubicBezTo>
                <a:lnTo>
                  <a:pt x="514034" y="621803"/>
                </a:lnTo>
                <a:lnTo>
                  <a:pt x="514917" y="627591"/>
                </a:lnTo>
                <a:cubicBezTo>
                  <a:pt x="545653" y="777796"/>
                  <a:pt x="620175" y="912051"/>
                  <a:pt x="724563" y="1016439"/>
                </a:cubicBezTo>
                <a:lnTo>
                  <a:pt x="769126" y="1053207"/>
                </a:lnTo>
                <a:lnTo>
                  <a:pt x="838391" y="1110356"/>
                </a:lnTo>
                <a:cubicBezTo>
                  <a:pt x="961145" y="1193287"/>
                  <a:pt x="1109126" y="1241711"/>
                  <a:pt x="1268417" y="1241711"/>
                </a:cubicBezTo>
                <a:cubicBezTo>
                  <a:pt x="1294966" y="1241711"/>
                  <a:pt x="1321200" y="1240366"/>
                  <a:pt x="1347056" y="1237740"/>
                </a:cubicBezTo>
                <a:lnTo>
                  <a:pt x="1371782" y="1233967"/>
                </a:lnTo>
                <a:lnTo>
                  <a:pt x="1312980" y="1305235"/>
                </a:lnTo>
                <a:cubicBezTo>
                  <a:pt x="1173796" y="1444420"/>
                  <a:pt x="981515" y="1530507"/>
                  <a:pt x="769126" y="1530507"/>
                </a:cubicBezTo>
                <a:cubicBezTo>
                  <a:pt x="556738" y="1530507"/>
                  <a:pt x="364456" y="1444420"/>
                  <a:pt x="225272" y="1305235"/>
                </a:cubicBezTo>
                <a:lnTo>
                  <a:pt x="166470" y="1233967"/>
                </a:lnTo>
                <a:lnTo>
                  <a:pt x="131355" y="1191407"/>
                </a:lnTo>
                <a:cubicBezTo>
                  <a:pt x="48424" y="1068654"/>
                  <a:pt x="0" y="920673"/>
                  <a:pt x="0" y="761381"/>
                </a:cubicBezTo>
                <a:cubicBezTo>
                  <a:pt x="0" y="734833"/>
                  <a:pt x="1345" y="708598"/>
                  <a:pt x="3971" y="682742"/>
                </a:cubicBezTo>
                <a:lnTo>
                  <a:pt x="13831" y="618139"/>
                </a:lnTo>
                <a:lnTo>
                  <a:pt x="15626" y="606375"/>
                </a:lnTo>
                <a:cubicBezTo>
                  <a:pt x="46362" y="456171"/>
                  <a:pt x="120884" y="321915"/>
                  <a:pt x="225272" y="217527"/>
                </a:cubicBezTo>
                <a:lnTo>
                  <a:pt x="265256" y="184537"/>
                </a:lnTo>
                <a:lnTo>
                  <a:pt x="339100" y="123610"/>
                </a:lnTo>
                <a:cubicBezTo>
                  <a:pt x="380018" y="95966"/>
                  <a:pt x="423739" y="72157"/>
                  <a:pt x="469747" y="52697"/>
                </a:cubicBezTo>
                <a:lnTo>
                  <a:pt x="513122" y="39233"/>
                </a:lnTo>
                <a:lnTo>
                  <a:pt x="614120" y="7881"/>
                </a:lnTo>
                <a:close/>
              </a:path>
            </a:pathLst>
          </a:custGeom>
          <a:solidFill>
            <a:schemeClr val="accent1">
              <a:lumMod val="5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53" name="Freeform: Shape 1052">
            <a:extLst>
              <a:ext uri="{FF2B5EF4-FFF2-40B4-BE49-F238E27FC236}">
                <a16:creationId xmlns:a16="http://schemas.microsoft.com/office/drawing/2014/main" id="{7D81147D-F141-CEFE-94DA-5EBD854ACCD8}"/>
              </a:ext>
            </a:extLst>
          </p:cNvPr>
          <p:cNvSpPr/>
          <p:nvPr/>
        </p:nvSpPr>
        <p:spPr>
          <a:xfrm>
            <a:off x="6515679" y="5224371"/>
            <a:ext cx="1538252" cy="1057424"/>
          </a:xfrm>
          <a:custGeom>
            <a:avLst/>
            <a:gdLst>
              <a:gd name="connsiteX0" fmla="*/ 769126 w 1538252"/>
              <a:gd name="connsiteY0" fmla="*/ 0 h 1057424"/>
              <a:gd name="connsiteX1" fmla="*/ 1199152 w 1538252"/>
              <a:gd name="connsiteY1" fmla="*/ 131355 h 1057424"/>
              <a:gd name="connsiteX2" fmla="*/ 1268417 w 1538252"/>
              <a:gd name="connsiteY2" fmla="*/ 188504 h 1057424"/>
              <a:gd name="connsiteX3" fmla="*/ 1312980 w 1538252"/>
              <a:gd name="connsiteY3" fmla="*/ 225272 h 1057424"/>
              <a:gd name="connsiteX4" fmla="*/ 1522626 w 1538252"/>
              <a:gd name="connsiteY4" fmla="*/ 614120 h 1057424"/>
              <a:gd name="connsiteX5" fmla="*/ 1523510 w 1538252"/>
              <a:gd name="connsiteY5" fmla="*/ 619908 h 1057424"/>
              <a:gd name="connsiteX6" fmla="*/ 1534281 w 1538252"/>
              <a:gd name="connsiteY6" fmla="*/ 690487 h 1057424"/>
              <a:gd name="connsiteX7" fmla="*/ 1538252 w 1538252"/>
              <a:gd name="connsiteY7" fmla="*/ 769126 h 1057424"/>
              <a:gd name="connsiteX8" fmla="*/ 1534281 w 1538252"/>
              <a:gd name="connsiteY8" fmla="*/ 847765 h 1057424"/>
              <a:gd name="connsiteX9" fmla="*/ 1524422 w 1538252"/>
              <a:gd name="connsiteY9" fmla="*/ 912369 h 1057424"/>
              <a:gd name="connsiteX10" fmla="*/ 1522626 w 1538252"/>
              <a:gd name="connsiteY10" fmla="*/ 924132 h 1057424"/>
              <a:gd name="connsiteX11" fmla="*/ 1481250 w 1538252"/>
              <a:gd name="connsiteY11" fmla="*/ 1057424 h 1057424"/>
              <a:gd name="connsiteX12" fmla="*/ 1477810 w 1538252"/>
              <a:gd name="connsiteY12" fmla="*/ 1046342 h 1057424"/>
              <a:gd name="connsiteX13" fmla="*/ 1406897 w 1538252"/>
              <a:gd name="connsiteY13" fmla="*/ 915695 h 1057424"/>
              <a:gd name="connsiteX14" fmla="*/ 1371782 w 1538252"/>
              <a:gd name="connsiteY14" fmla="*/ 873136 h 1057424"/>
              <a:gd name="connsiteX15" fmla="*/ 1312980 w 1538252"/>
              <a:gd name="connsiteY15" fmla="*/ 801867 h 1057424"/>
              <a:gd name="connsiteX16" fmla="*/ 1268417 w 1538252"/>
              <a:gd name="connsiteY16" fmla="*/ 765099 h 1057424"/>
              <a:gd name="connsiteX17" fmla="*/ 1199152 w 1538252"/>
              <a:gd name="connsiteY17" fmla="*/ 707950 h 1057424"/>
              <a:gd name="connsiteX18" fmla="*/ 1068505 w 1538252"/>
              <a:gd name="connsiteY18" fmla="*/ 637037 h 1057424"/>
              <a:gd name="connsiteX19" fmla="*/ 1013325 w 1538252"/>
              <a:gd name="connsiteY19" fmla="*/ 619908 h 1057424"/>
              <a:gd name="connsiteX20" fmla="*/ 924132 w 1538252"/>
              <a:gd name="connsiteY20" fmla="*/ 592221 h 1057424"/>
              <a:gd name="connsiteX21" fmla="*/ 769126 w 1538252"/>
              <a:gd name="connsiteY21" fmla="*/ 576595 h 1057424"/>
              <a:gd name="connsiteX22" fmla="*/ 614120 w 1538252"/>
              <a:gd name="connsiteY22" fmla="*/ 592221 h 1057424"/>
              <a:gd name="connsiteX23" fmla="*/ 513049 w 1538252"/>
              <a:gd name="connsiteY23" fmla="*/ 623596 h 1057424"/>
              <a:gd name="connsiteX24" fmla="*/ 469747 w 1538252"/>
              <a:gd name="connsiteY24" fmla="*/ 637037 h 1057424"/>
              <a:gd name="connsiteX25" fmla="*/ 60442 w 1538252"/>
              <a:gd name="connsiteY25" fmla="*/ 1046342 h 1057424"/>
              <a:gd name="connsiteX26" fmla="*/ 57002 w 1538252"/>
              <a:gd name="connsiteY26" fmla="*/ 1057424 h 1057424"/>
              <a:gd name="connsiteX27" fmla="*/ 15626 w 1538252"/>
              <a:gd name="connsiteY27" fmla="*/ 924132 h 1057424"/>
              <a:gd name="connsiteX28" fmla="*/ 0 w 1538252"/>
              <a:gd name="connsiteY28" fmla="*/ 769126 h 1057424"/>
              <a:gd name="connsiteX29" fmla="*/ 614120 w 1538252"/>
              <a:gd name="connsiteY29" fmla="*/ 15626 h 1057424"/>
              <a:gd name="connsiteX30" fmla="*/ 666232 w 1538252"/>
              <a:gd name="connsiteY30" fmla="*/ 7673 h 1057424"/>
              <a:gd name="connsiteX31" fmla="*/ 690487 w 1538252"/>
              <a:gd name="connsiteY31" fmla="*/ 3971 h 1057424"/>
              <a:gd name="connsiteX32" fmla="*/ 769126 w 1538252"/>
              <a:gd name="connsiteY32" fmla="*/ 0 h 1057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38252" h="1057424">
                <a:moveTo>
                  <a:pt x="769126" y="0"/>
                </a:moveTo>
                <a:cubicBezTo>
                  <a:pt x="928418" y="0"/>
                  <a:pt x="1076399" y="48424"/>
                  <a:pt x="1199152" y="131355"/>
                </a:cubicBezTo>
                <a:lnTo>
                  <a:pt x="1268417" y="188504"/>
                </a:lnTo>
                <a:lnTo>
                  <a:pt x="1312980" y="225272"/>
                </a:lnTo>
                <a:cubicBezTo>
                  <a:pt x="1417369" y="329660"/>
                  <a:pt x="1491890" y="463916"/>
                  <a:pt x="1522626" y="614120"/>
                </a:cubicBezTo>
                <a:lnTo>
                  <a:pt x="1523510" y="619908"/>
                </a:lnTo>
                <a:lnTo>
                  <a:pt x="1534281" y="690487"/>
                </a:lnTo>
                <a:cubicBezTo>
                  <a:pt x="1536907" y="716343"/>
                  <a:pt x="1538252" y="742578"/>
                  <a:pt x="1538252" y="769126"/>
                </a:cubicBezTo>
                <a:cubicBezTo>
                  <a:pt x="1538252" y="795675"/>
                  <a:pt x="1536907" y="821909"/>
                  <a:pt x="1534281" y="847765"/>
                </a:cubicBezTo>
                <a:lnTo>
                  <a:pt x="1524422" y="912369"/>
                </a:lnTo>
                <a:lnTo>
                  <a:pt x="1522626" y="924132"/>
                </a:lnTo>
                <a:lnTo>
                  <a:pt x="1481250" y="1057424"/>
                </a:lnTo>
                <a:lnTo>
                  <a:pt x="1477810" y="1046342"/>
                </a:lnTo>
                <a:cubicBezTo>
                  <a:pt x="1458351" y="1000334"/>
                  <a:pt x="1434541" y="956613"/>
                  <a:pt x="1406897" y="915695"/>
                </a:cubicBezTo>
                <a:lnTo>
                  <a:pt x="1371782" y="873136"/>
                </a:lnTo>
                <a:lnTo>
                  <a:pt x="1312980" y="801867"/>
                </a:lnTo>
                <a:lnTo>
                  <a:pt x="1268417" y="765099"/>
                </a:lnTo>
                <a:lnTo>
                  <a:pt x="1199152" y="707950"/>
                </a:lnTo>
                <a:cubicBezTo>
                  <a:pt x="1158234" y="680306"/>
                  <a:pt x="1114513" y="656497"/>
                  <a:pt x="1068505" y="637037"/>
                </a:cubicBezTo>
                <a:lnTo>
                  <a:pt x="1013325" y="619908"/>
                </a:lnTo>
                <a:lnTo>
                  <a:pt x="924132" y="592221"/>
                </a:lnTo>
                <a:cubicBezTo>
                  <a:pt x="874064" y="581976"/>
                  <a:pt x="822223" y="576595"/>
                  <a:pt x="769126" y="576595"/>
                </a:cubicBezTo>
                <a:cubicBezTo>
                  <a:pt x="716029" y="576595"/>
                  <a:pt x="664189" y="581976"/>
                  <a:pt x="614120" y="592221"/>
                </a:cubicBezTo>
                <a:lnTo>
                  <a:pt x="513049" y="623596"/>
                </a:lnTo>
                <a:lnTo>
                  <a:pt x="469747" y="637037"/>
                </a:lnTo>
                <a:cubicBezTo>
                  <a:pt x="285714" y="714877"/>
                  <a:pt x="138282" y="862309"/>
                  <a:pt x="60442" y="1046342"/>
                </a:cubicBezTo>
                <a:lnTo>
                  <a:pt x="57002" y="1057424"/>
                </a:lnTo>
                <a:lnTo>
                  <a:pt x="15626" y="924132"/>
                </a:lnTo>
                <a:cubicBezTo>
                  <a:pt x="5381" y="874064"/>
                  <a:pt x="0" y="822223"/>
                  <a:pt x="0" y="769126"/>
                </a:cubicBezTo>
                <a:cubicBezTo>
                  <a:pt x="0" y="397446"/>
                  <a:pt x="263642" y="87344"/>
                  <a:pt x="614120" y="15626"/>
                </a:cubicBezTo>
                <a:lnTo>
                  <a:pt x="666232" y="7673"/>
                </a:lnTo>
                <a:lnTo>
                  <a:pt x="690487" y="3971"/>
                </a:lnTo>
                <a:cubicBezTo>
                  <a:pt x="716343" y="1345"/>
                  <a:pt x="742578" y="0"/>
                  <a:pt x="769126" y="0"/>
                </a:cubicBezTo>
                <a:close/>
              </a:path>
            </a:pathLst>
          </a:custGeom>
          <a:solidFill>
            <a:schemeClr val="accent1">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6" name="Freeform: Shape 1045">
            <a:extLst>
              <a:ext uri="{FF2B5EF4-FFF2-40B4-BE49-F238E27FC236}">
                <a16:creationId xmlns:a16="http://schemas.microsoft.com/office/drawing/2014/main" id="{3AFFE01A-2490-F0B6-47D9-A482063695CE}"/>
              </a:ext>
            </a:extLst>
          </p:cNvPr>
          <p:cNvSpPr/>
          <p:nvPr/>
        </p:nvSpPr>
        <p:spPr>
          <a:xfrm>
            <a:off x="7514260" y="6281795"/>
            <a:ext cx="1538252" cy="1057423"/>
          </a:xfrm>
          <a:custGeom>
            <a:avLst/>
            <a:gdLst>
              <a:gd name="connsiteX0" fmla="*/ 57002 w 1538252"/>
              <a:gd name="connsiteY0" fmla="*/ 0 h 1057423"/>
              <a:gd name="connsiteX1" fmla="*/ 60442 w 1538252"/>
              <a:gd name="connsiteY1" fmla="*/ 11081 h 1057423"/>
              <a:gd name="connsiteX2" fmla="*/ 131355 w 1538252"/>
              <a:gd name="connsiteY2" fmla="*/ 141728 h 1057423"/>
              <a:gd name="connsiteX3" fmla="*/ 166941 w 1538252"/>
              <a:gd name="connsiteY3" fmla="*/ 184858 h 1057423"/>
              <a:gd name="connsiteX4" fmla="*/ 225272 w 1538252"/>
              <a:gd name="connsiteY4" fmla="*/ 255556 h 1057423"/>
              <a:gd name="connsiteX5" fmla="*/ 269835 w 1538252"/>
              <a:gd name="connsiteY5" fmla="*/ 292324 h 1057423"/>
              <a:gd name="connsiteX6" fmla="*/ 339100 w 1538252"/>
              <a:gd name="connsiteY6" fmla="*/ 349473 h 1057423"/>
              <a:gd name="connsiteX7" fmla="*/ 469747 w 1538252"/>
              <a:gd name="connsiteY7" fmla="*/ 420386 h 1057423"/>
              <a:gd name="connsiteX8" fmla="*/ 524928 w 1538252"/>
              <a:gd name="connsiteY8" fmla="*/ 437515 h 1057423"/>
              <a:gd name="connsiteX9" fmla="*/ 614120 w 1538252"/>
              <a:gd name="connsiteY9" fmla="*/ 465202 h 1057423"/>
              <a:gd name="connsiteX10" fmla="*/ 769126 w 1538252"/>
              <a:gd name="connsiteY10" fmla="*/ 480828 h 1057423"/>
              <a:gd name="connsiteX11" fmla="*/ 924132 w 1538252"/>
              <a:gd name="connsiteY11" fmla="*/ 465202 h 1057423"/>
              <a:gd name="connsiteX12" fmla="*/ 1025130 w 1538252"/>
              <a:gd name="connsiteY12" fmla="*/ 433851 h 1057423"/>
              <a:gd name="connsiteX13" fmla="*/ 1068505 w 1538252"/>
              <a:gd name="connsiteY13" fmla="*/ 420386 h 1057423"/>
              <a:gd name="connsiteX14" fmla="*/ 1477810 w 1538252"/>
              <a:gd name="connsiteY14" fmla="*/ 11081 h 1057423"/>
              <a:gd name="connsiteX15" fmla="*/ 1481250 w 1538252"/>
              <a:gd name="connsiteY15" fmla="*/ 0 h 1057423"/>
              <a:gd name="connsiteX16" fmla="*/ 1522626 w 1538252"/>
              <a:gd name="connsiteY16" fmla="*/ 133291 h 1057423"/>
              <a:gd name="connsiteX17" fmla="*/ 1538252 w 1538252"/>
              <a:gd name="connsiteY17" fmla="*/ 288297 h 1057423"/>
              <a:gd name="connsiteX18" fmla="*/ 924132 w 1538252"/>
              <a:gd name="connsiteY18" fmla="*/ 1041797 h 1057423"/>
              <a:gd name="connsiteX19" fmla="*/ 872491 w 1538252"/>
              <a:gd name="connsiteY19" fmla="*/ 1049679 h 1057423"/>
              <a:gd name="connsiteX20" fmla="*/ 847765 w 1538252"/>
              <a:gd name="connsiteY20" fmla="*/ 1053452 h 1057423"/>
              <a:gd name="connsiteX21" fmla="*/ 769126 w 1538252"/>
              <a:gd name="connsiteY21" fmla="*/ 1057423 h 1057423"/>
              <a:gd name="connsiteX22" fmla="*/ 339100 w 1538252"/>
              <a:gd name="connsiteY22" fmla="*/ 926068 h 1057423"/>
              <a:gd name="connsiteX23" fmla="*/ 269835 w 1538252"/>
              <a:gd name="connsiteY23" fmla="*/ 868919 h 1057423"/>
              <a:gd name="connsiteX24" fmla="*/ 225272 w 1538252"/>
              <a:gd name="connsiteY24" fmla="*/ 832151 h 1057423"/>
              <a:gd name="connsiteX25" fmla="*/ 15626 w 1538252"/>
              <a:gd name="connsiteY25" fmla="*/ 443303 h 1057423"/>
              <a:gd name="connsiteX26" fmla="*/ 14743 w 1538252"/>
              <a:gd name="connsiteY26" fmla="*/ 437515 h 1057423"/>
              <a:gd name="connsiteX27" fmla="*/ 3971 w 1538252"/>
              <a:gd name="connsiteY27" fmla="*/ 366936 h 1057423"/>
              <a:gd name="connsiteX28" fmla="*/ 0 w 1538252"/>
              <a:gd name="connsiteY28" fmla="*/ 288297 h 1057423"/>
              <a:gd name="connsiteX29" fmla="*/ 3971 w 1538252"/>
              <a:gd name="connsiteY29" fmla="*/ 209658 h 1057423"/>
              <a:gd name="connsiteX30" fmla="*/ 13758 w 1538252"/>
              <a:gd name="connsiteY30" fmla="*/ 145531 h 1057423"/>
              <a:gd name="connsiteX31" fmla="*/ 15626 w 1538252"/>
              <a:gd name="connsiteY31" fmla="*/ 133291 h 1057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38252" h="1057423">
                <a:moveTo>
                  <a:pt x="57002" y="0"/>
                </a:moveTo>
                <a:lnTo>
                  <a:pt x="60442" y="11081"/>
                </a:lnTo>
                <a:cubicBezTo>
                  <a:pt x="79902" y="57089"/>
                  <a:pt x="103711" y="100810"/>
                  <a:pt x="131355" y="141728"/>
                </a:cubicBezTo>
                <a:lnTo>
                  <a:pt x="166941" y="184858"/>
                </a:lnTo>
                <a:lnTo>
                  <a:pt x="225272" y="255556"/>
                </a:lnTo>
                <a:lnTo>
                  <a:pt x="269835" y="292324"/>
                </a:lnTo>
                <a:lnTo>
                  <a:pt x="339100" y="349473"/>
                </a:lnTo>
                <a:cubicBezTo>
                  <a:pt x="380018" y="377117"/>
                  <a:pt x="423739" y="400927"/>
                  <a:pt x="469747" y="420386"/>
                </a:cubicBezTo>
                <a:lnTo>
                  <a:pt x="524928" y="437515"/>
                </a:lnTo>
                <a:lnTo>
                  <a:pt x="614120" y="465202"/>
                </a:lnTo>
                <a:cubicBezTo>
                  <a:pt x="664189" y="475448"/>
                  <a:pt x="716029" y="480828"/>
                  <a:pt x="769126" y="480828"/>
                </a:cubicBezTo>
                <a:cubicBezTo>
                  <a:pt x="822223" y="480828"/>
                  <a:pt x="874064" y="475448"/>
                  <a:pt x="924132" y="465202"/>
                </a:cubicBezTo>
                <a:lnTo>
                  <a:pt x="1025130" y="433851"/>
                </a:lnTo>
                <a:lnTo>
                  <a:pt x="1068505" y="420386"/>
                </a:lnTo>
                <a:cubicBezTo>
                  <a:pt x="1252539" y="342547"/>
                  <a:pt x="1399971" y="195115"/>
                  <a:pt x="1477810" y="11081"/>
                </a:cubicBezTo>
                <a:lnTo>
                  <a:pt x="1481250" y="0"/>
                </a:lnTo>
                <a:lnTo>
                  <a:pt x="1522626" y="133291"/>
                </a:lnTo>
                <a:cubicBezTo>
                  <a:pt x="1532872" y="183360"/>
                  <a:pt x="1538252" y="235200"/>
                  <a:pt x="1538252" y="288297"/>
                </a:cubicBezTo>
                <a:cubicBezTo>
                  <a:pt x="1538252" y="659977"/>
                  <a:pt x="1274610" y="970079"/>
                  <a:pt x="924132" y="1041797"/>
                </a:cubicBezTo>
                <a:lnTo>
                  <a:pt x="872491" y="1049679"/>
                </a:lnTo>
                <a:lnTo>
                  <a:pt x="847765" y="1053452"/>
                </a:lnTo>
                <a:cubicBezTo>
                  <a:pt x="821909" y="1056078"/>
                  <a:pt x="795675" y="1057423"/>
                  <a:pt x="769126" y="1057423"/>
                </a:cubicBezTo>
                <a:cubicBezTo>
                  <a:pt x="609835" y="1057423"/>
                  <a:pt x="461854" y="1008999"/>
                  <a:pt x="339100" y="926068"/>
                </a:cubicBezTo>
                <a:lnTo>
                  <a:pt x="269835" y="868919"/>
                </a:lnTo>
                <a:lnTo>
                  <a:pt x="225272" y="832151"/>
                </a:lnTo>
                <a:cubicBezTo>
                  <a:pt x="120884" y="727763"/>
                  <a:pt x="46362" y="593508"/>
                  <a:pt x="15626" y="443303"/>
                </a:cubicBezTo>
                <a:lnTo>
                  <a:pt x="14743" y="437515"/>
                </a:lnTo>
                <a:lnTo>
                  <a:pt x="3971" y="366936"/>
                </a:lnTo>
                <a:cubicBezTo>
                  <a:pt x="1345" y="341080"/>
                  <a:pt x="0" y="314846"/>
                  <a:pt x="0" y="288297"/>
                </a:cubicBezTo>
                <a:cubicBezTo>
                  <a:pt x="0" y="261749"/>
                  <a:pt x="1345" y="235514"/>
                  <a:pt x="3971" y="209658"/>
                </a:cubicBezTo>
                <a:lnTo>
                  <a:pt x="13758" y="145531"/>
                </a:lnTo>
                <a:lnTo>
                  <a:pt x="15626" y="133291"/>
                </a:lnTo>
                <a:close/>
              </a:path>
            </a:pathLst>
          </a:custGeom>
          <a:solidFill>
            <a:schemeClr val="accent1">
              <a:lumMod val="20000"/>
              <a:lumOff val="8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8" name="Freeform: Shape 1047">
            <a:extLst>
              <a:ext uri="{FF2B5EF4-FFF2-40B4-BE49-F238E27FC236}">
                <a16:creationId xmlns:a16="http://schemas.microsoft.com/office/drawing/2014/main" id="{535F303C-457A-F1DF-988F-66B4213C2D1C}"/>
              </a:ext>
            </a:extLst>
          </p:cNvPr>
          <p:cNvSpPr/>
          <p:nvPr/>
        </p:nvSpPr>
        <p:spPr>
          <a:xfrm>
            <a:off x="7181911" y="4936074"/>
            <a:ext cx="1371311" cy="1530579"/>
          </a:xfrm>
          <a:custGeom>
            <a:avLst/>
            <a:gdLst>
              <a:gd name="connsiteX0" fmla="*/ 602185 w 1371311"/>
              <a:gd name="connsiteY0" fmla="*/ 0 h 1530579"/>
              <a:gd name="connsiteX1" fmla="*/ 1146039 w 1371311"/>
              <a:gd name="connsiteY1" fmla="*/ 225272 h 1530579"/>
              <a:gd name="connsiteX2" fmla="*/ 1204370 w 1371311"/>
              <a:gd name="connsiteY2" fmla="*/ 295970 h 1530579"/>
              <a:gd name="connsiteX3" fmla="*/ 1239956 w 1371311"/>
              <a:gd name="connsiteY3" fmla="*/ 339100 h 1530579"/>
              <a:gd name="connsiteX4" fmla="*/ 1371311 w 1371311"/>
              <a:gd name="connsiteY4" fmla="*/ 769126 h 1530579"/>
              <a:gd name="connsiteX5" fmla="*/ 1367340 w 1371311"/>
              <a:gd name="connsiteY5" fmla="*/ 847765 h 1530579"/>
              <a:gd name="connsiteX6" fmla="*/ 1357553 w 1371311"/>
              <a:gd name="connsiteY6" fmla="*/ 911893 h 1530579"/>
              <a:gd name="connsiteX7" fmla="*/ 1355685 w 1371311"/>
              <a:gd name="connsiteY7" fmla="*/ 924132 h 1530579"/>
              <a:gd name="connsiteX8" fmla="*/ 1146039 w 1371311"/>
              <a:gd name="connsiteY8" fmla="*/ 1312980 h 1530579"/>
              <a:gd name="connsiteX9" fmla="*/ 1106055 w 1371311"/>
              <a:gd name="connsiteY9" fmla="*/ 1345970 h 1530579"/>
              <a:gd name="connsiteX10" fmla="*/ 1032211 w 1371311"/>
              <a:gd name="connsiteY10" fmla="*/ 1406897 h 1530579"/>
              <a:gd name="connsiteX11" fmla="*/ 901564 w 1371311"/>
              <a:gd name="connsiteY11" fmla="*/ 1477810 h 1530579"/>
              <a:gd name="connsiteX12" fmla="*/ 858262 w 1371311"/>
              <a:gd name="connsiteY12" fmla="*/ 1491252 h 1530579"/>
              <a:gd name="connsiteX13" fmla="*/ 757191 w 1371311"/>
              <a:gd name="connsiteY13" fmla="*/ 1522626 h 1530579"/>
              <a:gd name="connsiteX14" fmla="*/ 705079 w 1371311"/>
              <a:gd name="connsiteY14" fmla="*/ 1530579 h 1530579"/>
              <a:gd name="connsiteX15" fmla="*/ 740665 w 1371311"/>
              <a:gd name="connsiteY15" fmla="*/ 1487449 h 1530579"/>
              <a:gd name="connsiteX16" fmla="*/ 811578 w 1371311"/>
              <a:gd name="connsiteY16" fmla="*/ 1356802 h 1530579"/>
              <a:gd name="connsiteX17" fmla="*/ 815018 w 1371311"/>
              <a:gd name="connsiteY17" fmla="*/ 1345721 h 1530579"/>
              <a:gd name="connsiteX18" fmla="*/ 856394 w 1371311"/>
              <a:gd name="connsiteY18" fmla="*/ 1212429 h 1530579"/>
              <a:gd name="connsiteX19" fmla="*/ 858190 w 1371311"/>
              <a:gd name="connsiteY19" fmla="*/ 1200666 h 1530579"/>
              <a:gd name="connsiteX20" fmla="*/ 868049 w 1371311"/>
              <a:gd name="connsiteY20" fmla="*/ 1136062 h 1530579"/>
              <a:gd name="connsiteX21" fmla="*/ 872020 w 1371311"/>
              <a:gd name="connsiteY21" fmla="*/ 1057423 h 1530579"/>
              <a:gd name="connsiteX22" fmla="*/ 868049 w 1371311"/>
              <a:gd name="connsiteY22" fmla="*/ 978784 h 1530579"/>
              <a:gd name="connsiteX23" fmla="*/ 857278 w 1371311"/>
              <a:gd name="connsiteY23" fmla="*/ 908205 h 1530579"/>
              <a:gd name="connsiteX24" fmla="*/ 856394 w 1371311"/>
              <a:gd name="connsiteY24" fmla="*/ 902417 h 1530579"/>
              <a:gd name="connsiteX25" fmla="*/ 646748 w 1371311"/>
              <a:gd name="connsiteY25" fmla="*/ 513569 h 1530579"/>
              <a:gd name="connsiteX26" fmla="*/ 602185 w 1371311"/>
              <a:gd name="connsiteY26" fmla="*/ 476801 h 1530579"/>
              <a:gd name="connsiteX27" fmla="*/ 532920 w 1371311"/>
              <a:gd name="connsiteY27" fmla="*/ 419652 h 1530579"/>
              <a:gd name="connsiteX28" fmla="*/ 102894 w 1371311"/>
              <a:gd name="connsiteY28" fmla="*/ 288297 h 1530579"/>
              <a:gd name="connsiteX29" fmla="*/ 24255 w 1371311"/>
              <a:gd name="connsiteY29" fmla="*/ 292268 h 1530579"/>
              <a:gd name="connsiteX30" fmla="*/ 0 w 1371311"/>
              <a:gd name="connsiteY30" fmla="*/ 295970 h 1530579"/>
              <a:gd name="connsiteX31" fmla="*/ 58331 w 1371311"/>
              <a:gd name="connsiteY31" fmla="*/ 225272 h 1530579"/>
              <a:gd name="connsiteX32" fmla="*/ 602185 w 1371311"/>
              <a:gd name="connsiteY32" fmla="*/ 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71311" h="1530579">
                <a:moveTo>
                  <a:pt x="602185" y="0"/>
                </a:moveTo>
                <a:cubicBezTo>
                  <a:pt x="814574" y="0"/>
                  <a:pt x="1006855" y="86087"/>
                  <a:pt x="1146039" y="225272"/>
                </a:cubicBezTo>
                <a:lnTo>
                  <a:pt x="1204370" y="295970"/>
                </a:lnTo>
                <a:lnTo>
                  <a:pt x="1239956" y="339100"/>
                </a:lnTo>
                <a:cubicBezTo>
                  <a:pt x="1322887" y="461854"/>
                  <a:pt x="1371311" y="609835"/>
                  <a:pt x="1371311" y="769126"/>
                </a:cubicBezTo>
                <a:cubicBezTo>
                  <a:pt x="1371311" y="795675"/>
                  <a:pt x="1369966" y="821909"/>
                  <a:pt x="1367340" y="847765"/>
                </a:cubicBezTo>
                <a:lnTo>
                  <a:pt x="1357553" y="911893"/>
                </a:lnTo>
                <a:lnTo>
                  <a:pt x="1355685" y="924132"/>
                </a:lnTo>
                <a:cubicBezTo>
                  <a:pt x="1324949" y="1074337"/>
                  <a:pt x="1250428" y="1208592"/>
                  <a:pt x="1146039" y="1312980"/>
                </a:cubicBezTo>
                <a:lnTo>
                  <a:pt x="1106055" y="1345970"/>
                </a:lnTo>
                <a:lnTo>
                  <a:pt x="1032211" y="1406897"/>
                </a:lnTo>
                <a:cubicBezTo>
                  <a:pt x="991293" y="1434541"/>
                  <a:pt x="947572" y="1458351"/>
                  <a:pt x="901564" y="1477810"/>
                </a:cubicBezTo>
                <a:lnTo>
                  <a:pt x="858262" y="1491252"/>
                </a:lnTo>
                <a:lnTo>
                  <a:pt x="757191" y="1522626"/>
                </a:lnTo>
                <a:lnTo>
                  <a:pt x="705079" y="1530579"/>
                </a:lnTo>
                <a:lnTo>
                  <a:pt x="740665" y="1487449"/>
                </a:lnTo>
                <a:cubicBezTo>
                  <a:pt x="768309" y="1446531"/>
                  <a:pt x="792119" y="1402810"/>
                  <a:pt x="811578" y="1356802"/>
                </a:cubicBezTo>
                <a:lnTo>
                  <a:pt x="815018" y="1345721"/>
                </a:lnTo>
                <a:lnTo>
                  <a:pt x="856394" y="1212429"/>
                </a:lnTo>
                <a:lnTo>
                  <a:pt x="858190" y="1200666"/>
                </a:lnTo>
                <a:lnTo>
                  <a:pt x="868049" y="1136062"/>
                </a:lnTo>
                <a:cubicBezTo>
                  <a:pt x="870675" y="1110206"/>
                  <a:pt x="872020" y="1083972"/>
                  <a:pt x="872020" y="1057423"/>
                </a:cubicBezTo>
                <a:cubicBezTo>
                  <a:pt x="872020" y="1030875"/>
                  <a:pt x="870675" y="1004640"/>
                  <a:pt x="868049" y="978784"/>
                </a:cubicBezTo>
                <a:lnTo>
                  <a:pt x="857278" y="908205"/>
                </a:lnTo>
                <a:lnTo>
                  <a:pt x="856394" y="902417"/>
                </a:lnTo>
                <a:cubicBezTo>
                  <a:pt x="825658" y="752213"/>
                  <a:pt x="751137" y="617957"/>
                  <a:pt x="646748" y="513569"/>
                </a:cubicBezTo>
                <a:lnTo>
                  <a:pt x="602185" y="476801"/>
                </a:lnTo>
                <a:lnTo>
                  <a:pt x="532920" y="419652"/>
                </a:lnTo>
                <a:cubicBezTo>
                  <a:pt x="410167" y="336721"/>
                  <a:pt x="262186" y="288297"/>
                  <a:pt x="102894" y="288297"/>
                </a:cubicBezTo>
                <a:cubicBezTo>
                  <a:pt x="76346" y="288297"/>
                  <a:pt x="50111" y="289642"/>
                  <a:pt x="24255" y="292268"/>
                </a:cubicBezTo>
                <a:lnTo>
                  <a:pt x="0" y="295970"/>
                </a:lnTo>
                <a:lnTo>
                  <a:pt x="58331" y="225272"/>
                </a:lnTo>
                <a:cubicBezTo>
                  <a:pt x="197515" y="86087"/>
                  <a:pt x="389797" y="0"/>
                  <a:pt x="602185" y="0"/>
                </a:cubicBezTo>
                <a:close/>
              </a:path>
            </a:pathLst>
          </a:custGeom>
          <a:solidFill>
            <a:schemeClr val="accent1">
              <a:lumMod val="60000"/>
              <a:lumOff val="4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047" name="Freeform: Shape 1046">
            <a:extLst>
              <a:ext uri="{FF2B5EF4-FFF2-40B4-BE49-F238E27FC236}">
                <a16:creationId xmlns:a16="http://schemas.microsoft.com/office/drawing/2014/main" id="{63DA9CD3-4501-1D01-1FC1-145BC5256EF7}"/>
              </a:ext>
            </a:extLst>
          </p:cNvPr>
          <p:cNvSpPr/>
          <p:nvPr/>
        </p:nvSpPr>
        <p:spPr>
          <a:xfrm>
            <a:off x="7681202" y="5232044"/>
            <a:ext cx="1371311" cy="1530579"/>
          </a:xfrm>
          <a:custGeom>
            <a:avLst/>
            <a:gdLst>
              <a:gd name="connsiteX0" fmla="*/ 705079 w 1371311"/>
              <a:gd name="connsiteY0" fmla="*/ 0 h 1530579"/>
              <a:gd name="connsiteX1" fmla="*/ 757191 w 1371311"/>
              <a:gd name="connsiteY1" fmla="*/ 7953 h 1530579"/>
              <a:gd name="connsiteX2" fmla="*/ 1371311 w 1371311"/>
              <a:gd name="connsiteY2" fmla="*/ 761453 h 1530579"/>
              <a:gd name="connsiteX3" fmla="*/ 1355685 w 1371311"/>
              <a:gd name="connsiteY3" fmla="*/ 916459 h 1530579"/>
              <a:gd name="connsiteX4" fmla="*/ 1314309 w 1371311"/>
              <a:gd name="connsiteY4" fmla="*/ 1049751 h 1530579"/>
              <a:gd name="connsiteX5" fmla="*/ 1310869 w 1371311"/>
              <a:gd name="connsiteY5" fmla="*/ 1060832 h 1530579"/>
              <a:gd name="connsiteX6" fmla="*/ 901564 w 1371311"/>
              <a:gd name="connsiteY6" fmla="*/ 1470137 h 1530579"/>
              <a:gd name="connsiteX7" fmla="*/ 858189 w 1371311"/>
              <a:gd name="connsiteY7" fmla="*/ 1483602 h 1530579"/>
              <a:gd name="connsiteX8" fmla="*/ 757191 w 1371311"/>
              <a:gd name="connsiteY8" fmla="*/ 1514953 h 1530579"/>
              <a:gd name="connsiteX9" fmla="*/ 602185 w 1371311"/>
              <a:gd name="connsiteY9" fmla="*/ 1530579 h 1530579"/>
              <a:gd name="connsiteX10" fmla="*/ 447179 w 1371311"/>
              <a:gd name="connsiteY10" fmla="*/ 1514953 h 1530579"/>
              <a:gd name="connsiteX11" fmla="*/ 357987 w 1371311"/>
              <a:gd name="connsiteY11" fmla="*/ 1487266 h 1530579"/>
              <a:gd name="connsiteX12" fmla="*/ 302806 w 1371311"/>
              <a:gd name="connsiteY12" fmla="*/ 1470137 h 1530579"/>
              <a:gd name="connsiteX13" fmla="*/ 172159 w 1371311"/>
              <a:gd name="connsiteY13" fmla="*/ 1399224 h 1530579"/>
              <a:gd name="connsiteX14" fmla="*/ 102894 w 1371311"/>
              <a:gd name="connsiteY14" fmla="*/ 1342075 h 1530579"/>
              <a:gd name="connsiteX15" fmla="*/ 58331 w 1371311"/>
              <a:gd name="connsiteY15" fmla="*/ 1305307 h 1530579"/>
              <a:gd name="connsiteX16" fmla="*/ 0 w 1371311"/>
              <a:gd name="connsiteY16" fmla="*/ 1234609 h 1530579"/>
              <a:gd name="connsiteX17" fmla="*/ 24255 w 1371311"/>
              <a:gd name="connsiteY17" fmla="*/ 1238311 h 1530579"/>
              <a:gd name="connsiteX18" fmla="*/ 102894 w 1371311"/>
              <a:gd name="connsiteY18" fmla="*/ 1242282 h 1530579"/>
              <a:gd name="connsiteX19" fmla="*/ 181533 w 1371311"/>
              <a:gd name="connsiteY19" fmla="*/ 1238311 h 1530579"/>
              <a:gd name="connsiteX20" fmla="*/ 205788 w 1371311"/>
              <a:gd name="connsiteY20" fmla="*/ 1234609 h 1530579"/>
              <a:gd name="connsiteX21" fmla="*/ 257900 w 1371311"/>
              <a:gd name="connsiteY21" fmla="*/ 1226656 h 1530579"/>
              <a:gd name="connsiteX22" fmla="*/ 358971 w 1371311"/>
              <a:gd name="connsiteY22" fmla="*/ 1195282 h 1530579"/>
              <a:gd name="connsiteX23" fmla="*/ 402273 w 1371311"/>
              <a:gd name="connsiteY23" fmla="*/ 1181840 h 1530579"/>
              <a:gd name="connsiteX24" fmla="*/ 532920 w 1371311"/>
              <a:gd name="connsiteY24" fmla="*/ 1110927 h 1530579"/>
              <a:gd name="connsiteX25" fmla="*/ 606764 w 1371311"/>
              <a:gd name="connsiteY25" fmla="*/ 1050000 h 1530579"/>
              <a:gd name="connsiteX26" fmla="*/ 646748 w 1371311"/>
              <a:gd name="connsiteY26" fmla="*/ 1017010 h 1530579"/>
              <a:gd name="connsiteX27" fmla="*/ 856394 w 1371311"/>
              <a:gd name="connsiteY27" fmla="*/ 628162 h 1530579"/>
              <a:gd name="connsiteX28" fmla="*/ 858262 w 1371311"/>
              <a:gd name="connsiteY28" fmla="*/ 615923 h 1530579"/>
              <a:gd name="connsiteX29" fmla="*/ 868049 w 1371311"/>
              <a:gd name="connsiteY29" fmla="*/ 551795 h 1530579"/>
              <a:gd name="connsiteX30" fmla="*/ 872020 w 1371311"/>
              <a:gd name="connsiteY30" fmla="*/ 473156 h 1530579"/>
              <a:gd name="connsiteX31" fmla="*/ 740665 w 1371311"/>
              <a:gd name="connsiteY31" fmla="*/ 43130 h 1530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71311" h="1530579">
                <a:moveTo>
                  <a:pt x="705079" y="0"/>
                </a:moveTo>
                <a:lnTo>
                  <a:pt x="757191" y="7953"/>
                </a:lnTo>
                <a:cubicBezTo>
                  <a:pt x="1107669" y="79671"/>
                  <a:pt x="1371311" y="389773"/>
                  <a:pt x="1371311" y="761453"/>
                </a:cubicBezTo>
                <a:cubicBezTo>
                  <a:pt x="1371311" y="814550"/>
                  <a:pt x="1365931" y="866391"/>
                  <a:pt x="1355685" y="916459"/>
                </a:cubicBezTo>
                <a:lnTo>
                  <a:pt x="1314309" y="1049751"/>
                </a:lnTo>
                <a:lnTo>
                  <a:pt x="1310869" y="1060832"/>
                </a:lnTo>
                <a:cubicBezTo>
                  <a:pt x="1233030" y="1244866"/>
                  <a:pt x="1085598" y="1392298"/>
                  <a:pt x="901564" y="1470137"/>
                </a:cubicBezTo>
                <a:lnTo>
                  <a:pt x="858189" y="1483602"/>
                </a:lnTo>
                <a:lnTo>
                  <a:pt x="757191" y="1514953"/>
                </a:lnTo>
                <a:cubicBezTo>
                  <a:pt x="707123" y="1525199"/>
                  <a:pt x="655282" y="1530579"/>
                  <a:pt x="602185" y="1530579"/>
                </a:cubicBezTo>
                <a:cubicBezTo>
                  <a:pt x="549088" y="1530579"/>
                  <a:pt x="497248" y="1525199"/>
                  <a:pt x="447179" y="1514953"/>
                </a:cubicBezTo>
                <a:lnTo>
                  <a:pt x="357987" y="1487266"/>
                </a:lnTo>
                <a:lnTo>
                  <a:pt x="302806" y="1470137"/>
                </a:lnTo>
                <a:cubicBezTo>
                  <a:pt x="256798" y="1450678"/>
                  <a:pt x="213077" y="1426868"/>
                  <a:pt x="172159" y="1399224"/>
                </a:cubicBezTo>
                <a:lnTo>
                  <a:pt x="102894" y="1342075"/>
                </a:lnTo>
                <a:lnTo>
                  <a:pt x="58331" y="1305307"/>
                </a:lnTo>
                <a:lnTo>
                  <a:pt x="0" y="1234609"/>
                </a:lnTo>
                <a:lnTo>
                  <a:pt x="24255" y="1238311"/>
                </a:lnTo>
                <a:cubicBezTo>
                  <a:pt x="50111" y="1240937"/>
                  <a:pt x="76346" y="1242282"/>
                  <a:pt x="102894" y="1242282"/>
                </a:cubicBezTo>
                <a:cubicBezTo>
                  <a:pt x="129443" y="1242282"/>
                  <a:pt x="155677" y="1240937"/>
                  <a:pt x="181533" y="1238311"/>
                </a:cubicBezTo>
                <a:lnTo>
                  <a:pt x="205788" y="1234609"/>
                </a:lnTo>
                <a:lnTo>
                  <a:pt x="257900" y="1226656"/>
                </a:lnTo>
                <a:lnTo>
                  <a:pt x="358971" y="1195282"/>
                </a:lnTo>
                <a:lnTo>
                  <a:pt x="402273" y="1181840"/>
                </a:lnTo>
                <a:cubicBezTo>
                  <a:pt x="448281" y="1162381"/>
                  <a:pt x="492002" y="1138571"/>
                  <a:pt x="532920" y="1110927"/>
                </a:cubicBezTo>
                <a:lnTo>
                  <a:pt x="606764" y="1050000"/>
                </a:lnTo>
                <a:lnTo>
                  <a:pt x="646748" y="1017010"/>
                </a:lnTo>
                <a:cubicBezTo>
                  <a:pt x="751137" y="912622"/>
                  <a:pt x="825658" y="778367"/>
                  <a:pt x="856394" y="628162"/>
                </a:cubicBezTo>
                <a:lnTo>
                  <a:pt x="858262" y="615923"/>
                </a:lnTo>
                <a:lnTo>
                  <a:pt x="868049" y="551795"/>
                </a:lnTo>
                <a:cubicBezTo>
                  <a:pt x="870675" y="525939"/>
                  <a:pt x="872020" y="499705"/>
                  <a:pt x="872020" y="473156"/>
                </a:cubicBezTo>
                <a:cubicBezTo>
                  <a:pt x="872020" y="313865"/>
                  <a:pt x="823596" y="165884"/>
                  <a:pt x="740665" y="43130"/>
                </a:cubicBezTo>
                <a:close/>
              </a:path>
            </a:pathLst>
          </a:custGeom>
          <a:solidFill>
            <a:schemeClr val="accent1">
              <a:lumMod val="40000"/>
              <a:lumOff val="60000"/>
              <a:alpha val="50000"/>
            </a:schemeClr>
          </a:solidFill>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20" name="Rectangle 3">
            <a:extLst>
              <a:ext uri="{FF2B5EF4-FFF2-40B4-BE49-F238E27FC236}">
                <a16:creationId xmlns:a16="http://schemas.microsoft.com/office/drawing/2014/main" id="{496A8D75-B8A1-BD05-C748-AD10AFD1E5D7}"/>
              </a:ext>
            </a:extLst>
          </p:cNvPr>
          <p:cNvSpPr>
            <a:spLocks noChangeArrowheads="1"/>
          </p:cNvSpPr>
          <p:nvPr/>
        </p:nvSpPr>
        <p:spPr bwMode="auto">
          <a:xfrm>
            <a:off x="0" y="-253879"/>
            <a:ext cx="65" cy="507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14264" rIns="0" bIns="11426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057" name="Group 1056">
            <a:extLst>
              <a:ext uri="{FF2B5EF4-FFF2-40B4-BE49-F238E27FC236}">
                <a16:creationId xmlns:a16="http://schemas.microsoft.com/office/drawing/2014/main" id="{C012FDA0-3B6A-4BC3-611F-20D748798760}"/>
              </a:ext>
            </a:extLst>
          </p:cNvPr>
          <p:cNvGrpSpPr/>
          <p:nvPr/>
        </p:nvGrpSpPr>
        <p:grpSpPr>
          <a:xfrm>
            <a:off x="11277600" y="1374122"/>
            <a:ext cx="6164461" cy="4224577"/>
            <a:chOff x="11277600" y="1374122"/>
            <a:chExt cx="6164461" cy="4224577"/>
          </a:xfrm>
        </p:grpSpPr>
        <p:pic>
          <p:nvPicPr>
            <p:cNvPr id="1026" name="Picture 2" descr="Payroll Management System">
              <a:extLst>
                <a:ext uri="{FF2B5EF4-FFF2-40B4-BE49-F238E27FC236}">
                  <a16:creationId xmlns:a16="http://schemas.microsoft.com/office/drawing/2014/main" id="{677CFD5A-6072-0CEF-5F84-E3979390A4BD}"/>
                </a:ext>
              </a:extLst>
            </p:cNvPr>
            <p:cNvPicPr>
              <a:picLocks noChangeAspect="1" noChangeArrowheads="1"/>
            </p:cNvPicPr>
            <p:nvPr/>
          </p:nvPicPr>
          <p:blipFill>
            <a:blip r:embed="rId6" cstate="print">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1310937" y="1511283"/>
              <a:ext cx="6131124" cy="408741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9" name="Circle: Hollow 8">
              <a:extLst>
                <a:ext uri="{FF2B5EF4-FFF2-40B4-BE49-F238E27FC236}">
                  <a16:creationId xmlns:a16="http://schemas.microsoft.com/office/drawing/2014/main" id="{380DEB22-4A88-1F95-F1F1-BD0EE60AE3A6}"/>
                </a:ext>
              </a:extLst>
            </p:cNvPr>
            <p:cNvSpPr/>
            <p:nvPr/>
          </p:nvSpPr>
          <p:spPr>
            <a:xfrm>
              <a:off x="11277600" y="1982702"/>
              <a:ext cx="274320" cy="274320"/>
            </a:xfrm>
            <a:prstGeom prst="donut">
              <a:avLst>
                <a:gd name="adj" fmla="val 13889"/>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ircle: Hollow 9">
              <a:extLst>
                <a:ext uri="{FF2B5EF4-FFF2-40B4-BE49-F238E27FC236}">
                  <a16:creationId xmlns:a16="http://schemas.microsoft.com/office/drawing/2014/main" id="{2C71315D-F328-C1E7-EED5-B08A81F4088C}"/>
                </a:ext>
              </a:extLst>
            </p:cNvPr>
            <p:cNvSpPr/>
            <p:nvPr/>
          </p:nvSpPr>
          <p:spPr>
            <a:xfrm>
              <a:off x="16840200" y="1374122"/>
              <a:ext cx="274320" cy="274320"/>
            </a:xfrm>
            <a:prstGeom prst="donut">
              <a:avLst>
                <a:gd name="adj" fmla="val 11111"/>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060" name="Group 1059">
            <a:extLst>
              <a:ext uri="{FF2B5EF4-FFF2-40B4-BE49-F238E27FC236}">
                <a16:creationId xmlns:a16="http://schemas.microsoft.com/office/drawing/2014/main" id="{BAEA651E-2146-66E5-2AEE-438ADDCA716E}"/>
              </a:ext>
            </a:extLst>
          </p:cNvPr>
          <p:cNvGrpSpPr/>
          <p:nvPr/>
        </p:nvGrpSpPr>
        <p:grpSpPr>
          <a:xfrm>
            <a:off x="1469683" y="1303328"/>
            <a:ext cx="11331916" cy="1124886"/>
            <a:chOff x="1469683" y="1303328"/>
            <a:chExt cx="11331916" cy="1124886"/>
          </a:xfrm>
        </p:grpSpPr>
        <p:sp>
          <p:nvSpPr>
            <p:cNvPr id="1061" name="Freeform 7">
              <a:extLst>
                <a:ext uri="{FF2B5EF4-FFF2-40B4-BE49-F238E27FC236}">
                  <a16:creationId xmlns:a16="http://schemas.microsoft.com/office/drawing/2014/main" id="{3CEF508F-4981-A2E9-A47C-80CD80B50F8B}"/>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cstate="print">
                <a:extLst>
                  <a:ext uri="{28A0092B-C50C-407E-A947-70E740481C1C}">
                    <a14:useLocalDpi xmlns:a14="http://schemas.microsoft.com/office/drawing/2010/main" val="0"/>
                  </a:ext>
                </a:extLst>
              </a:blip>
              <a:stretch>
                <a:fillRect/>
              </a:stretch>
            </a:blipFill>
          </p:spPr>
        </p:sp>
        <p:sp>
          <p:nvSpPr>
            <p:cNvPr id="1062" name="TextBox 10">
              <a:extLst>
                <a:ext uri="{FF2B5EF4-FFF2-40B4-BE49-F238E27FC236}">
                  <a16:creationId xmlns:a16="http://schemas.microsoft.com/office/drawing/2014/main" id="{1B1712F5-D96B-98E6-4ADC-AC06DD537F3B}"/>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063" name="Freeform 3">
              <a:extLst>
                <a:ext uri="{FF2B5EF4-FFF2-40B4-BE49-F238E27FC236}">
                  <a16:creationId xmlns:a16="http://schemas.microsoft.com/office/drawing/2014/main" id="{3AD09F8F-6CED-821D-2DF6-9948B63332AA}"/>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a:stretch>
                <a:fillRect/>
              </a:stretch>
            </a:blipFill>
          </p:spPr>
        </p:sp>
      </p:grpSp>
      <p:sp>
        <p:nvSpPr>
          <p:cNvPr id="2" name="TextBox 1">
            <a:extLst>
              <a:ext uri="{FF2B5EF4-FFF2-40B4-BE49-F238E27FC236}">
                <a16:creationId xmlns:a16="http://schemas.microsoft.com/office/drawing/2014/main" id="{7FB6FBE7-34FA-A80A-E638-1367DE38F68E}"/>
              </a:ext>
            </a:extLst>
          </p:cNvPr>
          <p:cNvSpPr txBox="1"/>
          <p:nvPr/>
        </p:nvSpPr>
        <p:spPr>
          <a:xfrm>
            <a:off x="3471821" y="5275386"/>
            <a:ext cx="3043858" cy="754822"/>
          </a:xfrm>
          <a:prstGeom prst="rect">
            <a:avLst/>
          </a:prstGeom>
          <a:noFill/>
        </p:spPr>
        <p:txBody>
          <a:bodyPr wrap="square">
            <a:spAutoFit/>
          </a:bodyPr>
          <a:lstStyle/>
          <a:p>
            <a:pPr lvl="0" defTabSz="711200">
              <a:lnSpc>
                <a:spcPct val="90000"/>
              </a:lnSpc>
              <a:spcBef>
                <a:spcPct val="0"/>
              </a:spcBef>
              <a:spcAft>
                <a:spcPct val="35000"/>
              </a:spcAft>
            </a:pPr>
            <a:r>
              <a:rPr lang="en-US" sz="1400" b="1" dirty="0">
                <a:solidFill>
                  <a:srgbClr val="000000"/>
                </a:solidFill>
                <a:latin typeface="Sukar"/>
                <a:cs typeface="Sukar"/>
              </a:rPr>
              <a:t>06. Conclusion &amp; Demonstration</a:t>
            </a:r>
          </a:p>
          <a:p>
            <a:pPr marL="114300" lvl="1" indent="-114300" defTabSz="533400">
              <a:lnSpc>
                <a:spcPct val="90000"/>
              </a:lnSpc>
              <a:spcBef>
                <a:spcPct val="0"/>
              </a:spcBef>
              <a:spcAft>
                <a:spcPct val="15000"/>
              </a:spcAft>
              <a:buChar char="•"/>
            </a:pPr>
            <a:r>
              <a:rPr lang="en-US" sz="1400" b="1" dirty="0">
                <a:solidFill>
                  <a:srgbClr val="000000"/>
                </a:solidFill>
                <a:latin typeface="Sukar"/>
                <a:cs typeface="Sukar"/>
              </a:rPr>
              <a:t>Summary of achievements, learning outcomes, and future upgrades.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4" name="Freeform 4"/>
          <p:cNvSpPr/>
          <p:nvPr/>
        </p:nvSpPr>
        <p:spPr>
          <a:xfrm rot="5400000">
            <a:off x="-6173166" y="2299888"/>
            <a:ext cx="13978602" cy="3253202"/>
          </a:xfrm>
          <a:custGeom>
            <a:avLst/>
            <a:gdLst/>
            <a:ahLst/>
            <a:cxnLst/>
            <a:rect l="l" t="t" r="r" b="b"/>
            <a:pathLst>
              <a:path w="13978602" h="3253202">
                <a:moveTo>
                  <a:pt x="0" y="0"/>
                </a:moveTo>
                <a:lnTo>
                  <a:pt x="13978602" y="0"/>
                </a:lnTo>
                <a:lnTo>
                  <a:pt x="13978602"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3138744" y="2090322"/>
            <a:ext cx="8726220" cy="1184940"/>
          </a:xfrm>
          <a:prstGeom prst="rect">
            <a:avLst/>
          </a:prstGeom>
        </p:spPr>
        <p:txBody>
          <a:bodyPr wrap="square" lIns="0" tIns="0" rIns="0" bIns="0" rtlCol="0" anchor="t">
            <a:spAutoFit/>
          </a:bodyPr>
          <a:lstStyle/>
          <a:p>
            <a:pPr algn="ctr">
              <a:lnSpc>
                <a:spcPts val="10353"/>
              </a:lnSpc>
            </a:pPr>
            <a:r>
              <a:rPr lang="en-US" sz="4800" dirty="0">
                <a:solidFill>
                  <a:srgbClr val="00AAEB"/>
                </a:solidFill>
                <a:latin typeface="Lalezar"/>
                <a:ea typeface="Lalezar"/>
                <a:cs typeface="Lalezar"/>
                <a:sym typeface="Lalezar"/>
              </a:rPr>
              <a:t>Introduction &amp; Purpose</a:t>
            </a:r>
          </a:p>
        </p:txBody>
      </p:sp>
      <p:sp>
        <p:nvSpPr>
          <p:cNvPr id="18" name="TextBox 17">
            <a:extLst>
              <a:ext uri="{FF2B5EF4-FFF2-40B4-BE49-F238E27FC236}">
                <a16:creationId xmlns:a16="http://schemas.microsoft.com/office/drawing/2014/main" id="{B4A68540-BDC1-A774-A7B5-7AF6EAD925B8}"/>
              </a:ext>
            </a:extLst>
          </p:cNvPr>
          <p:cNvSpPr txBox="1"/>
          <p:nvPr/>
        </p:nvSpPr>
        <p:spPr>
          <a:xfrm>
            <a:off x="2706574" y="3949511"/>
            <a:ext cx="8726221" cy="3508653"/>
          </a:xfrm>
          <a:prstGeom prst="rect">
            <a:avLst/>
          </a:prstGeom>
          <a:noFill/>
        </p:spPr>
        <p:txBody>
          <a:bodyPr wrap="square" rtlCol="0">
            <a:spAutoFit/>
          </a:bodyPr>
          <a:lstStyle/>
          <a:p>
            <a:r>
              <a:rPr lang="en-US" sz="2800" dirty="0">
                <a:solidFill>
                  <a:srgbClr val="000000"/>
                </a:solidFill>
                <a:latin typeface="Sukar"/>
                <a:cs typeface="Sukar"/>
              </a:rPr>
              <a:t>Payroll management Payroll management is a critical organizational process. Our C++ based system automates complex tasks to ensure accuracy in compensation.</a:t>
            </a:r>
          </a:p>
          <a:p>
            <a:endParaRPr lang="en-US" sz="2400" dirty="0">
              <a:solidFill>
                <a:srgbClr val="000000"/>
              </a:solidFill>
              <a:latin typeface="Sukar"/>
              <a:cs typeface="Sukar"/>
            </a:endParaRPr>
          </a:p>
          <a:p>
            <a:br>
              <a:rPr lang="en-US" dirty="0"/>
            </a:br>
            <a:r>
              <a:rPr lang="en-US" sz="2400" dirty="0"/>
              <a:t>Automated working hours tracking.</a:t>
            </a:r>
          </a:p>
          <a:p>
            <a:r>
              <a:rPr lang="en-US" sz="2400" dirty="0"/>
              <a:t>Precise tax and overtime deduction.</a:t>
            </a:r>
          </a:p>
          <a:p>
            <a:r>
              <a:rPr lang="en-US" sz="2400" dirty="0"/>
              <a:t>Lightweight CSV file data persistence.</a:t>
            </a:r>
          </a:p>
          <a:p>
            <a:endParaRPr lang="en-US" sz="2400" dirty="0">
              <a:solidFill>
                <a:srgbClr val="000000"/>
              </a:solidFill>
              <a:latin typeface="Sukar"/>
              <a:cs typeface="Sukar"/>
            </a:endParaRPr>
          </a:p>
        </p:txBody>
      </p:sp>
      <p:pic>
        <p:nvPicPr>
          <p:cNvPr id="20" name="Graphic 19" descr="Processor">
            <a:extLst>
              <a:ext uri="{FF2B5EF4-FFF2-40B4-BE49-F238E27FC236}">
                <a16:creationId xmlns:a16="http://schemas.microsoft.com/office/drawing/2014/main" id="{E816DD07-E098-70FC-BDB8-251E5F8C44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11721" y="5953065"/>
            <a:ext cx="274320" cy="274320"/>
          </a:xfrm>
          <a:prstGeom prst="rect">
            <a:avLst/>
          </a:prstGeom>
        </p:spPr>
      </p:pic>
      <p:pic>
        <p:nvPicPr>
          <p:cNvPr id="22" name="Graphic 21" descr="Calculator">
            <a:extLst>
              <a:ext uri="{FF2B5EF4-FFF2-40B4-BE49-F238E27FC236}">
                <a16:creationId xmlns:a16="http://schemas.microsoft.com/office/drawing/2014/main" id="{B23AE7A4-55D8-88B8-55E5-FB2CDD08AC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11721" y="6312826"/>
            <a:ext cx="274320" cy="274320"/>
          </a:xfrm>
          <a:prstGeom prst="rect">
            <a:avLst/>
          </a:prstGeom>
        </p:spPr>
      </p:pic>
      <p:pic>
        <p:nvPicPr>
          <p:cNvPr id="24" name="Graphic 23" descr="Database">
            <a:extLst>
              <a:ext uri="{FF2B5EF4-FFF2-40B4-BE49-F238E27FC236}">
                <a16:creationId xmlns:a16="http://schemas.microsoft.com/office/drawing/2014/main" id="{1BBD8511-9AE9-D879-AC8E-59D807B847E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11721" y="6701669"/>
            <a:ext cx="274320" cy="274320"/>
          </a:xfrm>
          <a:prstGeom prst="rect">
            <a:avLst/>
          </a:prstGeom>
        </p:spPr>
      </p:pic>
      <p:grpSp>
        <p:nvGrpSpPr>
          <p:cNvPr id="504" name="Group 4">
            <a:extLst>
              <a:ext uri="{FF2B5EF4-FFF2-40B4-BE49-F238E27FC236}">
                <a16:creationId xmlns:a16="http://schemas.microsoft.com/office/drawing/2014/main" id="{BDB8BAC1-5FB4-3E02-0A72-FB6C211F12D0}"/>
              </a:ext>
            </a:extLst>
          </p:cNvPr>
          <p:cNvGrpSpPr/>
          <p:nvPr/>
        </p:nvGrpSpPr>
        <p:grpSpPr>
          <a:xfrm>
            <a:off x="12074506" y="5745286"/>
            <a:ext cx="4760640" cy="3741835"/>
            <a:chOff x="0" y="0"/>
            <a:chExt cx="1804151" cy="1419733"/>
          </a:xfrm>
        </p:grpSpPr>
        <p:sp>
          <p:nvSpPr>
            <p:cNvPr id="505" name="Freeform 5">
              <a:extLst>
                <a:ext uri="{FF2B5EF4-FFF2-40B4-BE49-F238E27FC236}">
                  <a16:creationId xmlns:a16="http://schemas.microsoft.com/office/drawing/2014/main" id="{4A21C49E-26FF-A4F6-1D48-17B3D3DF9376}"/>
                </a:ext>
              </a:extLst>
            </p:cNvPr>
            <p:cNvSpPr/>
            <p:nvPr/>
          </p:nvSpPr>
          <p:spPr>
            <a:xfrm>
              <a:off x="0" y="0"/>
              <a:ext cx="1804151" cy="1419733"/>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12">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grpSp>
        <p:nvGrpSpPr>
          <p:cNvPr id="506" name="Group 4">
            <a:extLst>
              <a:ext uri="{FF2B5EF4-FFF2-40B4-BE49-F238E27FC236}">
                <a16:creationId xmlns:a16="http://schemas.microsoft.com/office/drawing/2014/main" id="{224DCB3A-B1E0-6373-65B4-F067B02E701B}"/>
              </a:ext>
            </a:extLst>
          </p:cNvPr>
          <p:cNvGrpSpPr/>
          <p:nvPr/>
        </p:nvGrpSpPr>
        <p:grpSpPr>
          <a:xfrm rot="9200317">
            <a:off x="12111339" y="2995999"/>
            <a:ext cx="4760640" cy="3741835"/>
            <a:chOff x="0" y="0"/>
            <a:chExt cx="1804151" cy="1419733"/>
          </a:xfrm>
        </p:grpSpPr>
        <p:sp>
          <p:nvSpPr>
            <p:cNvPr id="507" name="Freeform 5">
              <a:extLst>
                <a:ext uri="{FF2B5EF4-FFF2-40B4-BE49-F238E27FC236}">
                  <a16:creationId xmlns:a16="http://schemas.microsoft.com/office/drawing/2014/main" id="{7405DD7C-DF00-152A-AD48-72FA31C85F02}"/>
                </a:ext>
              </a:extLst>
            </p:cNvPr>
            <p:cNvSpPr/>
            <p:nvPr/>
          </p:nvSpPr>
          <p:spPr>
            <a:xfrm rot="1611751">
              <a:off x="0" y="0"/>
              <a:ext cx="1804151" cy="1419733"/>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13">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grpSp>
        <p:nvGrpSpPr>
          <p:cNvPr id="508" name="Group 507">
            <a:extLst>
              <a:ext uri="{FF2B5EF4-FFF2-40B4-BE49-F238E27FC236}">
                <a16:creationId xmlns:a16="http://schemas.microsoft.com/office/drawing/2014/main" id="{AED968A7-EBE7-8605-3362-16C294216506}"/>
              </a:ext>
            </a:extLst>
          </p:cNvPr>
          <p:cNvGrpSpPr/>
          <p:nvPr/>
        </p:nvGrpSpPr>
        <p:grpSpPr>
          <a:xfrm>
            <a:off x="2057400" y="1249097"/>
            <a:ext cx="11331916" cy="1124886"/>
            <a:chOff x="1469683" y="1303328"/>
            <a:chExt cx="11331916" cy="1124886"/>
          </a:xfrm>
        </p:grpSpPr>
        <p:sp>
          <p:nvSpPr>
            <p:cNvPr id="509" name="Freeform 7">
              <a:extLst>
                <a:ext uri="{FF2B5EF4-FFF2-40B4-BE49-F238E27FC236}">
                  <a16:creationId xmlns:a16="http://schemas.microsoft.com/office/drawing/2014/main" id="{2FAB5ECA-287A-1463-3DE2-57506E6A23B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4" cstate="print">
                <a:extLst>
                  <a:ext uri="{28A0092B-C50C-407E-A947-70E740481C1C}">
                    <a14:useLocalDpi xmlns:a14="http://schemas.microsoft.com/office/drawing/2010/main" val="0"/>
                  </a:ext>
                </a:extLst>
              </a:blip>
              <a:stretch>
                <a:fillRect/>
              </a:stretch>
            </a:blipFill>
          </p:spPr>
        </p:sp>
        <p:sp>
          <p:nvSpPr>
            <p:cNvPr id="510" name="TextBox 10">
              <a:extLst>
                <a:ext uri="{FF2B5EF4-FFF2-40B4-BE49-F238E27FC236}">
                  <a16:creationId xmlns:a16="http://schemas.microsoft.com/office/drawing/2014/main" id="{67B79FAD-2718-BBFB-7D88-27B529678D53}"/>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511" name="Freeform 3">
              <a:extLst>
                <a:ext uri="{FF2B5EF4-FFF2-40B4-BE49-F238E27FC236}">
                  <a16:creationId xmlns:a16="http://schemas.microsoft.com/office/drawing/2014/main" id="{3ED43744-6E78-AD80-8FBB-937D9BE3C9A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5"/>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9" name="TextBox 9"/>
          <p:cNvSpPr txBox="1"/>
          <p:nvPr/>
        </p:nvSpPr>
        <p:spPr>
          <a:xfrm>
            <a:off x="2248639" y="2598928"/>
            <a:ext cx="87348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Core System Features</a:t>
            </a:r>
          </a:p>
        </p:txBody>
      </p:sp>
      <p:sp>
        <p:nvSpPr>
          <p:cNvPr id="14" name="Freeform 14"/>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5">
            <a:extLst>
              <a:ext uri="{FF2B5EF4-FFF2-40B4-BE49-F238E27FC236}">
                <a16:creationId xmlns:a16="http://schemas.microsoft.com/office/drawing/2014/main" id="{2F91406B-E462-70E6-DB27-EDB68A1DB194}"/>
              </a:ext>
            </a:extLst>
          </p:cNvPr>
          <p:cNvSpPr txBox="1"/>
          <p:nvPr/>
        </p:nvSpPr>
        <p:spPr>
          <a:xfrm>
            <a:off x="1168028" y="3900709"/>
            <a:ext cx="8975769" cy="6401753"/>
          </a:xfrm>
          <a:prstGeom prst="rect">
            <a:avLst/>
          </a:prstGeom>
          <a:noFill/>
        </p:spPr>
        <p:txBody>
          <a:bodyPr wrap="square" rtlCol="0">
            <a:spAutoFit/>
          </a:bodyPr>
          <a:lstStyle/>
          <a:p>
            <a:r>
              <a:rPr lang="en-US" sz="4400" dirty="0">
                <a:solidFill>
                  <a:srgbClr val="00AAEB"/>
                </a:solidFill>
                <a:latin typeface="Lalezar"/>
                <a:cs typeface="Lalezar"/>
              </a:rPr>
              <a:t>Employee Management</a:t>
            </a:r>
          </a:p>
          <a:p>
            <a:endParaRPr lang="en-US" dirty="0"/>
          </a:p>
          <a:p>
            <a:r>
              <a:rPr lang="en-US" sz="2800" dirty="0">
                <a:solidFill>
                  <a:srgbClr val="000000"/>
                </a:solidFill>
                <a:latin typeface="Sukar"/>
                <a:cs typeface="Sukar"/>
              </a:rPr>
              <a:t>The foundation of the system is the Employee Record module, which maintains essential data:</a:t>
            </a:r>
          </a:p>
          <a:p>
            <a:pPr marL="285750" indent="-285750">
              <a:buFont typeface="Arial" panose="020B0604020202020204" pitchFamily="34" charset="0"/>
              <a:buChar char="•"/>
            </a:pPr>
            <a:r>
              <a:rPr lang="en-US" sz="2800" dirty="0">
                <a:solidFill>
                  <a:srgbClr val="000000"/>
                </a:solidFill>
                <a:latin typeface="Sukar"/>
                <a:cs typeface="Sukar"/>
              </a:rPr>
              <a:t>Unique Employee ID and Name validation.</a:t>
            </a:r>
          </a:p>
          <a:p>
            <a:pPr marL="285750" indent="-285750">
              <a:buFont typeface="Arial" panose="020B0604020202020204" pitchFamily="34" charset="0"/>
              <a:buChar char="•"/>
            </a:pPr>
            <a:r>
              <a:rPr lang="en-US" sz="2800" dirty="0">
                <a:solidFill>
                  <a:srgbClr val="000000"/>
                </a:solidFill>
                <a:latin typeface="Sukar"/>
                <a:cs typeface="Sukar"/>
              </a:rPr>
              <a:t>Role-based attributes (Position, Dept).</a:t>
            </a:r>
          </a:p>
          <a:p>
            <a:pPr marL="285750" indent="-285750">
              <a:buFont typeface="Arial" panose="020B0604020202020204" pitchFamily="34" charset="0"/>
              <a:buChar char="•"/>
            </a:pPr>
            <a:r>
              <a:rPr lang="en-US" sz="2800" dirty="0">
                <a:solidFill>
                  <a:srgbClr val="000000"/>
                </a:solidFill>
                <a:latin typeface="Sukar"/>
                <a:cs typeface="Sukar"/>
              </a:rPr>
              <a:t>Wage parameters (Monthly Salary, Hourly Rate).</a:t>
            </a:r>
          </a:p>
          <a:p>
            <a:pPr marL="285750" indent="-285750">
              <a:buFont typeface="Arial" panose="020B0604020202020204" pitchFamily="34" charset="0"/>
              <a:buChar char="•"/>
            </a:pPr>
            <a:r>
              <a:rPr lang="en-US" sz="2800" dirty="0">
                <a:solidFill>
                  <a:srgbClr val="000000"/>
                </a:solidFill>
                <a:latin typeface="Sukar"/>
                <a:cs typeface="Sukar"/>
              </a:rPr>
              <a:t>Contact Info (Phone Number, Gender).</a:t>
            </a:r>
          </a:p>
          <a:p>
            <a:br>
              <a:rPr lang="en-US" dirty="0"/>
            </a:br>
            <a:endParaRPr lang="en-US" dirty="0"/>
          </a:p>
          <a:p>
            <a:br>
              <a:rPr lang="en-US" dirty="0"/>
            </a:br>
            <a:br>
              <a:rPr lang="en-US" dirty="0"/>
            </a:br>
            <a:endParaRPr lang="en-US" dirty="0"/>
          </a:p>
          <a:p>
            <a:br>
              <a:rPr lang="en-US" dirty="0"/>
            </a:br>
            <a:endParaRPr lang="en-US" dirty="0"/>
          </a:p>
          <a:p>
            <a:br>
              <a:rPr lang="en-US" dirty="0"/>
            </a:br>
            <a:br>
              <a:rPr lang="en-US" dirty="0"/>
            </a:br>
            <a:endParaRPr lang="en-US" dirty="0"/>
          </a:p>
        </p:txBody>
      </p:sp>
      <p:grpSp>
        <p:nvGrpSpPr>
          <p:cNvPr id="17" name="Group 16">
            <a:extLst>
              <a:ext uri="{FF2B5EF4-FFF2-40B4-BE49-F238E27FC236}">
                <a16:creationId xmlns:a16="http://schemas.microsoft.com/office/drawing/2014/main" id="{74F22E05-B66A-94DE-74F8-24EF9737DB80}"/>
              </a:ext>
            </a:extLst>
          </p:cNvPr>
          <p:cNvGrpSpPr/>
          <p:nvPr/>
        </p:nvGrpSpPr>
        <p:grpSpPr>
          <a:xfrm>
            <a:off x="11325365" y="623826"/>
            <a:ext cx="6925719" cy="17939934"/>
            <a:chOff x="143871" y="655040"/>
            <a:chExt cx="7332258" cy="17939934"/>
          </a:xfrm>
        </p:grpSpPr>
        <p:grpSp>
          <p:nvGrpSpPr>
            <p:cNvPr id="18" name="Group 2">
              <a:extLst>
                <a:ext uri="{FF2B5EF4-FFF2-40B4-BE49-F238E27FC236}">
                  <a16:creationId xmlns:a16="http://schemas.microsoft.com/office/drawing/2014/main" id="{FD165CF6-4525-A56B-B198-AC36A3E4F58A}"/>
                </a:ext>
              </a:extLst>
            </p:cNvPr>
            <p:cNvGrpSpPr/>
            <p:nvPr/>
          </p:nvGrpSpPr>
          <p:grpSpPr>
            <a:xfrm rot="3723437">
              <a:off x="2823561" y="3324686"/>
              <a:ext cx="1767888" cy="228546"/>
              <a:chOff x="0" y="0"/>
              <a:chExt cx="2357184" cy="304728"/>
            </a:xfrm>
          </p:grpSpPr>
          <p:sp>
            <p:nvSpPr>
              <p:cNvPr id="173" name="AutoShape 3">
                <a:extLst>
                  <a:ext uri="{FF2B5EF4-FFF2-40B4-BE49-F238E27FC236}">
                    <a16:creationId xmlns:a16="http://schemas.microsoft.com/office/drawing/2014/main" id="{40C2AEC6-8578-5ACD-66DE-A23E8A9BE009}"/>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74" name="AutoShape 4">
                <a:extLst>
                  <a:ext uri="{FF2B5EF4-FFF2-40B4-BE49-F238E27FC236}">
                    <a16:creationId xmlns:a16="http://schemas.microsoft.com/office/drawing/2014/main" id="{A9D4FEB8-EBD5-8108-7C1A-46565951D8E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75" name="AutoShape 5">
                <a:extLst>
                  <a:ext uri="{FF2B5EF4-FFF2-40B4-BE49-F238E27FC236}">
                    <a16:creationId xmlns:a16="http://schemas.microsoft.com/office/drawing/2014/main" id="{144DFC60-62D9-EF1A-BAFF-915DEB06F548}"/>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9" name="Group 6">
              <a:extLst>
                <a:ext uri="{FF2B5EF4-FFF2-40B4-BE49-F238E27FC236}">
                  <a16:creationId xmlns:a16="http://schemas.microsoft.com/office/drawing/2014/main" id="{11D383B7-ABC8-0439-BC6A-900463A2B0A7}"/>
                </a:ext>
              </a:extLst>
            </p:cNvPr>
            <p:cNvGrpSpPr/>
            <p:nvPr/>
          </p:nvGrpSpPr>
          <p:grpSpPr>
            <a:xfrm rot="3723437">
              <a:off x="2832914" y="6658792"/>
              <a:ext cx="1767888" cy="228546"/>
              <a:chOff x="0" y="0"/>
              <a:chExt cx="2357184" cy="304728"/>
            </a:xfrm>
          </p:grpSpPr>
          <p:sp>
            <p:nvSpPr>
              <p:cNvPr id="170" name="AutoShape 7">
                <a:extLst>
                  <a:ext uri="{FF2B5EF4-FFF2-40B4-BE49-F238E27FC236}">
                    <a16:creationId xmlns:a16="http://schemas.microsoft.com/office/drawing/2014/main" id="{20F2EF02-4584-71D5-03A7-3EA759EF578A}"/>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71" name="AutoShape 8">
                <a:extLst>
                  <a:ext uri="{FF2B5EF4-FFF2-40B4-BE49-F238E27FC236}">
                    <a16:creationId xmlns:a16="http://schemas.microsoft.com/office/drawing/2014/main" id="{EC85A603-DED3-6D93-2FDC-063926FD1DB6}"/>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72" name="AutoShape 9">
                <a:extLst>
                  <a:ext uri="{FF2B5EF4-FFF2-40B4-BE49-F238E27FC236}">
                    <a16:creationId xmlns:a16="http://schemas.microsoft.com/office/drawing/2014/main" id="{77693085-9EA3-2E67-81DF-67342DEB4BBF}"/>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0" name="Group 10">
              <a:extLst>
                <a:ext uri="{FF2B5EF4-FFF2-40B4-BE49-F238E27FC236}">
                  <a16:creationId xmlns:a16="http://schemas.microsoft.com/office/drawing/2014/main" id="{E7A4268C-7347-A255-8DC5-8CF990EB3A36}"/>
                </a:ext>
              </a:extLst>
            </p:cNvPr>
            <p:cNvGrpSpPr/>
            <p:nvPr/>
          </p:nvGrpSpPr>
          <p:grpSpPr>
            <a:xfrm rot="3723437">
              <a:off x="2832914" y="9991076"/>
              <a:ext cx="1767888" cy="228546"/>
              <a:chOff x="0" y="0"/>
              <a:chExt cx="2357184" cy="304728"/>
            </a:xfrm>
          </p:grpSpPr>
          <p:sp>
            <p:nvSpPr>
              <p:cNvPr id="167" name="AutoShape 11">
                <a:extLst>
                  <a:ext uri="{FF2B5EF4-FFF2-40B4-BE49-F238E27FC236}">
                    <a16:creationId xmlns:a16="http://schemas.microsoft.com/office/drawing/2014/main" id="{891EF58C-747A-793C-70A4-1037032C23D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8" name="AutoShape 12">
                <a:extLst>
                  <a:ext uri="{FF2B5EF4-FFF2-40B4-BE49-F238E27FC236}">
                    <a16:creationId xmlns:a16="http://schemas.microsoft.com/office/drawing/2014/main" id="{6F162512-1A27-A187-62EF-60E76CE8A502}"/>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9" name="AutoShape 13">
                <a:extLst>
                  <a:ext uri="{FF2B5EF4-FFF2-40B4-BE49-F238E27FC236}">
                    <a16:creationId xmlns:a16="http://schemas.microsoft.com/office/drawing/2014/main" id="{A95A16DD-138A-CF4E-3870-48D9AD6E1E9B}"/>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1" name="Group 14">
              <a:extLst>
                <a:ext uri="{FF2B5EF4-FFF2-40B4-BE49-F238E27FC236}">
                  <a16:creationId xmlns:a16="http://schemas.microsoft.com/office/drawing/2014/main" id="{65EBC63E-500D-417E-D2B4-F673228D85A0}"/>
                </a:ext>
              </a:extLst>
            </p:cNvPr>
            <p:cNvGrpSpPr/>
            <p:nvPr/>
          </p:nvGrpSpPr>
          <p:grpSpPr>
            <a:xfrm rot="3723437">
              <a:off x="2845130" y="13323360"/>
              <a:ext cx="1767888" cy="228546"/>
              <a:chOff x="0" y="0"/>
              <a:chExt cx="2357184" cy="304728"/>
            </a:xfrm>
          </p:grpSpPr>
          <p:sp>
            <p:nvSpPr>
              <p:cNvPr id="164" name="AutoShape 15">
                <a:extLst>
                  <a:ext uri="{FF2B5EF4-FFF2-40B4-BE49-F238E27FC236}">
                    <a16:creationId xmlns:a16="http://schemas.microsoft.com/office/drawing/2014/main" id="{F6E1E2F0-4C58-F6EB-CBB9-FC9BD7A0075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5" name="AutoShape 16">
                <a:extLst>
                  <a:ext uri="{FF2B5EF4-FFF2-40B4-BE49-F238E27FC236}">
                    <a16:creationId xmlns:a16="http://schemas.microsoft.com/office/drawing/2014/main" id="{30594457-6D17-BE81-2CA2-911F7E7DE67B}"/>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6" name="AutoShape 17">
                <a:extLst>
                  <a:ext uri="{FF2B5EF4-FFF2-40B4-BE49-F238E27FC236}">
                    <a16:creationId xmlns:a16="http://schemas.microsoft.com/office/drawing/2014/main" id="{89BA1C7E-E4FF-3380-7766-DA875377D0E6}"/>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2" name="Group 18">
              <a:extLst>
                <a:ext uri="{FF2B5EF4-FFF2-40B4-BE49-F238E27FC236}">
                  <a16:creationId xmlns:a16="http://schemas.microsoft.com/office/drawing/2014/main" id="{3A2EF9DE-099A-D212-9168-B8BD2ADCA789}"/>
                </a:ext>
              </a:extLst>
            </p:cNvPr>
            <p:cNvGrpSpPr/>
            <p:nvPr/>
          </p:nvGrpSpPr>
          <p:grpSpPr>
            <a:xfrm rot="3723437">
              <a:off x="2816402" y="16655644"/>
              <a:ext cx="1767888" cy="228546"/>
              <a:chOff x="0" y="0"/>
              <a:chExt cx="2357184" cy="304728"/>
            </a:xfrm>
          </p:grpSpPr>
          <p:sp>
            <p:nvSpPr>
              <p:cNvPr id="161" name="AutoShape 19">
                <a:extLst>
                  <a:ext uri="{FF2B5EF4-FFF2-40B4-BE49-F238E27FC236}">
                    <a16:creationId xmlns:a16="http://schemas.microsoft.com/office/drawing/2014/main" id="{D1292F56-5FD1-3FA3-A301-C8A94B3595C7}"/>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62" name="AutoShape 20">
                <a:extLst>
                  <a:ext uri="{FF2B5EF4-FFF2-40B4-BE49-F238E27FC236}">
                    <a16:creationId xmlns:a16="http://schemas.microsoft.com/office/drawing/2014/main" id="{06C8B0CA-B0B6-D274-79D0-CC87658C5C7A}"/>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3" name="AutoShape 21">
                <a:extLst>
                  <a:ext uri="{FF2B5EF4-FFF2-40B4-BE49-F238E27FC236}">
                    <a16:creationId xmlns:a16="http://schemas.microsoft.com/office/drawing/2014/main" id="{EBB24C76-0603-7557-30DC-E3A6D27ACE0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3" name="Group 22">
              <a:extLst>
                <a:ext uri="{FF2B5EF4-FFF2-40B4-BE49-F238E27FC236}">
                  <a16:creationId xmlns:a16="http://schemas.microsoft.com/office/drawing/2014/main" id="{C90431F2-28AE-2FB4-CF89-D93FA091844D}"/>
                </a:ext>
              </a:extLst>
            </p:cNvPr>
            <p:cNvGrpSpPr/>
            <p:nvPr/>
          </p:nvGrpSpPr>
          <p:grpSpPr>
            <a:xfrm rot="-3629133">
              <a:off x="2803805" y="4982833"/>
              <a:ext cx="1767888" cy="228546"/>
              <a:chOff x="0" y="0"/>
              <a:chExt cx="2357184" cy="304728"/>
            </a:xfrm>
          </p:grpSpPr>
          <p:sp>
            <p:nvSpPr>
              <p:cNvPr id="158" name="AutoShape 23">
                <a:extLst>
                  <a:ext uri="{FF2B5EF4-FFF2-40B4-BE49-F238E27FC236}">
                    <a16:creationId xmlns:a16="http://schemas.microsoft.com/office/drawing/2014/main" id="{6F060E0B-3825-F392-1D5E-66ED344F07F5}"/>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9" name="AutoShape 24">
                <a:extLst>
                  <a:ext uri="{FF2B5EF4-FFF2-40B4-BE49-F238E27FC236}">
                    <a16:creationId xmlns:a16="http://schemas.microsoft.com/office/drawing/2014/main" id="{9DBDE2B2-C3F4-6282-4106-1401A2A691C9}"/>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60" name="AutoShape 25">
                <a:extLst>
                  <a:ext uri="{FF2B5EF4-FFF2-40B4-BE49-F238E27FC236}">
                    <a16:creationId xmlns:a16="http://schemas.microsoft.com/office/drawing/2014/main" id="{5B2D52D7-CA2A-CF9F-D9B6-4850A36E5DDD}"/>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4" name="Group 26">
              <a:extLst>
                <a:ext uri="{FF2B5EF4-FFF2-40B4-BE49-F238E27FC236}">
                  <a16:creationId xmlns:a16="http://schemas.microsoft.com/office/drawing/2014/main" id="{8A3EA3C9-7F84-4E4D-DDE4-B43D532865AB}"/>
                </a:ext>
              </a:extLst>
            </p:cNvPr>
            <p:cNvGrpSpPr/>
            <p:nvPr/>
          </p:nvGrpSpPr>
          <p:grpSpPr>
            <a:xfrm rot="-3629133">
              <a:off x="2788725" y="8316939"/>
              <a:ext cx="1767888" cy="228546"/>
              <a:chOff x="0" y="0"/>
              <a:chExt cx="2357184" cy="304728"/>
            </a:xfrm>
          </p:grpSpPr>
          <p:sp>
            <p:nvSpPr>
              <p:cNvPr id="155" name="AutoShape 27">
                <a:extLst>
                  <a:ext uri="{FF2B5EF4-FFF2-40B4-BE49-F238E27FC236}">
                    <a16:creationId xmlns:a16="http://schemas.microsoft.com/office/drawing/2014/main" id="{CFFE0120-DB62-57E0-7F87-F3479DBF9BA8}"/>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6" name="AutoShape 28">
                <a:extLst>
                  <a:ext uri="{FF2B5EF4-FFF2-40B4-BE49-F238E27FC236}">
                    <a16:creationId xmlns:a16="http://schemas.microsoft.com/office/drawing/2014/main" id="{A8467930-66B1-D561-B796-0E00D5CF433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7" name="AutoShape 29">
                <a:extLst>
                  <a:ext uri="{FF2B5EF4-FFF2-40B4-BE49-F238E27FC236}">
                    <a16:creationId xmlns:a16="http://schemas.microsoft.com/office/drawing/2014/main" id="{2DDE61EA-C5D5-0CB3-EB91-1EF1F161E6A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5" name="Group 30">
              <a:extLst>
                <a:ext uri="{FF2B5EF4-FFF2-40B4-BE49-F238E27FC236}">
                  <a16:creationId xmlns:a16="http://schemas.microsoft.com/office/drawing/2014/main" id="{2B2DEBB3-B096-F5BB-EB30-3E88761E4EF3}"/>
                </a:ext>
              </a:extLst>
            </p:cNvPr>
            <p:cNvGrpSpPr/>
            <p:nvPr/>
          </p:nvGrpSpPr>
          <p:grpSpPr>
            <a:xfrm rot="-3629133">
              <a:off x="2788725" y="11649223"/>
              <a:ext cx="1767888" cy="228546"/>
              <a:chOff x="0" y="0"/>
              <a:chExt cx="2357184" cy="304728"/>
            </a:xfrm>
          </p:grpSpPr>
          <p:sp>
            <p:nvSpPr>
              <p:cNvPr id="152" name="AutoShape 31">
                <a:extLst>
                  <a:ext uri="{FF2B5EF4-FFF2-40B4-BE49-F238E27FC236}">
                    <a16:creationId xmlns:a16="http://schemas.microsoft.com/office/drawing/2014/main" id="{9B8FB779-2E05-5A64-B699-5ABC901D297D}"/>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3" name="AutoShape 32">
                <a:extLst>
                  <a:ext uri="{FF2B5EF4-FFF2-40B4-BE49-F238E27FC236}">
                    <a16:creationId xmlns:a16="http://schemas.microsoft.com/office/drawing/2014/main" id="{EC51FC11-08D0-B5C8-47EB-741C388C97DE}"/>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4" name="AutoShape 33">
                <a:extLst>
                  <a:ext uri="{FF2B5EF4-FFF2-40B4-BE49-F238E27FC236}">
                    <a16:creationId xmlns:a16="http://schemas.microsoft.com/office/drawing/2014/main" id="{18210591-623D-A7BE-8E7F-E86BD6DD69D4}"/>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6" name="Group 34">
              <a:extLst>
                <a:ext uri="{FF2B5EF4-FFF2-40B4-BE49-F238E27FC236}">
                  <a16:creationId xmlns:a16="http://schemas.microsoft.com/office/drawing/2014/main" id="{22E95BF4-924E-FF8C-7965-3FD6E00A1CEF}"/>
                </a:ext>
              </a:extLst>
            </p:cNvPr>
            <p:cNvGrpSpPr/>
            <p:nvPr/>
          </p:nvGrpSpPr>
          <p:grpSpPr>
            <a:xfrm rot="-3629133">
              <a:off x="2759998" y="14981507"/>
              <a:ext cx="1767888" cy="228546"/>
              <a:chOff x="0" y="0"/>
              <a:chExt cx="2357184" cy="304728"/>
            </a:xfrm>
          </p:grpSpPr>
          <p:sp>
            <p:nvSpPr>
              <p:cNvPr id="149" name="AutoShape 35">
                <a:extLst>
                  <a:ext uri="{FF2B5EF4-FFF2-40B4-BE49-F238E27FC236}">
                    <a16:creationId xmlns:a16="http://schemas.microsoft.com/office/drawing/2014/main" id="{0B9BB9C4-9604-9074-1CDE-2923EA4ACAA4}"/>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150" name="AutoShape 36">
                <a:extLst>
                  <a:ext uri="{FF2B5EF4-FFF2-40B4-BE49-F238E27FC236}">
                    <a16:creationId xmlns:a16="http://schemas.microsoft.com/office/drawing/2014/main" id="{1E7DF193-83BF-7C22-AC45-B3F95123E1B8}"/>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151" name="AutoShape 37">
                <a:extLst>
                  <a:ext uri="{FF2B5EF4-FFF2-40B4-BE49-F238E27FC236}">
                    <a16:creationId xmlns:a16="http://schemas.microsoft.com/office/drawing/2014/main" id="{620A5E0A-B9B9-2BC1-D5D4-DF17ED3DA0E9}"/>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27" name="Group 38">
              <a:extLst>
                <a:ext uri="{FF2B5EF4-FFF2-40B4-BE49-F238E27FC236}">
                  <a16:creationId xmlns:a16="http://schemas.microsoft.com/office/drawing/2014/main" id="{B464E33B-4FB8-9AF6-C2FE-555D21E217A7}"/>
                </a:ext>
              </a:extLst>
            </p:cNvPr>
            <p:cNvGrpSpPr/>
            <p:nvPr/>
          </p:nvGrpSpPr>
          <p:grpSpPr>
            <a:xfrm>
              <a:off x="2747846" y="2081482"/>
              <a:ext cx="1046078" cy="837735"/>
              <a:chOff x="0" y="0"/>
              <a:chExt cx="1394770" cy="1116980"/>
            </a:xfrm>
          </p:grpSpPr>
          <p:grpSp>
            <p:nvGrpSpPr>
              <p:cNvPr id="145" name="Group 39">
                <a:extLst>
                  <a:ext uri="{FF2B5EF4-FFF2-40B4-BE49-F238E27FC236}">
                    <a16:creationId xmlns:a16="http://schemas.microsoft.com/office/drawing/2014/main" id="{D614C419-BA5E-A13A-C79A-11C587B06B3B}"/>
                  </a:ext>
                </a:extLst>
              </p:cNvPr>
              <p:cNvGrpSpPr/>
              <p:nvPr/>
            </p:nvGrpSpPr>
            <p:grpSpPr>
              <a:xfrm>
                <a:off x="0" y="0"/>
                <a:ext cx="1394770" cy="1116980"/>
                <a:chOff x="0" y="0"/>
                <a:chExt cx="812800" cy="650918"/>
              </a:xfrm>
            </p:grpSpPr>
            <p:sp>
              <p:nvSpPr>
                <p:cNvPr id="147" name="Freeform 40">
                  <a:extLst>
                    <a:ext uri="{FF2B5EF4-FFF2-40B4-BE49-F238E27FC236}">
                      <a16:creationId xmlns:a16="http://schemas.microsoft.com/office/drawing/2014/main" id="{B616E107-85D1-0A5F-5CB0-8BCA0FA55E15}"/>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1565C0"/>
                </a:solidFill>
              </p:spPr>
            </p:sp>
            <p:sp>
              <p:nvSpPr>
                <p:cNvPr id="148" name="TextBox 41">
                  <a:extLst>
                    <a:ext uri="{FF2B5EF4-FFF2-40B4-BE49-F238E27FC236}">
                      <a16:creationId xmlns:a16="http://schemas.microsoft.com/office/drawing/2014/main" id="{B19B58B7-3E1F-4A4D-4437-68DDFE94653D}"/>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46" name="TextBox 42">
                <a:extLst>
                  <a:ext uri="{FF2B5EF4-FFF2-40B4-BE49-F238E27FC236}">
                    <a16:creationId xmlns:a16="http://schemas.microsoft.com/office/drawing/2014/main" id="{69A3E76E-B22D-5B30-9D60-204F7A43ECE8}"/>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01</a:t>
                </a:r>
              </a:p>
            </p:txBody>
          </p:sp>
        </p:grpSp>
        <p:grpSp>
          <p:nvGrpSpPr>
            <p:cNvPr id="28" name="Group 43">
              <a:extLst>
                <a:ext uri="{FF2B5EF4-FFF2-40B4-BE49-F238E27FC236}">
                  <a16:creationId xmlns:a16="http://schemas.microsoft.com/office/drawing/2014/main" id="{11DA1792-CD66-44D1-C95F-948934FC58F6}"/>
                </a:ext>
              </a:extLst>
            </p:cNvPr>
            <p:cNvGrpSpPr/>
            <p:nvPr/>
          </p:nvGrpSpPr>
          <p:grpSpPr>
            <a:xfrm>
              <a:off x="2757198" y="5415589"/>
              <a:ext cx="1046078" cy="837735"/>
              <a:chOff x="0" y="0"/>
              <a:chExt cx="1394770" cy="1116980"/>
            </a:xfrm>
          </p:grpSpPr>
          <p:grpSp>
            <p:nvGrpSpPr>
              <p:cNvPr id="141" name="Group 44">
                <a:extLst>
                  <a:ext uri="{FF2B5EF4-FFF2-40B4-BE49-F238E27FC236}">
                    <a16:creationId xmlns:a16="http://schemas.microsoft.com/office/drawing/2014/main" id="{2A44B2FC-2C9F-AAF2-558B-B08EA6FB416B}"/>
                  </a:ext>
                </a:extLst>
              </p:cNvPr>
              <p:cNvGrpSpPr/>
              <p:nvPr/>
            </p:nvGrpSpPr>
            <p:grpSpPr>
              <a:xfrm>
                <a:off x="0" y="0"/>
                <a:ext cx="1394770" cy="1116980"/>
                <a:chOff x="0" y="0"/>
                <a:chExt cx="812800" cy="650918"/>
              </a:xfrm>
            </p:grpSpPr>
            <p:sp>
              <p:nvSpPr>
                <p:cNvPr id="143" name="Freeform 45">
                  <a:extLst>
                    <a:ext uri="{FF2B5EF4-FFF2-40B4-BE49-F238E27FC236}">
                      <a16:creationId xmlns:a16="http://schemas.microsoft.com/office/drawing/2014/main" id="{8CE9E0D1-DA2D-F0EA-E954-21E4F5BB2FE6}"/>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F8D16"/>
                </a:solidFill>
              </p:spPr>
            </p:sp>
            <p:sp>
              <p:nvSpPr>
                <p:cNvPr id="144" name="TextBox 46">
                  <a:extLst>
                    <a:ext uri="{FF2B5EF4-FFF2-40B4-BE49-F238E27FC236}">
                      <a16:creationId xmlns:a16="http://schemas.microsoft.com/office/drawing/2014/main" id="{6E87413A-47DE-D2E9-7F16-EF0BAA4B74FF}"/>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42" name="TextBox 47">
                <a:extLst>
                  <a:ext uri="{FF2B5EF4-FFF2-40B4-BE49-F238E27FC236}">
                    <a16:creationId xmlns:a16="http://schemas.microsoft.com/office/drawing/2014/main" id="{5BE6281C-4E10-7762-92D6-6322EEEC7924}"/>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03</a:t>
                </a:r>
              </a:p>
            </p:txBody>
          </p:sp>
        </p:grpSp>
        <p:grpSp>
          <p:nvGrpSpPr>
            <p:cNvPr id="29" name="Group 48">
              <a:extLst>
                <a:ext uri="{FF2B5EF4-FFF2-40B4-BE49-F238E27FC236}">
                  <a16:creationId xmlns:a16="http://schemas.microsoft.com/office/drawing/2014/main" id="{11CDC844-ADB8-6377-DF95-777D695D2F81}"/>
                </a:ext>
              </a:extLst>
            </p:cNvPr>
            <p:cNvGrpSpPr/>
            <p:nvPr/>
          </p:nvGrpSpPr>
          <p:grpSpPr>
            <a:xfrm>
              <a:off x="2757198" y="8747872"/>
              <a:ext cx="1046078" cy="837735"/>
              <a:chOff x="0" y="0"/>
              <a:chExt cx="1394770" cy="1116980"/>
            </a:xfrm>
          </p:grpSpPr>
          <p:grpSp>
            <p:nvGrpSpPr>
              <p:cNvPr id="137" name="Group 49">
                <a:extLst>
                  <a:ext uri="{FF2B5EF4-FFF2-40B4-BE49-F238E27FC236}">
                    <a16:creationId xmlns:a16="http://schemas.microsoft.com/office/drawing/2014/main" id="{3AE5B5D7-66B8-B5F2-0199-6E5F3A341D3E}"/>
                  </a:ext>
                </a:extLst>
              </p:cNvPr>
              <p:cNvGrpSpPr/>
              <p:nvPr/>
            </p:nvGrpSpPr>
            <p:grpSpPr>
              <a:xfrm>
                <a:off x="0" y="0"/>
                <a:ext cx="1394770" cy="1116980"/>
                <a:chOff x="0" y="0"/>
                <a:chExt cx="812800" cy="650918"/>
              </a:xfrm>
            </p:grpSpPr>
            <p:sp>
              <p:nvSpPr>
                <p:cNvPr id="139" name="Freeform 50">
                  <a:extLst>
                    <a:ext uri="{FF2B5EF4-FFF2-40B4-BE49-F238E27FC236}">
                      <a16:creationId xmlns:a16="http://schemas.microsoft.com/office/drawing/2014/main" id="{9619C084-85AC-53F8-EB65-24635E746EBE}"/>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8C00"/>
                </a:solidFill>
              </p:spPr>
            </p:sp>
            <p:sp>
              <p:nvSpPr>
                <p:cNvPr id="140" name="TextBox 51">
                  <a:extLst>
                    <a:ext uri="{FF2B5EF4-FFF2-40B4-BE49-F238E27FC236}">
                      <a16:creationId xmlns:a16="http://schemas.microsoft.com/office/drawing/2014/main" id="{28DE9F56-962E-BA83-21FF-5EB1101F031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8" name="TextBox 52">
                <a:extLst>
                  <a:ext uri="{FF2B5EF4-FFF2-40B4-BE49-F238E27FC236}">
                    <a16:creationId xmlns:a16="http://schemas.microsoft.com/office/drawing/2014/main" id="{8EDDBED6-AFA4-8827-7675-5B70E18242FD}"/>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05</a:t>
                </a:r>
              </a:p>
            </p:txBody>
          </p:sp>
        </p:grpSp>
        <p:grpSp>
          <p:nvGrpSpPr>
            <p:cNvPr id="30" name="Group 53">
              <a:extLst>
                <a:ext uri="{FF2B5EF4-FFF2-40B4-BE49-F238E27FC236}">
                  <a16:creationId xmlns:a16="http://schemas.microsoft.com/office/drawing/2014/main" id="{CBE706B8-42A8-1818-FE62-DBA953409BBB}"/>
                </a:ext>
              </a:extLst>
            </p:cNvPr>
            <p:cNvGrpSpPr/>
            <p:nvPr/>
          </p:nvGrpSpPr>
          <p:grpSpPr>
            <a:xfrm>
              <a:off x="2769415" y="12080156"/>
              <a:ext cx="1046078" cy="837735"/>
              <a:chOff x="0" y="0"/>
              <a:chExt cx="1394770" cy="1116980"/>
            </a:xfrm>
          </p:grpSpPr>
          <p:grpSp>
            <p:nvGrpSpPr>
              <p:cNvPr id="133" name="Group 54">
                <a:extLst>
                  <a:ext uri="{FF2B5EF4-FFF2-40B4-BE49-F238E27FC236}">
                    <a16:creationId xmlns:a16="http://schemas.microsoft.com/office/drawing/2014/main" id="{10946F5F-AA35-E463-F026-DC34B23DA8FB}"/>
                  </a:ext>
                </a:extLst>
              </p:cNvPr>
              <p:cNvGrpSpPr/>
              <p:nvPr/>
            </p:nvGrpSpPr>
            <p:grpSpPr>
              <a:xfrm>
                <a:off x="0" y="0"/>
                <a:ext cx="1394770" cy="1116980"/>
                <a:chOff x="0" y="0"/>
                <a:chExt cx="812800" cy="650918"/>
              </a:xfrm>
            </p:grpSpPr>
            <p:sp>
              <p:nvSpPr>
                <p:cNvPr id="135" name="Freeform 55">
                  <a:extLst>
                    <a:ext uri="{FF2B5EF4-FFF2-40B4-BE49-F238E27FC236}">
                      <a16:creationId xmlns:a16="http://schemas.microsoft.com/office/drawing/2014/main" id="{A9581F3A-66D5-5BBA-BABC-699E60EC0433}"/>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32F2F"/>
                </a:solidFill>
              </p:spPr>
            </p:sp>
            <p:sp>
              <p:nvSpPr>
                <p:cNvPr id="136" name="TextBox 56">
                  <a:extLst>
                    <a:ext uri="{FF2B5EF4-FFF2-40B4-BE49-F238E27FC236}">
                      <a16:creationId xmlns:a16="http://schemas.microsoft.com/office/drawing/2014/main" id="{1BB29A39-F519-DA07-0518-52A08B6B81A3}"/>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4" name="TextBox 57">
                <a:extLst>
                  <a:ext uri="{FF2B5EF4-FFF2-40B4-BE49-F238E27FC236}">
                    <a16:creationId xmlns:a16="http://schemas.microsoft.com/office/drawing/2014/main" id="{FAED8B47-B2C3-3FED-1D9E-D6C8C9883C2F}"/>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07</a:t>
                </a:r>
              </a:p>
            </p:txBody>
          </p:sp>
        </p:grpSp>
        <p:grpSp>
          <p:nvGrpSpPr>
            <p:cNvPr id="31" name="Group 58">
              <a:extLst>
                <a:ext uri="{FF2B5EF4-FFF2-40B4-BE49-F238E27FC236}">
                  <a16:creationId xmlns:a16="http://schemas.microsoft.com/office/drawing/2014/main" id="{CA375B14-3133-23C2-F6A0-FB5171EFA8F2}"/>
                </a:ext>
              </a:extLst>
            </p:cNvPr>
            <p:cNvGrpSpPr/>
            <p:nvPr/>
          </p:nvGrpSpPr>
          <p:grpSpPr>
            <a:xfrm>
              <a:off x="2740687" y="15412440"/>
              <a:ext cx="1046078" cy="837735"/>
              <a:chOff x="0" y="0"/>
              <a:chExt cx="1394770" cy="1116980"/>
            </a:xfrm>
          </p:grpSpPr>
          <p:grpSp>
            <p:nvGrpSpPr>
              <p:cNvPr id="129" name="Group 59">
                <a:extLst>
                  <a:ext uri="{FF2B5EF4-FFF2-40B4-BE49-F238E27FC236}">
                    <a16:creationId xmlns:a16="http://schemas.microsoft.com/office/drawing/2014/main" id="{18F37187-0187-C72D-8B11-3FD017B58997}"/>
                  </a:ext>
                </a:extLst>
              </p:cNvPr>
              <p:cNvGrpSpPr/>
              <p:nvPr/>
            </p:nvGrpSpPr>
            <p:grpSpPr>
              <a:xfrm>
                <a:off x="0" y="0"/>
                <a:ext cx="1394770" cy="1116980"/>
                <a:chOff x="0" y="0"/>
                <a:chExt cx="812800" cy="650918"/>
              </a:xfrm>
            </p:grpSpPr>
            <p:sp>
              <p:nvSpPr>
                <p:cNvPr id="131" name="Freeform 60">
                  <a:extLst>
                    <a:ext uri="{FF2B5EF4-FFF2-40B4-BE49-F238E27FC236}">
                      <a16:creationId xmlns:a16="http://schemas.microsoft.com/office/drawing/2014/main" id="{AB973CF5-B628-E747-767B-C3440E96AB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B15D3"/>
                </a:solidFill>
              </p:spPr>
            </p:sp>
            <p:sp>
              <p:nvSpPr>
                <p:cNvPr id="132" name="TextBox 61">
                  <a:extLst>
                    <a:ext uri="{FF2B5EF4-FFF2-40B4-BE49-F238E27FC236}">
                      <a16:creationId xmlns:a16="http://schemas.microsoft.com/office/drawing/2014/main" id="{895FCCB9-936D-B483-EDC6-346E008CE339}"/>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30" name="TextBox 62">
                <a:extLst>
                  <a:ext uri="{FF2B5EF4-FFF2-40B4-BE49-F238E27FC236}">
                    <a16:creationId xmlns:a16="http://schemas.microsoft.com/office/drawing/2014/main" id="{D8E764F3-FBC4-9448-3590-48C9181A2C9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09</a:t>
                </a:r>
              </a:p>
            </p:txBody>
          </p:sp>
        </p:grpSp>
        <p:grpSp>
          <p:nvGrpSpPr>
            <p:cNvPr id="32" name="Group 63">
              <a:extLst>
                <a:ext uri="{FF2B5EF4-FFF2-40B4-BE49-F238E27FC236}">
                  <a16:creationId xmlns:a16="http://schemas.microsoft.com/office/drawing/2014/main" id="{C2A40A67-F126-8A90-0067-44AC81DFE2F8}"/>
                </a:ext>
              </a:extLst>
            </p:cNvPr>
            <p:cNvGrpSpPr/>
            <p:nvPr/>
          </p:nvGrpSpPr>
          <p:grpSpPr>
            <a:xfrm>
              <a:off x="3602382" y="3748535"/>
              <a:ext cx="1046078" cy="837735"/>
              <a:chOff x="0" y="0"/>
              <a:chExt cx="1394770" cy="1116980"/>
            </a:xfrm>
          </p:grpSpPr>
          <p:grpSp>
            <p:nvGrpSpPr>
              <p:cNvPr id="125" name="Group 64">
                <a:extLst>
                  <a:ext uri="{FF2B5EF4-FFF2-40B4-BE49-F238E27FC236}">
                    <a16:creationId xmlns:a16="http://schemas.microsoft.com/office/drawing/2014/main" id="{194985F8-F73B-08E9-1E3B-0AE3D012D99B}"/>
                  </a:ext>
                </a:extLst>
              </p:cNvPr>
              <p:cNvGrpSpPr/>
              <p:nvPr/>
            </p:nvGrpSpPr>
            <p:grpSpPr>
              <a:xfrm>
                <a:off x="0" y="0"/>
                <a:ext cx="1394770" cy="1116980"/>
                <a:chOff x="0" y="0"/>
                <a:chExt cx="812800" cy="650918"/>
              </a:xfrm>
            </p:grpSpPr>
            <p:sp>
              <p:nvSpPr>
                <p:cNvPr id="127" name="Freeform 65">
                  <a:extLst>
                    <a:ext uri="{FF2B5EF4-FFF2-40B4-BE49-F238E27FC236}">
                      <a16:creationId xmlns:a16="http://schemas.microsoft.com/office/drawing/2014/main" id="{6B4571EB-70FA-83F9-9866-2C71FAD38DE8}"/>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C02D"/>
                </a:solidFill>
              </p:spPr>
            </p:sp>
            <p:sp>
              <p:nvSpPr>
                <p:cNvPr id="128" name="TextBox 66">
                  <a:extLst>
                    <a:ext uri="{FF2B5EF4-FFF2-40B4-BE49-F238E27FC236}">
                      <a16:creationId xmlns:a16="http://schemas.microsoft.com/office/drawing/2014/main" id="{818A7973-0007-EC4F-2611-A009EE36BE9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26" name="TextBox 67">
                <a:extLst>
                  <a:ext uri="{FF2B5EF4-FFF2-40B4-BE49-F238E27FC236}">
                    <a16:creationId xmlns:a16="http://schemas.microsoft.com/office/drawing/2014/main" id="{039AAF2C-9E54-5911-2AA1-CE68BC322E5C}"/>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02</a:t>
                </a:r>
              </a:p>
            </p:txBody>
          </p:sp>
        </p:grpSp>
        <p:grpSp>
          <p:nvGrpSpPr>
            <p:cNvPr id="33" name="Group 68">
              <a:extLst>
                <a:ext uri="{FF2B5EF4-FFF2-40B4-BE49-F238E27FC236}">
                  <a16:creationId xmlns:a16="http://schemas.microsoft.com/office/drawing/2014/main" id="{FF0FA5E1-FAEB-EC72-9D3A-777AD64B752F}"/>
                </a:ext>
              </a:extLst>
            </p:cNvPr>
            <p:cNvGrpSpPr/>
            <p:nvPr/>
          </p:nvGrpSpPr>
          <p:grpSpPr>
            <a:xfrm>
              <a:off x="3587302" y="7082642"/>
              <a:ext cx="1046078" cy="837735"/>
              <a:chOff x="0" y="0"/>
              <a:chExt cx="1394770" cy="1116980"/>
            </a:xfrm>
          </p:grpSpPr>
          <p:grpSp>
            <p:nvGrpSpPr>
              <p:cNvPr id="121" name="Group 69">
                <a:extLst>
                  <a:ext uri="{FF2B5EF4-FFF2-40B4-BE49-F238E27FC236}">
                    <a16:creationId xmlns:a16="http://schemas.microsoft.com/office/drawing/2014/main" id="{133F54DD-332C-2FE8-8E73-5C909F2ED2EE}"/>
                  </a:ext>
                </a:extLst>
              </p:cNvPr>
              <p:cNvGrpSpPr/>
              <p:nvPr/>
            </p:nvGrpSpPr>
            <p:grpSpPr>
              <a:xfrm>
                <a:off x="0" y="0"/>
                <a:ext cx="1394770" cy="1116980"/>
                <a:chOff x="0" y="0"/>
                <a:chExt cx="812800" cy="650918"/>
              </a:xfrm>
            </p:grpSpPr>
            <p:sp>
              <p:nvSpPr>
                <p:cNvPr id="123" name="Freeform 70">
                  <a:extLst>
                    <a:ext uri="{FF2B5EF4-FFF2-40B4-BE49-F238E27FC236}">
                      <a16:creationId xmlns:a16="http://schemas.microsoft.com/office/drawing/2014/main" id="{C0A0C5BA-8303-23D1-B235-B2766F7422C1}"/>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EAFA0"/>
                </a:solidFill>
              </p:spPr>
            </p:sp>
            <p:sp>
              <p:nvSpPr>
                <p:cNvPr id="124" name="TextBox 71">
                  <a:extLst>
                    <a:ext uri="{FF2B5EF4-FFF2-40B4-BE49-F238E27FC236}">
                      <a16:creationId xmlns:a16="http://schemas.microsoft.com/office/drawing/2014/main" id="{E59B4966-6A8F-F542-9FB5-15230A31071B}"/>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22" name="TextBox 72">
                <a:extLst>
                  <a:ext uri="{FF2B5EF4-FFF2-40B4-BE49-F238E27FC236}">
                    <a16:creationId xmlns:a16="http://schemas.microsoft.com/office/drawing/2014/main" id="{BB963E87-FB70-D4EA-C95B-DFEAFF37CD85}"/>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04</a:t>
                </a:r>
              </a:p>
            </p:txBody>
          </p:sp>
        </p:grpSp>
        <p:grpSp>
          <p:nvGrpSpPr>
            <p:cNvPr id="34" name="Group 73">
              <a:extLst>
                <a:ext uri="{FF2B5EF4-FFF2-40B4-BE49-F238E27FC236}">
                  <a16:creationId xmlns:a16="http://schemas.microsoft.com/office/drawing/2014/main" id="{4990E6BB-CE53-ACC5-4AB7-D59F6F08B959}"/>
                </a:ext>
              </a:extLst>
            </p:cNvPr>
            <p:cNvGrpSpPr/>
            <p:nvPr/>
          </p:nvGrpSpPr>
          <p:grpSpPr>
            <a:xfrm>
              <a:off x="3587302" y="10414926"/>
              <a:ext cx="1046078" cy="837735"/>
              <a:chOff x="0" y="0"/>
              <a:chExt cx="1394770" cy="1116980"/>
            </a:xfrm>
          </p:grpSpPr>
          <p:grpSp>
            <p:nvGrpSpPr>
              <p:cNvPr id="117" name="Group 74">
                <a:extLst>
                  <a:ext uri="{FF2B5EF4-FFF2-40B4-BE49-F238E27FC236}">
                    <a16:creationId xmlns:a16="http://schemas.microsoft.com/office/drawing/2014/main" id="{5450CA31-F42D-C24A-1A2F-3D3B590B529A}"/>
                  </a:ext>
                </a:extLst>
              </p:cNvPr>
              <p:cNvGrpSpPr/>
              <p:nvPr/>
            </p:nvGrpSpPr>
            <p:grpSpPr>
              <a:xfrm>
                <a:off x="0" y="0"/>
                <a:ext cx="1394770" cy="1116980"/>
                <a:chOff x="0" y="0"/>
                <a:chExt cx="812800" cy="650918"/>
              </a:xfrm>
            </p:grpSpPr>
            <p:sp>
              <p:nvSpPr>
                <p:cNvPr id="119" name="Freeform 75">
                  <a:extLst>
                    <a:ext uri="{FF2B5EF4-FFF2-40B4-BE49-F238E27FC236}">
                      <a16:creationId xmlns:a16="http://schemas.microsoft.com/office/drawing/2014/main" id="{B352C5A6-FB9F-73E9-5974-E09365264CC6}"/>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chemeClr val="accent1"/>
                </a:solidFill>
              </p:spPr>
            </p:sp>
            <p:sp>
              <p:nvSpPr>
                <p:cNvPr id="120" name="TextBox 76">
                  <a:extLst>
                    <a:ext uri="{FF2B5EF4-FFF2-40B4-BE49-F238E27FC236}">
                      <a16:creationId xmlns:a16="http://schemas.microsoft.com/office/drawing/2014/main" id="{B1305F14-8B5B-E305-83CB-CB69B36D7686}"/>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8" name="TextBox 77">
                <a:extLst>
                  <a:ext uri="{FF2B5EF4-FFF2-40B4-BE49-F238E27FC236}">
                    <a16:creationId xmlns:a16="http://schemas.microsoft.com/office/drawing/2014/main" id="{76F7AABA-2E03-8AC7-9BB7-8067AB5471D4}"/>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06</a:t>
                </a:r>
              </a:p>
            </p:txBody>
          </p:sp>
        </p:grpSp>
        <p:grpSp>
          <p:nvGrpSpPr>
            <p:cNvPr id="35" name="Group 78">
              <a:extLst>
                <a:ext uri="{FF2B5EF4-FFF2-40B4-BE49-F238E27FC236}">
                  <a16:creationId xmlns:a16="http://schemas.microsoft.com/office/drawing/2014/main" id="{ED22CC18-4C79-7B41-3638-07B4483C47CC}"/>
                </a:ext>
              </a:extLst>
            </p:cNvPr>
            <p:cNvGrpSpPr/>
            <p:nvPr/>
          </p:nvGrpSpPr>
          <p:grpSpPr>
            <a:xfrm>
              <a:off x="3558574" y="13747209"/>
              <a:ext cx="1046078" cy="837735"/>
              <a:chOff x="0" y="0"/>
              <a:chExt cx="1394770" cy="1116980"/>
            </a:xfrm>
          </p:grpSpPr>
          <p:grpSp>
            <p:nvGrpSpPr>
              <p:cNvPr id="113" name="Group 79">
                <a:extLst>
                  <a:ext uri="{FF2B5EF4-FFF2-40B4-BE49-F238E27FC236}">
                    <a16:creationId xmlns:a16="http://schemas.microsoft.com/office/drawing/2014/main" id="{3CC89554-1A60-C1D5-517D-BD70AEB8FADD}"/>
                  </a:ext>
                </a:extLst>
              </p:cNvPr>
              <p:cNvGrpSpPr/>
              <p:nvPr/>
            </p:nvGrpSpPr>
            <p:grpSpPr>
              <a:xfrm>
                <a:off x="0" y="0"/>
                <a:ext cx="1394770" cy="1116980"/>
                <a:chOff x="0" y="0"/>
                <a:chExt cx="812800" cy="650918"/>
              </a:xfrm>
            </p:grpSpPr>
            <p:sp>
              <p:nvSpPr>
                <p:cNvPr id="115" name="Freeform 80">
                  <a:extLst>
                    <a:ext uri="{FF2B5EF4-FFF2-40B4-BE49-F238E27FC236}">
                      <a16:creationId xmlns:a16="http://schemas.microsoft.com/office/drawing/2014/main" id="{B34284AA-D12A-68A4-C494-C7912282B6A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903AB4"/>
                </a:solidFill>
              </p:spPr>
            </p:sp>
            <p:sp>
              <p:nvSpPr>
                <p:cNvPr id="116" name="TextBox 81">
                  <a:extLst>
                    <a:ext uri="{FF2B5EF4-FFF2-40B4-BE49-F238E27FC236}">
                      <a16:creationId xmlns:a16="http://schemas.microsoft.com/office/drawing/2014/main" id="{6AC27C23-6718-0F30-14FE-70CE83573517}"/>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4" name="TextBox 82">
                <a:extLst>
                  <a:ext uri="{FF2B5EF4-FFF2-40B4-BE49-F238E27FC236}">
                    <a16:creationId xmlns:a16="http://schemas.microsoft.com/office/drawing/2014/main" id="{8D90F119-C466-CCC6-7C9A-C36836D02A3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08</a:t>
                </a:r>
              </a:p>
            </p:txBody>
          </p:sp>
        </p:grpSp>
        <p:grpSp>
          <p:nvGrpSpPr>
            <p:cNvPr id="36" name="Group 83">
              <a:extLst>
                <a:ext uri="{FF2B5EF4-FFF2-40B4-BE49-F238E27FC236}">
                  <a16:creationId xmlns:a16="http://schemas.microsoft.com/office/drawing/2014/main" id="{690D0437-D269-60F1-BC32-2932972A0C58}"/>
                </a:ext>
              </a:extLst>
            </p:cNvPr>
            <p:cNvGrpSpPr/>
            <p:nvPr/>
          </p:nvGrpSpPr>
          <p:grpSpPr>
            <a:xfrm>
              <a:off x="3529846" y="17079493"/>
              <a:ext cx="1046078" cy="837735"/>
              <a:chOff x="0" y="0"/>
              <a:chExt cx="1394770" cy="1116980"/>
            </a:xfrm>
          </p:grpSpPr>
          <p:grpSp>
            <p:nvGrpSpPr>
              <p:cNvPr id="109" name="Group 84">
                <a:extLst>
                  <a:ext uri="{FF2B5EF4-FFF2-40B4-BE49-F238E27FC236}">
                    <a16:creationId xmlns:a16="http://schemas.microsoft.com/office/drawing/2014/main" id="{407DD520-40A1-92D2-8EB8-9AA5DB7376BD}"/>
                  </a:ext>
                </a:extLst>
              </p:cNvPr>
              <p:cNvGrpSpPr/>
              <p:nvPr/>
            </p:nvGrpSpPr>
            <p:grpSpPr>
              <a:xfrm>
                <a:off x="0" y="0"/>
                <a:ext cx="1394770" cy="1116980"/>
                <a:chOff x="0" y="0"/>
                <a:chExt cx="812800" cy="650918"/>
              </a:xfrm>
            </p:grpSpPr>
            <p:sp>
              <p:nvSpPr>
                <p:cNvPr id="111" name="Freeform 85">
                  <a:extLst>
                    <a:ext uri="{FF2B5EF4-FFF2-40B4-BE49-F238E27FC236}">
                      <a16:creationId xmlns:a16="http://schemas.microsoft.com/office/drawing/2014/main" id="{966A07CF-4A80-A10E-B7DF-416F2E91134E}"/>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AD1457"/>
                </a:solidFill>
              </p:spPr>
            </p:sp>
            <p:sp>
              <p:nvSpPr>
                <p:cNvPr id="112" name="TextBox 86">
                  <a:extLst>
                    <a:ext uri="{FF2B5EF4-FFF2-40B4-BE49-F238E27FC236}">
                      <a16:creationId xmlns:a16="http://schemas.microsoft.com/office/drawing/2014/main" id="{FEACBEAB-C2AB-F369-6A64-EEBA6CC767A4}"/>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110" name="TextBox 87">
                <a:extLst>
                  <a:ext uri="{FF2B5EF4-FFF2-40B4-BE49-F238E27FC236}">
                    <a16:creationId xmlns:a16="http://schemas.microsoft.com/office/drawing/2014/main" id="{4CFC8271-A137-78BE-9A74-C2B8AE63FDB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10</a:t>
                </a:r>
              </a:p>
            </p:txBody>
          </p:sp>
        </p:grpSp>
        <p:grpSp>
          <p:nvGrpSpPr>
            <p:cNvPr id="37" name="Group 88">
              <a:extLst>
                <a:ext uri="{FF2B5EF4-FFF2-40B4-BE49-F238E27FC236}">
                  <a16:creationId xmlns:a16="http://schemas.microsoft.com/office/drawing/2014/main" id="{D6D969EE-494E-AA5C-7C06-EEAD091FD4FE}"/>
                </a:ext>
              </a:extLst>
            </p:cNvPr>
            <p:cNvGrpSpPr/>
            <p:nvPr/>
          </p:nvGrpSpPr>
          <p:grpSpPr>
            <a:xfrm>
              <a:off x="7096125" y="1644709"/>
              <a:ext cx="380004" cy="2232310"/>
              <a:chOff x="0" y="0"/>
              <a:chExt cx="135112" cy="793710"/>
            </a:xfrm>
          </p:grpSpPr>
          <p:sp>
            <p:nvSpPr>
              <p:cNvPr id="107" name="Freeform 89">
                <a:extLst>
                  <a:ext uri="{FF2B5EF4-FFF2-40B4-BE49-F238E27FC236}">
                    <a16:creationId xmlns:a16="http://schemas.microsoft.com/office/drawing/2014/main" id="{EEF9556D-BE07-DE16-3181-10A86B5F70E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1565C0"/>
              </a:solidFill>
            </p:spPr>
          </p:sp>
          <p:sp>
            <p:nvSpPr>
              <p:cNvPr id="108" name="TextBox 90">
                <a:extLst>
                  <a:ext uri="{FF2B5EF4-FFF2-40B4-BE49-F238E27FC236}">
                    <a16:creationId xmlns:a16="http://schemas.microsoft.com/office/drawing/2014/main" id="{B6922AA5-B248-7772-7A51-9672357ACAEC}"/>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38" name="Group 91">
              <a:extLst>
                <a:ext uri="{FF2B5EF4-FFF2-40B4-BE49-F238E27FC236}">
                  <a16:creationId xmlns:a16="http://schemas.microsoft.com/office/drawing/2014/main" id="{7CF516D3-9E31-63B6-9CCE-DAF798E36D31}"/>
                </a:ext>
              </a:extLst>
            </p:cNvPr>
            <p:cNvGrpSpPr/>
            <p:nvPr/>
          </p:nvGrpSpPr>
          <p:grpSpPr>
            <a:xfrm>
              <a:off x="7086600" y="4850332"/>
              <a:ext cx="380004" cy="2232310"/>
              <a:chOff x="0" y="0"/>
              <a:chExt cx="135112" cy="793710"/>
            </a:xfrm>
          </p:grpSpPr>
          <p:sp>
            <p:nvSpPr>
              <p:cNvPr id="105" name="Freeform 92">
                <a:extLst>
                  <a:ext uri="{FF2B5EF4-FFF2-40B4-BE49-F238E27FC236}">
                    <a16:creationId xmlns:a16="http://schemas.microsoft.com/office/drawing/2014/main" id="{A52F53CD-1740-C278-7515-AC603E6237ED}"/>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F8D16"/>
              </a:solidFill>
            </p:spPr>
          </p:sp>
          <p:sp>
            <p:nvSpPr>
              <p:cNvPr id="106" name="TextBox 93">
                <a:extLst>
                  <a:ext uri="{FF2B5EF4-FFF2-40B4-BE49-F238E27FC236}">
                    <a16:creationId xmlns:a16="http://schemas.microsoft.com/office/drawing/2014/main" id="{F9D78CE4-6717-D893-0794-05A2F6D9FDD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39" name="Group 94">
              <a:extLst>
                <a:ext uri="{FF2B5EF4-FFF2-40B4-BE49-F238E27FC236}">
                  <a16:creationId xmlns:a16="http://schemas.microsoft.com/office/drawing/2014/main" id="{C9C5C181-4915-9860-10EF-D9EFEDCA63A0}"/>
                </a:ext>
              </a:extLst>
            </p:cNvPr>
            <p:cNvGrpSpPr/>
            <p:nvPr/>
          </p:nvGrpSpPr>
          <p:grpSpPr>
            <a:xfrm>
              <a:off x="7096125" y="8140589"/>
              <a:ext cx="380004" cy="2232310"/>
              <a:chOff x="0" y="0"/>
              <a:chExt cx="135112" cy="793710"/>
            </a:xfrm>
          </p:grpSpPr>
          <p:sp>
            <p:nvSpPr>
              <p:cNvPr id="103" name="Freeform 95">
                <a:extLst>
                  <a:ext uri="{FF2B5EF4-FFF2-40B4-BE49-F238E27FC236}">
                    <a16:creationId xmlns:a16="http://schemas.microsoft.com/office/drawing/2014/main" id="{03459AE7-B188-7B2D-A978-9616961B5A15}"/>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8C00"/>
              </a:solidFill>
            </p:spPr>
          </p:sp>
          <p:sp>
            <p:nvSpPr>
              <p:cNvPr id="104" name="TextBox 96">
                <a:extLst>
                  <a:ext uri="{FF2B5EF4-FFF2-40B4-BE49-F238E27FC236}">
                    <a16:creationId xmlns:a16="http://schemas.microsoft.com/office/drawing/2014/main" id="{FE325C8F-BEDC-85C6-F291-B87C3A1B2BE2}"/>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0" name="Group 97">
              <a:extLst>
                <a:ext uri="{FF2B5EF4-FFF2-40B4-BE49-F238E27FC236}">
                  <a16:creationId xmlns:a16="http://schemas.microsoft.com/office/drawing/2014/main" id="{70642CDE-5E94-F03D-FD2D-5BEB22C46984}"/>
                </a:ext>
              </a:extLst>
            </p:cNvPr>
            <p:cNvGrpSpPr/>
            <p:nvPr/>
          </p:nvGrpSpPr>
          <p:grpSpPr>
            <a:xfrm>
              <a:off x="7077075" y="11344449"/>
              <a:ext cx="380004" cy="2232310"/>
              <a:chOff x="0" y="0"/>
              <a:chExt cx="135112" cy="793710"/>
            </a:xfrm>
          </p:grpSpPr>
          <p:sp>
            <p:nvSpPr>
              <p:cNvPr id="101" name="Freeform 98">
                <a:extLst>
                  <a:ext uri="{FF2B5EF4-FFF2-40B4-BE49-F238E27FC236}">
                    <a16:creationId xmlns:a16="http://schemas.microsoft.com/office/drawing/2014/main" id="{52757EC9-77B3-E4D5-C4CA-C6C473F6B58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32F2F"/>
              </a:solidFill>
            </p:spPr>
          </p:sp>
          <p:sp>
            <p:nvSpPr>
              <p:cNvPr id="102" name="TextBox 99">
                <a:extLst>
                  <a:ext uri="{FF2B5EF4-FFF2-40B4-BE49-F238E27FC236}">
                    <a16:creationId xmlns:a16="http://schemas.microsoft.com/office/drawing/2014/main" id="{E0D6FA23-3362-CA6E-E6F1-ED0E52E9928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1" name="Group 100">
              <a:extLst>
                <a:ext uri="{FF2B5EF4-FFF2-40B4-BE49-F238E27FC236}">
                  <a16:creationId xmlns:a16="http://schemas.microsoft.com/office/drawing/2014/main" id="{2BF068A0-D083-2C4F-F46A-53395ABDD618}"/>
                </a:ext>
              </a:extLst>
            </p:cNvPr>
            <p:cNvGrpSpPr/>
            <p:nvPr/>
          </p:nvGrpSpPr>
          <p:grpSpPr>
            <a:xfrm>
              <a:off x="7077075" y="14695739"/>
              <a:ext cx="380004" cy="2232310"/>
              <a:chOff x="0" y="0"/>
              <a:chExt cx="135112" cy="793710"/>
            </a:xfrm>
          </p:grpSpPr>
          <p:sp>
            <p:nvSpPr>
              <p:cNvPr id="99" name="Freeform 101">
                <a:extLst>
                  <a:ext uri="{FF2B5EF4-FFF2-40B4-BE49-F238E27FC236}">
                    <a16:creationId xmlns:a16="http://schemas.microsoft.com/office/drawing/2014/main" id="{BDB91169-DB62-DC5C-3094-B3725609373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B15D3"/>
              </a:solidFill>
            </p:spPr>
          </p:sp>
          <p:sp>
            <p:nvSpPr>
              <p:cNvPr id="100" name="TextBox 102">
                <a:extLst>
                  <a:ext uri="{FF2B5EF4-FFF2-40B4-BE49-F238E27FC236}">
                    <a16:creationId xmlns:a16="http://schemas.microsoft.com/office/drawing/2014/main" id="{0E559D6A-B90C-64F9-E229-32DD6C90496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2" name="Group 103">
              <a:extLst>
                <a:ext uri="{FF2B5EF4-FFF2-40B4-BE49-F238E27FC236}">
                  <a16:creationId xmlns:a16="http://schemas.microsoft.com/office/drawing/2014/main" id="{88FF9B5A-72BF-7C4E-A6D0-F14BAB07FD43}"/>
                </a:ext>
              </a:extLst>
            </p:cNvPr>
            <p:cNvGrpSpPr/>
            <p:nvPr/>
          </p:nvGrpSpPr>
          <p:grpSpPr>
            <a:xfrm>
              <a:off x="162921" y="3021317"/>
              <a:ext cx="380004" cy="2232310"/>
              <a:chOff x="0" y="0"/>
              <a:chExt cx="135112" cy="793710"/>
            </a:xfrm>
          </p:grpSpPr>
          <p:sp>
            <p:nvSpPr>
              <p:cNvPr id="97" name="Freeform 104">
                <a:extLst>
                  <a:ext uri="{FF2B5EF4-FFF2-40B4-BE49-F238E27FC236}">
                    <a16:creationId xmlns:a16="http://schemas.microsoft.com/office/drawing/2014/main" id="{9D9F2B11-31DD-C7F9-8DFE-FCF1A3A0DC51}"/>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C02D"/>
              </a:solidFill>
            </p:spPr>
          </p:sp>
          <p:sp>
            <p:nvSpPr>
              <p:cNvPr id="98" name="TextBox 105">
                <a:extLst>
                  <a:ext uri="{FF2B5EF4-FFF2-40B4-BE49-F238E27FC236}">
                    <a16:creationId xmlns:a16="http://schemas.microsoft.com/office/drawing/2014/main" id="{F79D187E-AD86-4816-0073-F2FA0DD1D0FC}"/>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3" name="Group 106">
              <a:extLst>
                <a:ext uri="{FF2B5EF4-FFF2-40B4-BE49-F238E27FC236}">
                  <a16:creationId xmlns:a16="http://schemas.microsoft.com/office/drawing/2014/main" id="{B22D6EC5-7009-C458-B05A-CB93D1100371}"/>
                </a:ext>
              </a:extLst>
            </p:cNvPr>
            <p:cNvGrpSpPr/>
            <p:nvPr/>
          </p:nvGrpSpPr>
          <p:grpSpPr>
            <a:xfrm>
              <a:off x="143871" y="6355424"/>
              <a:ext cx="380004" cy="2232310"/>
              <a:chOff x="0" y="0"/>
              <a:chExt cx="135112" cy="793710"/>
            </a:xfrm>
          </p:grpSpPr>
          <p:sp>
            <p:nvSpPr>
              <p:cNvPr id="95" name="Freeform 107">
                <a:extLst>
                  <a:ext uri="{FF2B5EF4-FFF2-40B4-BE49-F238E27FC236}">
                    <a16:creationId xmlns:a16="http://schemas.microsoft.com/office/drawing/2014/main" id="{03BBAB03-9670-2A26-4764-8241CF2EEC9C}"/>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EAFA0"/>
              </a:solidFill>
            </p:spPr>
          </p:sp>
          <p:sp>
            <p:nvSpPr>
              <p:cNvPr id="96" name="TextBox 108">
                <a:extLst>
                  <a:ext uri="{FF2B5EF4-FFF2-40B4-BE49-F238E27FC236}">
                    <a16:creationId xmlns:a16="http://schemas.microsoft.com/office/drawing/2014/main" id="{27E91420-3873-7D1D-A4EC-C79DE4A0780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4" name="Group 109">
              <a:extLst>
                <a:ext uri="{FF2B5EF4-FFF2-40B4-BE49-F238E27FC236}">
                  <a16:creationId xmlns:a16="http://schemas.microsoft.com/office/drawing/2014/main" id="{A6B35CC5-72BD-8F01-6F53-B58D47E4981C}"/>
                </a:ext>
              </a:extLst>
            </p:cNvPr>
            <p:cNvGrpSpPr/>
            <p:nvPr/>
          </p:nvGrpSpPr>
          <p:grpSpPr>
            <a:xfrm>
              <a:off x="143871" y="9688244"/>
              <a:ext cx="380004" cy="2232310"/>
              <a:chOff x="0" y="0"/>
              <a:chExt cx="135112" cy="793710"/>
            </a:xfrm>
          </p:grpSpPr>
          <p:sp>
            <p:nvSpPr>
              <p:cNvPr id="93" name="Freeform 110">
                <a:extLst>
                  <a:ext uri="{FF2B5EF4-FFF2-40B4-BE49-F238E27FC236}">
                    <a16:creationId xmlns:a16="http://schemas.microsoft.com/office/drawing/2014/main" id="{EA925435-5C7F-67E4-3C16-2FEEEE0204C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39BE5"/>
              </a:solidFill>
            </p:spPr>
          </p:sp>
          <p:sp>
            <p:nvSpPr>
              <p:cNvPr id="94" name="TextBox 111">
                <a:extLst>
                  <a:ext uri="{FF2B5EF4-FFF2-40B4-BE49-F238E27FC236}">
                    <a16:creationId xmlns:a16="http://schemas.microsoft.com/office/drawing/2014/main" id="{0A7C62D9-A5CB-F1D9-7479-1F242607555F}"/>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5" name="Group 112">
              <a:extLst>
                <a:ext uri="{FF2B5EF4-FFF2-40B4-BE49-F238E27FC236}">
                  <a16:creationId xmlns:a16="http://schemas.microsoft.com/office/drawing/2014/main" id="{779D72A7-7EB6-0341-8AD3-B3C282D0B0AA}"/>
                </a:ext>
              </a:extLst>
            </p:cNvPr>
            <p:cNvGrpSpPr/>
            <p:nvPr/>
          </p:nvGrpSpPr>
          <p:grpSpPr>
            <a:xfrm>
              <a:off x="143871" y="13025454"/>
              <a:ext cx="380004" cy="2232310"/>
              <a:chOff x="0" y="0"/>
              <a:chExt cx="135112" cy="793710"/>
            </a:xfrm>
          </p:grpSpPr>
          <p:sp>
            <p:nvSpPr>
              <p:cNvPr id="91" name="Freeform 113">
                <a:extLst>
                  <a:ext uri="{FF2B5EF4-FFF2-40B4-BE49-F238E27FC236}">
                    <a16:creationId xmlns:a16="http://schemas.microsoft.com/office/drawing/2014/main" id="{17FCC84D-CC9E-1FF9-F6F4-C9E80617FD93}"/>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903AB4"/>
              </a:solidFill>
            </p:spPr>
          </p:sp>
          <p:sp>
            <p:nvSpPr>
              <p:cNvPr id="92" name="TextBox 114">
                <a:extLst>
                  <a:ext uri="{FF2B5EF4-FFF2-40B4-BE49-F238E27FC236}">
                    <a16:creationId xmlns:a16="http://schemas.microsoft.com/office/drawing/2014/main" id="{6B92F221-6469-2114-FE80-DE22CC291EA4}"/>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6" name="Group 115">
              <a:extLst>
                <a:ext uri="{FF2B5EF4-FFF2-40B4-BE49-F238E27FC236}">
                  <a16:creationId xmlns:a16="http://schemas.microsoft.com/office/drawing/2014/main" id="{FDD6819C-D0A6-F05A-EA9B-F1BE073B678F}"/>
                </a:ext>
              </a:extLst>
            </p:cNvPr>
            <p:cNvGrpSpPr/>
            <p:nvPr/>
          </p:nvGrpSpPr>
          <p:grpSpPr>
            <a:xfrm>
              <a:off x="143871" y="16362664"/>
              <a:ext cx="380004" cy="2232310"/>
              <a:chOff x="0" y="0"/>
              <a:chExt cx="135112" cy="793710"/>
            </a:xfrm>
          </p:grpSpPr>
          <p:sp>
            <p:nvSpPr>
              <p:cNvPr id="89" name="Freeform 116">
                <a:extLst>
                  <a:ext uri="{FF2B5EF4-FFF2-40B4-BE49-F238E27FC236}">
                    <a16:creationId xmlns:a16="http://schemas.microsoft.com/office/drawing/2014/main" id="{A270ECB4-5E55-29BA-DD13-5454458E1825}"/>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AD1457"/>
              </a:solidFill>
            </p:spPr>
          </p:sp>
          <p:sp>
            <p:nvSpPr>
              <p:cNvPr id="90" name="TextBox 117">
                <a:extLst>
                  <a:ext uri="{FF2B5EF4-FFF2-40B4-BE49-F238E27FC236}">
                    <a16:creationId xmlns:a16="http://schemas.microsoft.com/office/drawing/2014/main" id="{68985698-BB30-8CF4-30FE-83B76064F30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47" name="Group 118">
              <a:extLst>
                <a:ext uri="{FF2B5EF4-FFF2-40B4-BE49-F238E27FC236}">
                  <a16:creationId xmlns:a16="http://schemas.microsoft.com/office/drawing/2014/main" id="{5603C105-0922-EC51-FC4D-CC137337C640}"/>
                </a:ext>
              </a:extLst>
            </p:cNvPr>
            <p:cNvGrpSpPr/>
            <p:nvPr/>
          </p:nvGrpSpPr>
          <p:grpSpPr>
            <a:xfrm>
              <a:off x="4288296" y="2060137"/>
              <a:ext cx="2579230" cy="1387166"/>
              <a:chOff x="-219902" y="-19050"/>
              <a:chExt cx="3438974" cy="1849554"/>
            </a:xfrm>
          </p:grpSpPr>
          <p:sp>
            <p:nvSpPr>
              <p:cNvPr id="86" name="TextBox 119">
                <a:extLst>
                  <a:ext uri="{FF2B5EF4-FFF2-40B4-BE49-F238E27FC236}">
                    <a16:creationId xmlns:a16="http://schemas.microsoft.com/office/drawing/2014/main" id="{83167231-0CE7-27E9-220A-293AEF498905}"/>
                  </a:ext>
                </a:extLst>
              </p:cNvPr>
              <p:cNvSpPr txBox="1"/>
              <p:nvPr/>
            </p:nvSpPr>
            <p:spPr>
              <a:xfrm>
                <a:off x="0" y="801530"/>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Central system managing all payroll operations, employee records, tax calculations, and payment scheduling.</a:t>
                </a:r>
              </a:p>
            </p:txBody>
          </p:sp>
          <p:sp>
            <p:nvSpPr>
              <p:cNvPr id="87" name="TextBox 120">
                <a:extLst>
                  <a:ext uri="{FF2B5EF4-FFF2-40B4-BE49-F238E27FC236}">
                    <a16:creationId xmlns:a16="http://schemas.microsoft.com/office/drawing/2014/main" id="{647162E9-E1C9-40D9-C686-DA15D646FE31}"/>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MAIN</a:t>
                </a:r>
              </a:p>
            </p:txBody>
          </p:sp>
          <p:sp>
            <p:nvSpPr>
              <p:cNvPr id="88" name="TextBox 121">
                <a:extLst>
                  <a:ext uri="{FF2B5EF4-FFF2-40B4-BE49-F238E27FC236}">
                    <a16:creationId xmlns:a16="http://schemas.microsoft.com/office/drawing/2014/main" id="{FF94A83C-1DFB-6325-2EA6-4F06D4A77657}"/>
                  </a:ext>
                </a:extLst>
              </p:cNvPr>
              <p:cNvSpPr txBox="1"/>
              <p:nvPr/>
            </p:nvSpPr>
            <p:spPr>
              <a:xfrm>
                <a:off x="-219902" y="391240"/>
                <a:ext cx="3438974" cy="288079"/>
              </a:xfrm>
              <a:prstGeom prst="rect">
                <a:avLst/>
              </a:prstGeom>
            </p:spPr>
            <p:txBody>
              <a:bodyPr wrap="square" lIns="0" tIns="0" rIns="0" bIns="0" rtlCol="0" anchor="t">
                <a:spAutoFit/>
              </a:bodyPr>
              <a:lstStyle/>
              <a:p>
                <a:pPr marL="0" lvl="0" indent="0" algn="r">
                  <a:lnSpc>
                    <a:spcPts val="1823"/>
                  </a:lnSpc>
                  <a:spcBef>
                    <a:spcPct val="0"/>
                  </a:spcBef>
                </a:pPr>
                <a:r>
                  <a:rPr lang="en-US" sz="1302" b="1" u="none" strike="noStrike" dirty="0">
                    <a:solidFill>
                      <a:srgbClr val="1565C0"/>
                    </a:solidFill>
                    <a:latin typeface="TT Interphases Bold"/>
                    <a:ea typeface="TT Interphases Bold"/>
                    <a:cs typeface="TT Interphases Bold"/>
                    <a:sym typeface="TT Interphases Bold"/>
                  </a:rPr>
                  <a:t>PAYROLL PROCESSING HUB</a:t>
                </a:r>
              </a:p>
            </p:txBody>
          </p:sp>
        </p:grpSp>
        <p:sp>
          <p:nvSpPr>
            <p:cNvPr id="48" name="TextBox 122">
              <a:extLst>
                <a:ext uri="{FF2B5EF4-FFF2-40B4-BE49-F238E27FC236}">
                  <a16:creationId xmlns:a16="http://schemas.microsoft.com/office/drawing/2014/main" id="{31AAD227-C6CB-B8A7-D5B4-CA46B84EFC3F}"/>
                </a:ext>
              </a:extLst>
            </p:cNvPr>
            <p:cNvSpPr txBox="1"/>
            <p:nvPr/>
          </p:nvSpPr>
          <p:spPr>
            <a:xfrm>
              <a:off x="162921" y="655040"/>
              <a:ext cx="7313208" cy="603272"/>
            </a:xfrm>
            <a:prstGeom prst="rect">
              <a:avLst/>
            </a:prstGeom>
          </p:spPr>
          <p:txBody>
            <a:bodyPr lIns="0" tIns="0" rIns="0" bIns="0" rtlCol="0" anchor="t">
              <a:spAutoFit/>
            </a:bodyPr>
            <a:lstStyle/>
            <a:p>
              <a:pPr marL="0" lvl="0" indent="0" algn="ctr">
                <a:lnSpc>
                  <a:spcPts val="5073"/>
                </a:lnSpc>
                <a:spcBef>
                  <a:spcPct val="0"/>
                </a:spcBef>
              </a:pPr>
              <a:r>
                <a:rPr lang="en-US" sz="3624" b="1" u="none" strike="noStrike" dirty="0">
                  <a:solidFill>
                    <a:srgbClr val="000000"/>
                  </a:solidFill>
                  <a:latin typeface="TT Interphases Bold"/>
                  <a:ea typeface="TT Interphases Bold"/>
                  <a:cs typeface="TT Interphases Bold"/>
                  <a:sym typeface="TT Interphases Bold"/>
                </a:rPr>
                <a:t>PAYROLL MANAGEMENT SYSTEM</a:t>
              </a:r>
            </a:p>
          </p:txBody>
        </p:sp>
        <p:grpSp>
          <p:nvGrpSpPr>
            <p:cNvPr id="49" name="Group 123">
              <a:extLst>
                <a:ext uri="{FF2B5EF4-FFF2-40B4-BE49-F238E27FC236}">
                  <a16:creationId xmlns:a16="http://schemas.microsoft.com/office/drawing/2014/main" id="{AFF9F466-1C38-D33D-0065-A4000BAEA1C8}"/>
                </a:ext>
              </a:extLst>
            </p:cNvPr>
            <p:cNvGrpSpPr/>
            <p:nvPr/>
          </p:nvGrpSpPr>
          <p:grpSpPr>
            <a:xfrm>
              <a:off x="4453222" y="5320190"/>
              <a:ext cx="2414303" cy="1190608"/>
              <a:chOff x="0" y="-19050"/>
              <a:chExt cx="3219071" cy="1587478"/>
            </a:xfrm>
          </p:grpSpPr>
          <p:sp>
            <p:nvSpPr>
              <p:cNvPr id="83" name="TextBox 124">
                <a:extLst>
                  <a:ext uri="{FF2B5EF4-FFF2-40B4-BE49-F238E27FC236}">
                    <a16:creationId xmlns:a16="http://schemas.microsoft.com/office/drawing/2014/main" id="{3D32D4BE-D2DD-7D15-F0F5-478800035A16}"/>
                  </a:ext>
                </a:extLst>
              </p:cNvPr>
              <p:cNvSpPr txBox="1"/>
              <p:nvPr/>
            </p:nvSpPr>
            <p:spPr>
              <a:xfrm>
                <a:off x="0" y="801530"/>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Manage and organize all employee records. Search and sort employee data for efficient payroll processing.</a:t>
                </a:r>
              </a:p>
            </p:txBody>
          </p:sp>
          <p:sp>
            <p:nvSpPr>
              <p:cNvPr id="84" name="TextBox 125">
                <a:extLst>
                  <a:ext uri="{FF2B5EF4-FFF2-40B4-BE49-F238E27FC236}">
                    <a16:creationId xmlns:a16="http://schemas.microsoft.com/office/drawing/2014/main" id="{61FDB1CA-5805-65CA-90FF-5F3755BA059C}"/>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RECORD MANAGEMENT</a:t>
                </a:r>
              </a:p>
            </p:txBody>
          </p:sp>
          <p:sp>
            <p:nvSpPr>
              <p:cNvPr id="85" name="TextBox 126">
                <a:extLst>
                  <a:ext uri="{FF2B5EF4-FFF2-40B4-BE49-F238E27FC236}">
                    <a16:creationId xmlns:a16="http://schemas.microsoft.com/office/drawing/2014/main" id="{A3F1801C-ABED-EF1C-BEBC-BA544F2C3139}"/>
                  </a:ext>
                </a:extLst>
              </p:cNvPr>
              <p:cNvSpPr txBox="1"/>
              <p:nvPr/>
            </p:nvSpPr>
            <p:spPr>
              <a:xfrm>
                <a:off x="0" y="391240"/>
                <a:ext cx="3219071" cy="289567"/>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0F8D16"/>
                    </a:solidFill>
                    <a:latin typeface="TT Interphases Bold"/>
                    <a:ea typeface="TT Interphases Bold"/>
                    <a:cs typeface="TT Interphases Bold"/>
                    <a:sym typeface="TT Interphases Bold"/>
                  </a:rPr>
                  <a:t>SEARCH</a:t>
                </a:r>
                <a:r>
                  <a:rPr lang="en-US" sz="1302" b="1" dirty="0">
                    <a:solidFill>
                      <a:srgbClr val="0F8D16"/>
                    </a:solidFill>
                    <a:latin typeface="TT Interphases Bold"/>
                    <a:ea typeface="TT Interphases Bold"/>
                    <a:cs typeface="TT Interphases Bold"/>
                    <a:sym typeface="TT Interphases Bold"/>
                  </a:rPr>
                  <a:t>ING</a:t>
                </a:r>
                <a:r>
                  <a:rPr lang="en-US" sz="1302" b="1" u="none" strike="noStrike" dirty="0">
                    <a:solidFill>
                      <a:srgbClr val="0F8D16"/>
                    </a:solidFill>
                    <a:latin typeface="TT Interphases Bold"/>
                    <a:ea typeface="TT Interphases Bold"/>
                    <a:cs typeface="TT Interphases Bold"/>
                    <a:sym typeface="TT Interphases Bold"/>
                  </a:rPr>
                  <a:t> | SORTING</a:t>
                </a:r>
              </a:p>
            </p:txBody>
          </p:sp>
        </p:grpSp>
        <p:grpSp>
          <p:nvGrpSpPr>
            <p:cNvPr id="50" name="Group 127">
              <a:extLst>
                <a:ext uri="{FF2B5EF4-FFF2-40B4-BE49-F238E27FC236}">
                  <a16:creationId xmlns:a16="http://schemas.microsoft.com/office/drawing/2014/main" id="{05899CF3-509D-6B7D-8EB0-828449FB15C3}"/>
                </a:ext>
              </a:extLst>
            </p:cNvPr>
            <p:cNvGrpSpPr/>
            <p:nvPr/>
          </p:nvGrpSpPr>
          <p:grpSpPr>
            <a:xfrm>
              <a:off x="4453222" y="11887279"/>
              <a:ext cx="2414303" cy="1181442"/>
              <a:chOff x="0" y="0"/>
              <a:chExt cx="3219071" cy="1575255"/>
            </a:xfrm>
          </p:grpSpPr>
          <p:sp>
            <p:nvSpPr>
              <p:cNvPr id="80" name="TextBox 128">
                <a:extLst>
                  <a:ext uri="{FF2B5EF4-FFF2-40B4-BE49-F238E27FC236}">
                    <a16:creationId xmlns:a16="http://schemas.microsoft.com/office/drawing/2014/main" id="{B63DA710-CD72-9FBA-B38D-A51D64ED07B9}"/>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Retrieve and process tax information for each employee including federal, state, and local tax rates.</a:t>
                </a:r>
              </a:p>
            </p:txBody>
          </p:sp>
          <p:sp>
            <p:nvSpPr>
              <p:cNvPr id="81" name="TextBox 129">
                <a:extLst>
                  <a:ext uri="{FF2B5EF4-FFF2-40B4-BE49-F238E27FC236}">
                    <a16:creationId xmlns:a16="http://schemas.microsoft.com/office/drawing/2014/main" id="{18747401-C4E3-5A49-0A6D-7953AAFC282E}"/>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000000"/>
                    </a:solidFill>
                    <a:latin typeface="TT Interphases Bold"/>
                    <a:ea typeface="TT Interphases Bold"/>
                    <a:cs typeface="TT Interphases Bold"/>
                    <a:sym typeface="TT Interphases Bold"/>
                  </a:rPr>
                  <a:t>TAX INFORMATION</a:t>
                </a:r>
              </a:p>
            </p:txBody>
          </p:sp>
          <p:sp>
            <p:nvSpPr>
              <p:cNvPr id="82" name="TextBox 130">
                <a:extLst>
                  <a:ext uri="{FF2B5EF4-FFF2-40B4-BE49-F238E27FC236}">
                    <a16:creationId xmlns:a16="http://schemas.microsoft.com/office/drawing/2014/main" id="{1230FA27-75FD-3681-ACA0-EA24AF499508}"/>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32F2F"/>
                    </a:solidFill>
                    <a:latin typeface="TT Interphases Bold"/>
                    <a:ea typeface="TT Interphases Bold"/>
                    <a:cs typeface="TT Interphases Bold"/>
                    <a:sym typeface="TT Interphases Bold"/>
                  </a:rPr>
                  <a:t>TAX PROCESSING</a:t>
                </a:r>
              </a:p>
            </p:txBody>
          </p:sp>
        </p:grpSp>
        <p:grpSp>
          <p:nvGrpSpPr>
            <p:cNvPr id="51" name="Group 131">
              <a:extLst>
                <a:ext uri="{FF2B5EF4-FFF2-40B4-BE49-F238E27FC236}">
                  <a16:creationId xmlns:a16="http://schemas.microsoft.com/office/drawing/2014/main" id="{AAA04A57-DB72-0A92-D553-64252052F8BB}"/>
                </a:ext>
              </a:extLst>
            </p:cNvPr>
            <p:cNvGrpSpPr/>
            <p:nvPr/>
          </p:nvGrpSpPr>
          <p:grpSpPr>
            <a:xfrm>
              <a:off x="4372229" y="15122895"/>
              <a:ext cx="2414303" cy="1377998"/>
              <a:chOff x="0" y="0"/>
              <a:chExt cx="3219071" cy="1837331"/>
            </a:xfrm>
          </p:grpSpPr>
          <p:sp>
            <p:nvSpPr>
              <p:cNvPr id="77" name="TextBox 132">
                <a:extLst>
                  <a:ext uri="{FF2B5EF4-FFF2-40B4-BE49-F238E27FC236}">
                    <a16:creationId xmlns:a16="http://schemas.microsoft.com/office/drawing/2014/main" id="{A4FC4040-A742-D2B4-9ABD-AA05867D1567}"/>
                  </a:ext>
                </a:extLst>
              </p:cNvPr>
              <p:cNvSpPr txBox="1"/>
              <p:nvPr/>
            </p:nvSpPr>
            <p:spPr>
              <a:xfrm>
                <a:off x="0" y="808357"/>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Calculate all applicable deductions including taxes, benefits, insurance, and other withholdings from gross salary.</a:t>
                </a:r>
              </a:p>
            </p:txBody>
          </p:sp>
          <p:sp>
            <p:nvSpPr>
              <p:cNvPr id="78" name="TextBox 133">
                <a:extLst>
                  <a:ext uri="{FF2B5EF4-FFF2-40B4-BE49-F238E27FC236}">
                    <a16:creationId xmlns:a16="http://schemas.microsoft.com/office/drawing/2014/main" id="{75E9C4E5-41B1-35C9-9443-2868C45F0982}"/>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CALCULATE REDUCTION</a:t>
                </a:r>
              </a:p>
            </p:txBody>
          </p:sp>
          <p:sp>
            <p:nvSpPr>
              <p:cNvPr id="79" name="TextBox 134">
                <a:extLst>
                  <a:ext uri="{FF2B5EF4-FFF2-40B4-BE49-F238E27FC236}">
                    <a16:creationId xmlns:a16="http://schemas.microsoft.com/office/drawing/2014/main" id="{CF96AC5A-293F-D9E9-38DF-F54FAC7B84D3}"/>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B15D3"/>
                    </a:solidFill>
                    <a:latin typeface="TT Interphases Bold"/>
                    <a:ea typeface="TT Interphases Bold"/>
                    <a:cs typeface="TT Interphases Bold"/>
                    <a:sym typeface="TT Interphases Bold"/>
                  </a:rPr>
                  <a:t>DEDUCTIONS &amp; BENEFITS</a:t>
                </a:r>
              </a:p>
            </p:txBody>
          </p:sp>
        </p:grpSp>
        <p:grpSp>
          <p:nvGrpSpPr>
            <p:cNvPr id="52" name="Group 135">
              <a:extLst>
                <a:ext uri="{FF2B5EF4-FFF2-40B4-BE49-F238E27FC236}">
                  <a16:creationId xmlns:a16="http://schemas.microsoft.com/office/drawing/2014/main" id="{C216E053-2CC0-C9B1-385E-556E61100AB8}"/>
                </a:ext>
              </a:extLst>
            </p:cNvPr>
            <p:cNvGrpSpPr/>
            <p:nvPr/>
          </p:nvGrpSpPr>
          <p:grpSpPr>
            <a:xfrm>
              <a:off x="4288296" y="8683368"/>
              <a:ext cx="2579230" cy="1195731"/>
              <a:chOff x="-219902" y="-19052"/>
              <a:chExt cx="3438974" cy="1594307"/>
            </a:xfrm>
          </p:grpSpPr>
          <p:sp>
            <p:nvSpPr>
              <p:cNvPr id="74" name="TextBox 136">
                <a:extLst>
                  <a:ext uri="{FF2B5EF4-FFF2-40B4-BE49-F238E27FC236}">
                    <a16:creationId xmlns:a16="http://schemas.microsoft.com/office/drawing/2014/main" id="{03777011-D295-798B-D377-7A21BDA23462}"/>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Monitor and record employee working hours, overtime, and attendance data for accurate payroll calculation.</a:t>
                </a:r>
              </a:p>
            </p:txBody>
          </p:sp>
          <p:sp>
            <p:nvSpPr>
              <p:cNvPr id="75" name="TextBox 137">
                <a:extLst>
                  <a:ext uri="{FF2B5EF4-FFF2-40B4-BE49-F238E27FC236}">
                    <a16:creationId xmlns:a16="http://schemas.microsoft.com/office/drawing/2014/main" id="{ED53745D-5867-4874-BBCE-7E5AF4E027AB}"/>
                  </a:ext>
                </a:extLst>
              </p:cNvPr>
              <p:cNvSpPr txBox="1"/>
              <p:nvPr/>
            </p:nvSpPr>
            <p:spPr>
              <a:xfrm>
                <a:off x="-219902" y="-19052"/>
                <a:ext cx="3438974" cy="281530"/>
              </a:xfrm>
              <a:prstGeom prst="rect">
                <a:avLst/>
              </a:prstGeom>
            </p:spPr>
            <p:txBody>
              <a:bodyPr wrap="square"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TRACK TIME &amp; ATTENDANCE</a:t>
                </a:r>
              </a:p>
            </p:txBody>
          </p:sp>
          <p:sp>
            <p:nvSpPr>
              <p:cNvPr id="76" name="TextBox 138">
                <a:extLst>
                  <a:ext uri="{FF2B5EF4-FFF2-40B4-BE49-F238E27FC236}">
                    <a16:creationId xmlns:a16="http://schemas.microsoft.com/office/drawing/2014/main" id="{5C3F3588-1B8B-581D-33E4-20E1F75C4C69}"/>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FB8C00"/>
                    </a:solidFill>
                    <a:latin typeface="TT Interphases Bold"/>
                    <a:ea typeface="TT Interphases Bold"/>
                    <a:cs typeface="TT Interphases Bold"/>
                    <a:sym typeface="TT Interphases Bold"/>
                  </a:rPr>
                  <a:t>ATTENDANCE TRACKING</a:t>
                </a:r>
              </a:p>
            </p:txBody>
          </p:sp>
        </p:grpSp>
        <p:grpSp>
          <p:nvGrpSpPr>
            <p:cNvPr id="53" name="Group 139">
              <a:extLst>
                <a:ext uri="{FF2B5EF4-FFF2-40B4-BE49-F238E27FC236}">
                  <a16:creationId xmlns:a16="http://schemas.microsoft.com/office/drawing/2014/main" id="{3638B0FE-D0CA-68C6-C0F0-1007A242AE65}"/>
                </a:ext>
              </a:extLst>
            </p:cNvPr>
            <p:cNvGrpSpPr/>
            <p:nvPr/>
          </p:nvGrpSpPr>
          <p:grpSpPr>
            <a:xfrm>
              <a:off x="771525" y="3535025"/>
              <a:ext cx="2389202" cy="1218036"/>
              <a:chOff x="0" y="-19050"/>
              <a:chExt cx="3185603" cy="1624049"/>
            </a:xfrm>
          </p:grpSpPr>
          <p:sp>
            <p:nvSpPr>
              <p:cNvPr id="71" name="TextBox 140">
                <a:extLst>
                  <a:ext uri="{FF2B5EF4-FFF2-40B4-BE49-F238E27FC236}">
                    <a16:creationId xmlns:a16="http://schemas.microsoft.com/office/drawing/2014/main" id="{37E6484C-AF2C-2C18-C28C-A5AC29CF271E}"/>
                  </a:ext>
                </a:extLst>
              </p:cNvPr>
              <p:cNvSpPr txBox="1"/>
              <p:nvPr/>
            </p:nvSpPr>
            <p:spPr>
              <a:xfrm>
                <a:off x="0" y="801530"/>
                <a:ext cx="3185603" cy="803469"/>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employee_list.csv</a:t>
                </a:r>
              </a:p>
              <a:p>
                <a:pPr marL="0" lvl="0" indent="0" algn="l">
                  <a:lnSpc>
                    <a:spcPts val="1586"/>
                  </a:lnSpc>
                  <a:spcBef>
                    <a:spcPct val="0"/>
                  </a:spcBef>
                </a:pPr>
                <a:r>
                  <a:rPr lang="en-US" sz="1133" dirty="0">
                    <a:solidFill>
                      <a:srgbClr val="000000"/>
                    </a:solidFill>
                    <a:latin typeface="TT Interphases"/>
                    <a:ea typeface="TT Interphases"/>
                    <a:cs typeface="TT Interphases"/>
                    <a:sym typeface="TT Interphases"/>
                  </a:rPr>
                  <a:t>tax_information</a:t>
                </a:r>
                <a:r>
                  <a:rPr lang="en-US" sz="1133" u="none" strike="noStrike" dirty="0">
                    <a:solidFill>
                      <a:srgbClr val="000000"/>
                    </a:solidFill>
                    <a:latin typeface="TT Interphases"/>
                    <a:ea typeface="TT Interphases"/>
                    <a:cs typeface="TT Interphases"/>
                    <a:sym typeface="TT Interphases"/>
                  </a:rPr>
                  <a:t>.csv</a:t>
                </a:r>
              </a:p>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attendance.csv</a:t>
                </a:r>
              </a:p>
            </p:txBody>
          </p:sp>
          <p:sp>
            <p:nvSpPr>
              <p:cNvPr id="72" name="TextBox 141">
                <a:extLst>
                  <a:ext uri="{FF2B5EF4-FFF2-40B4-BE49-F238E27FC236}">
                    <a16:creationId xmlns:a16="http://schemas.microsoft.com/office/drawing/2014/main" id="{9D51BAA1-2B9D-C355-F247-26DD531D3803}"/>
                  </a:ext>
                </a:extLst>
              </p:cNvPr>
              <p:cNvSpPr txBox="1"/>
              <p:nvPr/>
            </p:nvSpPr>
            <p:spPr>
              <a:xfrm>
                <a:off x="0" y="-1905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DATA SOURCES</a:t>
                </a:r>
              </a:p>
            </p:txBody>
          </p:sp>
          <p:sp>
            <p:nvSpPr>
              <p:cNvPr id="73" name="TextBox 142">
                <a:extLst>
                  <a:ext uri="{FF2B5EF4-FFF2-40B4-BE49-F238E27FC236}">
                    <a16:creationId xmlns:a16="http://schemas.microsoft.com/office/drawing/2014/main" id="{677B20B3-F069-E752-2FC5-390563575292}"/>
                  </a:ext>
                </a:extLst>
              </p:cNvPr>
              <p:cNvSpPr txBox="1"/>
              <p:nvPr/>
            </p:nvSpPr>
            <p:spPr>
              <a:xfrm>
                <a:off x="0" y="39124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FBC02D"/>
                    </a:solidFill>
                    <a:latin typeface="TT Interphases Bold"/>
                    <a:ea typeface="TT Interphases Bold"/>
                    <a:cs typeface="TT Interphases Bold"/>
                    <a:sym typeface="TT Interphases Bold"/>
                  </a:rPr>
                  <a:t>INPUT FILES</a:t>
                </a:r>
              </a:p>
            </p:txBody>
          </p:sp>
        </p:grpSp>
        <p:grpSp>
          <p:nvGrpSpPr>
            <p:cNvPr id="54" name="Group 143">
              <a:extLst>
                <a:ext uri="{FF2B5EF4-FFF2-40B4-BE49-F238E27FC236}">
                  <a16:creationId xmlns:a16="http://schemas.microsoft.com/office/drawing/2014/main" id="{AE8A78AB-63BD-C00B-3160-A36189715AF5}"/>
                </a:ext>
              </a:extLst>
            </p:cNvPr>
            <p:cNvGrpSpPr/>
            <p:nvPr/>
          </p:nvGrpSpPr>
          <p:grpSpPr>
            <a:xfrm>
              <a:off x="771524" y="6656552"/>
              <a:ext cx="2548694" cy="1651820"/>
              <a:chOff x="-1" y="-19050"/>
              <a:chExt cx="3398259" cy="2202426"/>
            </a:xfrm>
          </p:grpSpPr>
          <p:sp>
            <p:nvSpPr>
              <p:cNvPr id="68" name="TextBox 144">
                <a:extLst>
                  <a:ext uri="{FF2B5EF4-FFF2-40B4-BE49-F238E27FC236}">
                    <a16:creationId xmlns:a16="http://schemas.microsoft.com/office/drawing/2014/main" id="{6DB5D59C-F900-DB3B-1245-6E908C7BB168}"/>
                  </a:ext>
                </a:extLst>
              </p:cNvPr>
              <p:cNvSpPr txBox="1"/>
              <p:nvPr/>
            </p:nvSpPr>
            <p:spPr>
              <a:xfrm>
                <a:off x="0" y="1106330"/>
                <a:ext cx="3185603" cy="1077046"/>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Compute the final net salary for each employee after applying all deductions and tax reductions. Reference: </a:t>
                </a:r>
                <a:r>
                  <a:rPr lang="en-US" sz="1133" dirty="0">
                    <a:solidFill>
                      <a:srgbClr val="000000"/>
                    </a:solidFill>
                    <a:latin typeface="TT Interphases"/>
                    <a:ea typeface="TT Interphases"/>
                    <a:cs typeface="TT Interphases"/>
                    <a:sym typeface="TT Interphases"/>
                  </a:rPr>
                  <a:t>final_salary</a:t>
                </a:r>
                <a:r>
                  <a:rPr lang="en-US" sz="1133" u="none" strike="noStrike" dirty="0">
                    <a:solidFill>
                      <a:srgbClr val="000000"/>
                    </a:solidFill>
                    <a:latin typeface="TT Interphases"/>
                    <a:ea typeface="TT Interphases"/>
                    <a:cs typeface="TT Interphases"/>
                    <a:sym typeface="TT Interphases"/>
                  </a:rPr>
                  <a:t>.csv</a:t>
                </a:r>
              </a:p>
            </p:txBody>
          </p:sp>
          <p:sp>
            <p:nvSpPr>
              <p:cNvPr id="69" name="TextBox 145">
                <a:extLst>
                  <a:ext uri="{FF2B5EF4-FFF2-40B4-BE49-F238E27FC236}">
                    <a16:creationId xmlns:a16="http://schemas.microsoft.com/office/drawing/2014/main" id="{35CE438D-BEA4-28C2-F07F-0B87C4D214D9}"/>
                  </a:ext>
                </a:extLst>
              </p:cNvPr>
              <p:cNvSpPr txBox="1"/>
              <p:nvPr/>
            </p:nvSpPr>
            <p:spPr>
              <a:xfrm>
                <a:off x="0" y="-19050"/>
                <a:ext cx="3185603" cy="597344"/>
              </a:xfrm>
              <a:prstGeom prst="rect">
                <a:avLst/>
              </a:prstGeom>
            </p:spPr>
            <p:txBody>
              <a:bodyPr lIns="0" tIns="0" rIns="0" bIns="0" rtlCol="0" anchor="t">
                <a:spAutoFit/>
              </a:bodyPr>
              <a:lstStyle/>
              <a:p>
                <a:pPr marL="0" lvl="0" indent="0" algn="l">
                  <a:lnSpc>
                    <a:spcPts val="1823"/>
                  </a:lnSpc>
                  <a:spcBef>
                    <a:spcPct val="0"/>
                  </a:spcBef>
                </a:pPr>
                <a:r>
                  <a:rPr lang="en-US" sz="1302" b="1" dirty="0">
                    <a:solidFill>
                      <a:srgbClr val="000000"/>
                    </a:solidFill>
                    <a:latin typeface="TT Interphases Bold"/>
                    <a:ea typeface="TT Interphases Bold"/>
                    <a:cs typeface="TT Interphases Bold"/>
                    <a:sym typeface="TT Interphases Bold"/>
                  </a:rPr>
                  <a:t>CALCULATE SALARY AND DEDUCTION</a:t>
                </a:r>
              </a:p>
            </p:txBody>
          </p:sp>
          <p:sp>
            <p:nvSpPr>
              <p:cNvPr id="70" name="TextBox 146">
                <a:extLst>
                  <a:ext uri="{FF2B5EF4-FFF2-40B4-BE49-F238E27FC236}">
                    <a16:creationId xmlns:a16="http://schemas.microsoft.com/office/drawing/2014/main" id="{E9CDEEED-46C0-7505-18DA-69632AE3DAE8}"/>
                  </a:ext>
                </a:extLst>
              </p:cNvPr>
              <p:cNvSpPr txBox="1"/>
              <p:nvPr/>
            </p:nvSpPr>
            <p:spPr>
              <a:xfrm>
                <a:off x="-1" y="692627"/>
                <a:ext cx="3398259" cy="281531"/>
              </a:xfrm>
              <a:prstGeom prst="rect">
                <a:avLst/>
              </a:prstGeom>
            </p:spPr>
            <p:txBody>
              <a:bodyPr wrap="square" lIns="0" tIns="0" rIns="0" bIns="0" rtlCol="0" anchor="t">
                <a:spAutoFit/>
              </a:bodyPr>
              <a:lstStyle/>
              <a:p>
                <a:pPr marL="0" lvl="0" indent="0" algn="l">
                  <a:lnSpc>
                    <a:spcPts val="1823"/>
                  </a:lnSpc>
                  <a:spcBef>
                    <a:spcPct val="0"/>
                  </a:spcBef>
                </a:pPr>
                <a:r>
                  <a:rPr lang="en-US" sz="1302" b="1" u="none" strike="noStrike" dirty="0">
                    <a:solidFill>
                      <a:srgbClr val="0EAFA0"/>
                    </a:solidFill>
                    <a:latin typeface="TT Interphases Bold"/>
                    <a:ea typeface="TT Interphases Bold"/>
                    <a:cs typeface="TT Interphases Bold"/>
                    <a:sym typeface="TT Interphases Bold"/>
                  </a:rPr>
                  <a:t>NET SALARY COMPUTATION</a:t>
                </a:r>
              </a:p>
            </p:txBody>
          </p:sp>
        </p:grpSp>
        <p:grpSp>
          <p:nvGrpSpPr>
            <p:cNvPr id="55" name="Group 147">
              <a:extLst>
                <a:ext uri="{FF2B5EF4-FFF2-40B4-BE49-F238E27FC236}">
                  <a16:creationId xmlns:a16="http://schemas.microsoft.com/office/drawing/2014/main" id="{6D88D68F-D223-B48C-D13B-1107316E87DA}"/>
                </a:ext>
              </a:extLst>
            </p:cNvPr>
            <p:cNvGrpSpPr/>
            <p:nvPr/>
          </p:nvGrpSpPr>
          <p:grpSpPr>
            <a:xfrm>
              <a:off x="771525" y="10115400"/>
              <a:ext cx="2389202" cy="1377998"/>
              <a:chOff x="0" y="0"/>
              <a:chExt cx="3185603" cy="1837331"/>
            </a:xfrm>
          </p:grpSpPr>
          <p:sp>
            <p:nvSpPr>
              <p:cNvPr id="65" name="TextBox 148">
                <a:extLst>
                  <a:ext uri="{FF2B5EF4-FFF2-40B4-BE49-F238E27FC236}">
                    <a16:creationId xmlns:a16="http://schemas.microsoft.com/office/drawing/2014/main" id="{0893FBAF-FD46-BE06-D212-042C90D37FD7}"/>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Organize and schedule payment dates for all employees. Manage pay periods and ensure timely disbursement of salaries.</a:t>
                </a:r>
              </a:p>
            </p:txBody>
          </p:sp>
          <p:sp>
            <p:nvSpPr>
              <p:cNvPr id="66" name="TextBox 149">
                <a:extLst>
                  <a:ext uri="{FF2B5EF4-FFF2-40B4-BE49-F238E27FC236}">
                    <a16:creationId xmlns:a16="http://schemas.microsoft.com/office/drawing/2014/main" id="{288F7056-E495-3F8A-A434-6733BD1B734C}"/>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SCHEDULE</a:t>
                </a:r>
              </a:p>
            </p:txBody>
          </p:sp>
          <p:sp>
            <p:nvSpPr>
              <p:cNvPr id="67" name="TextBox 150">
                <a:extLst>
                  <a:ext uri="{FF2B5EF4-FFF2-40B4-BE49-F238E27FC236}">
                    <a16:creationId xmlns:a16="http://schemas.microsoft.com/office/drawing/2014/main" id="{99E24B60-2819-D00C-E9C8-3166485F58D5}"/>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039BE5"/>
                    </a:solidFill>
                    <a:latin typeface="TT Interphases Bold"/>
                    <a:ea typeface="TT Interphases Bold"/>
                    <a:cs typeface="TT Interphases Bold"/>
                    <a:sym typeface="TT Interphases Bold"/>
                  </a:rPr>
                  <a:t>PAYMENT PLANNING</a:t>
                </a:r>
              </a:p>
            </p:txBody>
          </p:sp>
        </p:grpSp>
        <p:grpSp>
          <p:nvGrpSpPr>
            <p:cNvPr id="56" name="Group 151">
              <a:extLst>
                <a:ext uri="{FF2B5EF4-FFF2-40B4-BE49-F238E27FC236}">
                  <a16:creationId xmlns:a16="http://schemas.microsoft.com/office/drawing/2014/main" id="{622380E0-CCB7-A0A5-8FAD-7DE58BD3C40B}"/>
                </a:ext>
              </a:extLst>
            </p:cNvPr>
            <p:cNvGrpSpPr/>
            <p:nvPr/>
          </p:nvGrpSpPr>
          <p:grpSpPr>
            <a:xfrm>
              <a:off x="771525" y="13509767"/>
              <a:ext cx="2389202" cy="1377998"/>
              <a:chOff x="0" y="0"/>
              <a:chExt cx="3185603" cy="1837331"/>
            </a:xfrm>
          </p:grpSpPr>
          <p:sp>
            <p:nvSpPr>
              <p:cNvPr id="62" name="TextBox 152">
                <a:extLst>
                  <a:ext uri="{FF2B5EF4-FFF2-40B4-BE49-F238E27FC236}">
                    <a16:creationId xmlns:a16="http://schemas.microsoft.com/office/drawing/2014/main" id="{683C257D-199A-1494-86F0-3D7E7489FAB2}"/>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Execute salary payments to all employees via direct deposit or check. Confirm successful payment transactions.</a:t>
                </a:r>
              </a:p>
            </p:txBody>
          </p:sp>
          <p:sp>
            <p:nvSpPr>
              <p:cNvPr id="63" name="TextBox 153">
                <a:extLst>
                  <a:ext uri="{FF2B5EF4-FFF2-40B4-BE49-F238E27FC236}">
                    <a16:creationId xmlns:a16="http://schemas.microsoft.com/office/drawing/2014/main" id="{83E6063E-AC13-7666-3BA2-E97B5E806B3F}"/>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EMPLOYEES</a:t>
                </a:r>
              </a:p>
            </p:txBody>
          </p:sp>
          <p:sp>
            <p:nvSpPr>
              <p:cNvPr id="64" name="TextBox 154">
                <a:extLst>
                  <a:ext uri="{FF2B5EF4-FFF2-40B4-BE49-F238E27FC236}">
                    <a16:creationId xmlns:a16="http://schemas.microsoft.com/office/drawing/2014/main" id="{9B8F64C5-2B0D-2944-F9DE-F934EBD6A4E8}"/>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903AB4"/>
                    </a:solidFill>
                    <a:latin typeface="TT Interphases Bold"/>
                    <a:ea typeface="TT Interphases Bold"/>
                    <a:cs typeface="TT Interphases Bold"/>
                    <a:sym typeface="TT Interphases Bold"/>
                  </a:rPr>
                  <a:t>SALARY DISBURSEMENT</a:t>
                </a:r>
              </a:p>
            </p:txBody>
          </p:sp>
        </p:grpSp>
        <p:grpSp>
          <p:nvGrpSpPr>
            <p:cNvPr id="57" name="Group 155">
              <a:extLst>
                <a:ext uri="{FF2B5EF4-FFF2-40B4-BE49-F238E27FC236}">
                  <a16:creationId xmlns:a16="http://schemas.microsoft.com/office/drawing/2014/main" id="{F3E7AC5C-9DA0-16F8-2107-BB5A417E8858}"/>
                </a:ext>
              </a:extLst>
            </p:cNvPr>
            <p:cNvGrpSpPr/>
            <p:nvPr/>
          </p:nvGrpSpPr>
          <p:grpSpPr>
            <a:xfrm>
              <a:off x="771525" y="16841842"/>
              <a:ext cx="2389202" cy="1377998"/>
              <a:chOff x="0" y="0"/>
              <a:chExt cx="3185603" cy="1837331"/>
            </a:xfrm>
          </p:grpSpPr>
          <p:sp>
            <p:nvSpPr>
              <p:cNvPr id="59" name="TextBox 156">
                <a:extLst>
                  <a:ext uri="{FF2B5EF4-FFF2-40B4-BE49-F238E27FC236}">
                    <a16:creationId xmlns:a16="http://schemas.microsoft.com/office/drawing/2014/main" id="{279ADF4C-D1A4-D7AF-6A8C-D67D3FA7D173}"/>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Submit payroll tax payments and filings to relevant authorities. Reference: tax_report.csv | tax_filling_history.csv</a:t>
                </a:r>
              </a:p>
            </p:txBody>
          </p:sp>
          <p:sp>
            <p:nvSpPr>
              <p:cNvPr id="60" name="TextBox 157">
                <a:extLst>
                  <a:ext uri="{FF2B5EF4-FFF2-40B4-BE49-F238E27FC236}">
                    <a16:creationId xmlns:a16="http://schemas.microsoft.com/office/drawing/2014/main" id="{C5AB1B1D-ABF5-79C1-B7C6-87F3F83C23C7}"/>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SUBMIT PAYROLL TAX</a:t>
                </a:r>
              </a:p>
            </p:txBody>
          </p:sp>
          <p:sp>
            <p:nvSpPr>
              <p:cNvPr id="61" name="TextBox 158">
                <a:extLst>
                  <a:ext uri="{FF2B5EF4-FFF2-40B4-BE49-F238E27FC236}">
                    <a16:creationId xmlns:a16="http://schemas.microsoft.com/office/drawing/2014/main" id="{26889763-FA85-A4F7-AB65-0D7E249ECB1A}"/>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AD1457"/>
                    </a:solidFill>
                    <a:latin typeface="TT Interphases Bold"/>
                    <a:ea typeface="TT Interphases Bold"/>
                    <a:cs typeface="TT Interphases Bold"/>
                    <a:sym typeface="TT Interphases Bold"/>
                  </a:rPr>
                  <a:t>TAX FILING &amp; PAYMENT</a:t>
                </a:r>
              </a:p>
            </p:txBody>
          </p:sp>
        </p:grpSp>
        <p:sp>
          <p:nvSpPr>
            <p:cNvPr id="58" name="TextBox 159">
              <a:extLst>
                <a:ext uri="{FF2B5EF4-FFF2-40B4-BE49-F238E27FC236}">
                  <a16:creationId xmlns:a16="http://schemas.microsoft.com/office/drawing/2014/main" id="{B18ED8E8-76C1-3AE0-4B4E-A0197EE07E1D}"/>
                </a:ext>
              </a:extLst>
            </p:cNvPr>
            <p:cNvSpPr txBox="1"/>
            <p:nvPr/>
          </p:nvSpPr>
          <p:spPr>
            <a:xfrm>
              <a:off x="4453222" y="18282819"/>
              <a:ext cx="3003857" cy="21457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PAYROLL MANAGEMENT FLOWCHART</a:t>
              </a:r>
            </a:p>
          </p:txBody>
        </p:sp>
      </p:grpSp>
      <p:grpSp>
        <p:nvGrpSpPr>
          <p:cNvPr id="176" name="Group 175">
            <a:extLst>
              <a:ext uri="{FF2B5EF4-FFF2-40B4-BE49-F238E27FC236}">
                <a16:creationId xmlns:a16="http://schemas.microsoft.com/office/drawing/2014/main" id="{3AEA440A-D180-4D64-78D7-7D5866ED86E6}"/>
              </a:ext>
            </a:extLst>
          </p:cNvPr>
          <p:cNvGrpSpPr/>
          <p:nvPr/>
        </p:nvGrpSpPr>
        <p:grpSpPr>
          <a:xfrm>
            <a:off x="1469683" y="1303328"/>
            <a:ext cx="11331916" cy="1124886"/>
            <a:chOff x="1469683" y="1303328"/>
            <a:chExt cx="11331916" cy="1124886"/>
          </a:xfrm>
        </p:grpSpPr>
        <p:sp>
          <p:nvSpPr>
            <p:cNvPr id="177" name="Freeform 7">
              <a:extLst>
                <a:ext uri="{FF2B5EF4-FFF2-40B4-BE49-F238E27FC236}">
                  <a16:creationId xmlns:a16="http://schemas.microsoft.com/office/drawing/2014/main" id="{A7DB969E-049D-EE8D-BB53-0C3F4F26D444}"/>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178" name="TextBox 10">
              <a:extLst>
                <a:ext uri="{FF2B5EF4-FFF2-40B4-BE49-F238E27FC236}">
                  <a16:creationId xmlns:a16="http://schemas.microsoft.com/office/drawing/2014/main" id="{C0FD08A1-35FD-C95C-0A7C-EB1FB602A8A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79" name="Freeform 3">
              <a:extLst>
                <a:ext uri="{FF2B5EF4-FFF2-40B4-BE49-F238E27FC236}">
                  <a16:creationId xmlns:a16="http://schemas.microsoft.com/office/drawing/2014/main" id="{BF17819A-3152-72DB-DD60-D49E65D98306}"/>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9D93-9CF8-5D69-B3C8-528D93EBBF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8AA563B-A0BB-C98F-A9A9-48421B34D46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9" name="TextBox 9">
            <a:extLst>
              <a:ext uri="{FF2B5EF4-FFF2-40B4-BE49-F238E27FC236}">
                <a16:creationId xmlns:a16="http://schemas.microsoft.com/office/drawing/2014/main" id="{DE62A0E4-A2DD-102F-779F-73E75CD75802}"/>
              </a:ext>
            </a:extLst>
          </p:cNvPr>
          <p:cNvSpPr txBox="1"/>
          <p:nvPr/>
        </p:nvSpPr>
        <p:spPr>
          <a:xfrm>
            <a:off x="2248639" y="2598928"/>
            <a:ext cx="87348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Core System Features</a:t>
            </a:r>
          </a:p>
        </p:txBody>
      </p:sp>
      <p:sp>
        <p:nvSpPr>
          <p:cNvPr id="14" name="Freeform 14">
            <a:extLst>
              <a:ext uri="{FF2B5EF4-FFF2-40B4-BE49-F238E27FC236}">
                <a16:creationId xmlns:a16="http://schemas.microsoft.com/office/drawing/2014/main" id="{EADC17DD-8D17-DFE2-9F4A-0F6ED9507ABD}"/>
              </a:ext>
            </a:extLst>
          </p:cNvPr>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5">
            <a:extLst>
              <a:ext uri="{FF2B5EF4-FFF2-40B4-BE49-F238E27FC236}">
                <a16:creationId xmlns:a16="http://schemas.microsoft.com/office/drawing/2014/main" id="{11A7FFA8-F727-0E72-AA0B-C2D3B2D60D1C}"/>
              </a:ext>
            </a:extLst>
          </p:cNvPr>
          <p:cNvSpPr txBox="1"/>
          <p:nvPr/>
        </p:nvSpPr>
        <p:spPr>
          <a:xfrm>
            <a:off x="1168028" y="3900709"/>
            <a:ext cx="8975769" cy="6401753"/>
          </a:xfrm>
          <a:prstGeom prst="rect">
            <a:avLst/>
          </a:prstGeom>
          <a:noFill/>
        </p:spPr>
        <p:txBody>
          <a:bodyPr wrap="square" rtlCol="0">
            <a:spAutoFit/>
          </a:bodyPr>
          <a:lstStyle/>
          <a:p>
            <a:r>
              <a:rPr lang="en-US" sz="4400" dirty="0">
                <a:solidFill>
                  <a:srgbClr val="00AAEB"/>
                </a:solidFill>
                <a:latin typeface="Lalezar"/>
                <a:cs typeface="Lalezar"/>
              </a:rPr>
              <a:t>Employee Management</a:t>
            </a:r>
          </a:p>
          <a:p>
            <a:endParaRPr lang="en-US" dirty="0"/>
          </a:p>
          <a:p>
            <a:r>
              <a:rPr lang="en-US" sz="2800" dirty="0">
                <a:solidFill>
                  <a:srgbClr val="000000"/>
                </a:solidFill>
                <a:latin typeface="Sukar"/>
                <a:cs typeface="Sukar"/>
              </a:rPr>
              <a:t>The foundation of the system is the Employee Record module, which maintains essential data:</a:t>
            </a:r>
          </a:p>
          <a:p>
            <a:pPr marL="285750" indent="-285750">
              <a:buFont typeface="Arial" panose="020B0604020202020204" pitchFamily="34" charset="0"/>
              <a:buChar char="•"/>
            </a:pPr>
            <a:r>
              <a:rPr lang="en-US" sz="2800" dirty="0">
                <a:solidFill>
                  <a:srgbClr val="000000"/>
                </a:solidFill>
                <a:latin typeface="Sukar"/>
                <a:cs typeface="Sukar"/>
              </a:rPr>
              <a:t>Unique Employee ID and Name validation.</a:t>
            </a:r>
          </a:p>
          <a:p>
            <a:pPr marL="285750" indent="-285750">
              <a:buFont typeface="Arial" panose="020B0604020202020204" pitchFamily="34" charset="0"/>
              <a:buChar char="•"/>
            </a:pPr>
            <a:r>
              <a:rPr lang="en-US" sz="2800" dirty="0">
                <a:solidFill>
                  <a:srgbClr val="000000"/>
                </a:solidFill>
                <a:latin typeface="Sukar"/>
                <a:cs typeface="Sukar"/>
              </a:rPr>
              <a:t>Role-based attributes (Position, Dept).</a:t>
            </a:r>
          </a:p>
          <a:p>
            <a:pPr marL="285750" indent="-285750">
              <a:buFont typeface="Arial" panose="020B0604020202020204" pitchFamily="34" charset="0"/>
              <a:buChar char="•"/>
            </a:pPr>
            <a:r>
              <a:rPr lang="en-US" sz="2800" dirty="0">
                <a:solidFill>
                  <a:srgbClr val="000000"/>
                </a:solidFill>
                <a:latin typeface="Sukar"/>
                <a:cs typeface="Sukar"/>
              </a:rPr>
              <a:t>Wage parameters (Monthly Salary, Hourly Rate).</a:t>
            </a:r>
          </a:p>
          <a:p>
            <a:pPr marL="285750" indent="-285750">
              <a:buFont typeface="Arial" panose="020B0604020202020204" pitchFamily="34" charset="0"/>
              <a:buChar char="•"/>
            </a:pPr>
            <a:r>
              <a:rPr lang="en-US" sz="2800" dirty="0">
                <a:solidFill>
                  <a:srgbClr val="000000"/>
                </a:solidFill>
                <a:latin typeface="Sukar"/>
                <a:cs typeface="Sukar"/>
              </a:rPr>
              <a:t>Contact Info (Phone Number, Gender).</a:t>
            </a:r>
          </a:p>
          <a:p>
            <a:br>
              <a:rPr lang="en-US" dirty="0"/>
            </a:br>
            <a:endParaRPr lang="en-US" dirty="0"/>
          </a:p>
          <a:p>
            <a:br>
              <a:rPr lang="en-US" dirty="0"/>
            </a:br>
            <a:br>
              <a:rPr lang="en-US" dirty="0"/>
            </a:br>
            <a:endParaRPr lang="en-US" dirty="0"/>
          </a:p>
          <a:p>
            <a:br>
              <a:rPr lang="en-US" dirty="0"/>
            </a:br>
            <a:endParaRPr lang="en-US" dirty="0"/>
          </a:p>
          <a:p>
            <a:br>
              <a:rPr lang="en-US" dirty="0"/>
            </a:br>
            <a:br>
              <a:rPr lang="en-US" dirty="0"/>
            </a:br>
            <a:endParaRPr lang="en-US" dirty="0"/>
          </a:p>
        </p:txBody>
      </p:sp>
      <p:grpSp>
        <p:nvGrpSpPr>
          <p:cNvPr id="4" name="Group 3">
            <a:extLst>
              <a:ext uri="{FF2B5EF4-FFF2-40B4-BE49-F238E27FC236}">
                <a16:creationId xmlns:a16="http://schemas.microsoft.com/office/drawing/2014/main" id="{3B47D99B-B943-1621-848E-AB868AEB0608}"/>
              </a:ext>
            </a:extLst>
          </p:cNvPr>
          <p:cNvGrpSpPr/>
          <p:nvPr/>
        </p:nvGrpSpPr>
        <p:grpSpPr>
          <a:xfrm>
            <a:off x="11327024" y="-7652934"/>
            <a:ext cx="6925719" cy="17939934"/>
            <a:chOff x="143871" y="655040"/>
            <a:chExt cx="7332258" cy="17939934"/>
          </a:xfrm>
        </p:grpSpPr>
        <p:grpSp>
          <p:nvGrpSpPr>
            <p:cNvPr id="5" name="Group 2">
              <a:extLst>
                <a:ext uri="{FF2B5EF4-FFF2-40B4-BE49-F238E27FC236}">
                  <a16:creationId xmlns:a16="http://schemas.microsoft.com/office/drawing/2014/main" id="{9CE76657-F3C5-C205-7EDE-D258442B832B}"/>
                </a:ext>
              </a:extLst>
            </p:cNvPr>
            <p:cNvGrpSpPr/>
            <p:nvPr/>
          </p:nvGrpSpPr>
          <p:grpSpPr>
            <a:xfrm rot="3723437">
              <a:off x="2823561" y="3324686"/>
              <a:ext cx="1767888" cy="228546"/>
              <a:chOff x="0" y="0"/>
              <a:chExt cx="2357184" cy="304728"/>
            </a:xfrm>
          </p:grpSpPr>
          <p:sp>
            <p:nvSpPr>
              <p:cNvPr id="323" name="AutoShape 3">
                <a:extLst>
                  <a:ext uri="{FF2B5EF4-FFF2-40B4-BE49-F238E27FC236}">
                    <a16:creationId xmlns:a16="http://schemas.microsoft.com/office/drawing/2014/main" id="{8AD6559C-836B-965C-637E-BFFD743FA74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24" name="AutoShape 4">
                <a:extLst>
                  <a:ext uri="{FF2B5EF4-FFF2-40B4-BE49-F238E27FC236}">
                    <a16:creationId xmlns:a16="http://schemas.microsoft.com/office/drawing/2014/main" id="{15724906-C5E9-5379-273D-594B5435D9E4}"/>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25" name="AutoShape 5">
                <a:extLst>
                  <a:ext uri="{FF2B5EF4-FFF2-40B4-BE49-F238E27FC236}">
                    <a16:creationId xmlns:a16="http://schemas.microsoft.com/office/drawing/2014/main" id="{4DAA8B5B-063D-0D99-410B-0DC8E58C9EED}"/>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6" name="Group 6">
              <a:extLst>
                <a:ext uri="{FF2B5EF4-FFF2-40B4-BE49-F238E27FC236}">
                  <a16:creationId xmlns:a16="http://schemas.microsoft.com/office/drawing/2014/main" id="{3379F188-F0BA-F640-81E9-1F2B0A1D7EE8}"/>
                </a:ext>
              </a:extLst>
            </p:cNvPr>
            <p:cNvGrpSpPr/>
            <p:nvPr/>
          </p:nvGrpSpPr>
          <p:grpSpPr>
            <a:xfrm rot="3723437">
              <a:off x="2832914" y="6658792"/>
              <a:ext cx="1767888" cy="228546"/>
              <a:chOff x="0" y="0"/>
              <a:chExt cx="2357184" cy="304728"/>
            </a:xfrm>
          </p:grpSpPr>
          <p:sp>
            <p:nvSpPr>
              <p:cNvPr id="320" name="AutoShape 7">
                <a:extLst>
                  <a:ext uri="{FF2B5EF4-FFF2-40B4-BE49-F238E27FC236}">
                    <a16:creationId xmlns:a16="http://schemas.microsoft.com/office/drawing/2014/main" id="{70DD9F40-4FB8-C966-45B8-E1AA699D9387}"/>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21" name="AutoShape 8">
                <a:extLst>
                  <a:ext uri="{FF2B5EF4-FFF2-40B4-BE49-F238E27FC236}">
                    <a16:creationId xmlns:a16="http://schemas.microsoft.com/office/drawing/2014/main" id="{6AE4900D-C185-BAA0-4485-B04D6A4105E8}"/>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22" name="AutoShape 9">
                <a:extLst>
                  <a:ext uri="{FF2B5EF4-FFF2-40B4-BE49-F238E27FC236}">
                    <a16:creationId xmlns:a16="http://schemas.microsoft.com/office/drawing/2014/main" id="{8DDE61A4-6F0F-D78B-5675-F6A9294C455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7" name="Group 10">
              <a:extLst>
                <a:ext uri="{FF2B5EF4-FFF2-40B4-BE49-F238E27FC236}">
                  <a16:creationId xmlns:a16="http://schemas.microsoft.com/office/drawing/2014/main" id="{40E04638-765B-EBBB-739E-D47B1D9DECB2}"/>
                </a:ext>
              </a:extLst>
            </p:cNvPr>
            <p:cNvGrpSpPr/>
            <p:nvPr/>
          </p:nvGrpSpPr>
          <p:grpSpPr>
            <a:xfrm rot="3723437">
              <a:off x="2832914" y="9991076"/>
              <a:ext cx="1767888" cy="228546"/>
              <a:chOff x="0" y="0"/>
              <a:chExt cx="2357184" cy="304728"/>
            </a:xfrm>
          </p:grpSpPr>
          <p:sp>
            <p:nvSpPr>
              <p:cNvPr id="317" name="AutoShape 11">
                <a:extLst>
                  <a:ext uri="{FF2B5EF4-FFF2-40B4-BE49-F238E27FC236}">
                    <a16:creationId xmlns:a16="http://schemas.microsoft.com/office/drawing/2014/main" id="{68E4BF3C-5837-5083-7799-82F6689D38CF}"/>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8" name="AutoShape 12">
                <a:extLst>
                  <a:ext uri="{FF2B5EF4-FFF2-40B4-BE49-F238E27FC236}">
                    <a16:creationId xmlns:a16="http://schemas.microsoft.com/office/drawing/2014/main" id="{25A2EC38-B63A-9742-93DC-C33A4F2332C9}"/>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9" name="AutoShape 13">
                <a:extLst>
                  <a:ext uri="{FF2B5EF4-FFF2-40B4-BE49-F238E27FC236}">
                    <a16:creationId xmlns:a16="http://schemas.microsoft.com/office/drawing/2014/main" id="{699E8EFD-24E6-9493-FD61-58F6B1FEE0F8}"/>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0" name="Group 14">
              <a:extLst>
                <a:ext uri="{FF2B5EF4-FFF2-40B4-BE49-F238E27FC236}">
                  <a16:creationId xmlns:a16="http://schemas.microsoft.com/office/drawing/2014/main" id="{6786E1F3-38A8-2FB1-48DC-93CD507F9B19}"/>
                </a:ext>
              </a:extLst>
            </p:cNvPr>
            <p:cNvGrpSpPr/>
            <p:nvPr/>
          </p:nvGrpSpPr>
          <p:grpSpPr>
            <a:xfrm rot="3723437">
              <a:off x="2845130" y="13323360"/>
              <a:ext cx="1767888" cy="228546"/>
              <a:chOff x="0" y="0"/>
              <a:chExt cx="2357184" cy="304728"/>
            </a:xfrm>
          </p:grpSpPr>
          <p:sp>
            <p:nvSpPr>
              <p:cNvPr id="314" name="AutoShape 15">
                <a:extLst>
                  <a:ext uri="{FF2B5EF4-FFF2-40B4-BE49-F238E27FC236}">
                    <a16:creationId xmlns:a16="http://schemas.microsoft.com/office/drawing/2014/main" id="{68DA232F-8E8C-4253-3059-08B9898A217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5" name="AutoShape 16">
                <a:extLst>
                  <a:ext uri="{FF2B5EF4-FFF2-40B4-BE49-F238E27FC236}">
                    <a16:creationId xmlns:a16="http://schemas.microsoft.com/office/drawing/2014/main" id="{44B33E9D-6A33-E20F-B16E-91CFCE314FCE}"/>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6" name="AutoShape 17">
                <a:extLst>
                  <a:ext uri="{FF2B5EF4-FFF2-40B4-BE49-F238E27FC236}">
                    <a16:creationId xmlns:a16="http://schemas.microsoft.com/office/drawing/2014/main" id="{EBE764BD-43A8-71A2-2830-6005C02D2184}"/>
                  </a:ext>
                </a:extLst>
              </p:cNvPr>
              <p:cNvSpPr/>
              <p:nvPr/>
            </p:nvSpPr>
            <p:spPr>
              <a:xfrm>
                <a:off x="0" y="152364"/>
                <a:ext cx="2357184" cy="0"/>
              </a:xfrm>
              <a:prstGeom prst="line">
                <a:avLst/>
              </a:prstGeom>
              <a:ln w="26208" cap="flat">
                <a:solidFill>
                  <a:srgbClr val="000000"/>
                </a:solidFill>
                <a:prstDash val="solid"/>
                <a:headEnd type="none" w="sm" len="sm"/>
                <a:tailEnd type="none" w="sm" len="sm"/>
              </a:ln>
            </p:spPr>
            <p:txBody>
              <a:bodyPr/>
              <a:lstStyle/>
              <a:p>
                <a:endParaRPr lang="en-US" dirty="0"/>
              </a:p>
            </p:txBody>
          </p:sp>
        </p:grpSp>
        <p:grpSp>
          <p:nvGrpSpPr>
            <p:cNvPr id="11" name="Group 18">
              <a:extLst>
                <a:ext uri="{FF2B5EF4-FFF2-40B4-BE49-F238E27FC236}">
                  <a16:creationId xmlns:a16="http://schemas.microsoft.com/office/drawing/2014/main" id="{8E7285D1-C2E6-E466-3D3A-4783E0BFFD48}"/>
                </a:ext>
              </a:extLst>
            </p:cNvPr>
            <p:cNvGrpSpPr/>
            <p:nvPr/>
          </p:nvGrpSpPr>
          <p:grpSpPr>
            <a:xfrm rot="3723437">
              <a:off x="2816402" y="16655644"/>
              <a:ext cx="1767888" cy="228546"/>
              <a:chOff x="0" y="0"/>
              <a:chExt cx="2357184" cy="304728"/>
            </a:xfrm>
          </p:grpSpPr>
          <p:sp>
            <p:nvSpPr>
              <p:cNvPr id="311" name="AutoShape 19">
                <a:extLst>
                  <a:ext uri="{FF2B5EF4-FFF2-40B4-BE49-F238E27FC236}">
                    <a16:creationId xmlns:a16="http://schemas.microsoft.com/office/drawing/2014/main" id="{286B478D-F11D-6461-6DF6-A9CA3A11748E}"/>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12" name="AutoShape 20">
                <a:extLst>
                  <a:ext uri="{FF2B5EF4-FFF2-40B4-BE49-F238E27FC236}">
                    <a16:creationId xmlns:a16="http://schemas.microsoft.com/office/drawing/2014/main" id="{D961B5F7-FE8F-C400-A967-DD8368238837}"/>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3" name="AutoShape 21">
                <a:extLst>
                  <a:ext uri="{FF2B5EF4-FFF2-40B4-BE49-F238E27FC236}">
                    <a16:creationId xmlns:a16="http://schemas.microsoft.com/office/drawing/2014/main" id="{9DBCFCE0-D8B1-B5F6-16AB-929FE4A4E9A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2" name="Group 22">
              <a:extLst>
                <a:ext uri="{FF2B5EF4-FFF2-40B4-BE49-F238E27FC236}">
                  <a16:creationId xmlns:a16="http://schemas.microsoft.com/office/drawing/2014/main" id="{BD6ABC0F-726C-A6B6-FEE6-EA192378179F}"/>
                </a:ext>
              </a:extLst>
            </p:cNvPr>
            <p:cNvGrpSpPr/>
            <p:nvPr/>
          </p:nvGrpSpPr>
          <p:grpSpPr>
            <a:xfrm rot="-3629133">
              <a:off x="2803805" y="4982833"/>
              <a:ext cx="1767888" cy="228546"/>
              <a:chOff x="0" y="0"/>
              <a:chExt cx="2357184" cy="304728"/>
            </a:xfrm>
          </p:grpSpPr>
          <p:sp>
            <p:nvSpPr>
              <p:cNvPr id="308" name="AutoShape 23">
                <a:extLst>
                  <a:ext uri="{FF2B5EF4-FFF2-40B4-BE49-F238E27FC236}">
                    <a16:creationId xmlns:a16="http://schemas.microsoft.com/office/drawing/2014/main" id="{D5D7E584-614C-E7DC-83A2-29A16B8ADD3C}"/>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9" name="AutoShape 24">
                <a:extLst>
                  <a:ext uri="{FF2B5EF4-FFF2-40B4-BE49-F238E27FC236}">
                    <a16:creationId xmlns:a16="http://schemas.microsoft.com/office/drawing/2014/main" id="{9839E8DA-2EC8-36F3-6B09-7A38F9E897F1}"/>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10" name="AutoShape 25">
                <a:extLst>
                  <a:ext uri="{FF2B5EF4-FFF2-40B4-BE49-F238E27FC236}">
                    <a16:creationId xmlns:a16="http://schemas.microsoft.com/office/drawing/2014/main" id="{D7900876-42C7-1CB7-6E43-B36A77D0A1AC}"/>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3" name="Group 26">
              <a:extLst>
                <a:ext uri="{FF2B5EF4-FFF2-40B4-BE49-F238E27FC236}">
                  <a16:creationId xmlns:a16="http://schemas.microsoft.com/office/drawing/2014/main" id="{FEB2E056-70DF-0E70-6A68-5B37EA738BA1}"/>
                </a:ext>
              </a:extLst>
            </p:cNvPr>
            <p:cNvGrpSpPr/>
            <p:nvPr/>
          </p:nvGrpSpPr>
          <p:grpSpPr>
            <a:xfrm rot="-3629133">
              <a:off x="2788725" y="8316939"/>
              <a:ext cx="1767888" cy="228546"/>
              <a:chOff x="0" y="0"/>
              <a:chExt cx="2357184" cy="304728"/>
            </a:xfrm>
          </p:grpSpPr>
          <p:sp>
            <p:nvSpPr>
              <p:cNvPr id="305" name="AutoShape 27">
                <a:extLst>
                  <a:ext uri="{FF2B5EF4-FFF2-40B4-BE49-F238E27FC236}">
                    <a16:creationId xmlns:a16="http://schemas.microsoft.com/office/drawing/2014/main" id="{779C4D88-F4EC-8E8E-75FD-6785F3749C62}"/>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6" name="AutoShape 28">
                <a:extLst>
                  <a:ext uri="{FF2B5EF4-FFF2-40B4-BE49-F238E27FC236}">
                    <a16:creationId xmlns:a16="http://schemas.microsoft.com/office/drawing/2014/main" id="{FACE6732-DE5E-5844-8353-ED52415A4730}"/>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7" name="AutoShape 29">
                <a:extLst>
                  <a:ext uri="{FF2B5EF4-FFF2-40B4-BE49-F238E27FC236}">
                    <a16:creationId xmlns:a16="http://schemas.microsoft.com/office/drawing/2014/main" id="{1DC8B652-D7A5-3DEE-2635-38322609AA2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5" name="Group 30">
              <a:extLst>
                <a:ext uri="{FF2B5EF4-FFF2-40B4-BE49-F238E27FC236}">
                  <a16:creationId xmlns:a16="http://schemas.microsoft.com/office/drawing/2014/main" id="{5BC6CC93-7263-8912-80DB-CEC46001C1A5}"/>
                </a:ext>
              </a:extLst>
            </p:cNvPr>
            <p:cNvGrpSpPr/>
            <p:nvPr/>
          </p:nvGrpSpPr>
          <p:grpSpPr>
            <a:xfrm rot="-3629133">
              <a:off x="2788725" y="11649223"/>
              <a:ext cx="1767888" cy="228546"/>
              <a:chOff x="0" y="0"/>
              <a:chExt cx="2357184" cy="304728"/>
            </a:xfrm>
          </p:grpSpPr>
          <p:sp>
            <p:nvSpPr>
              <p:cNvPr id="302" name="AutoShape 31">
                <a:extLst>
                  <a:ext uri="{FF2B5EF4-FFF2-40B4-BE49-F238E27FC236}">
                    <a16:creationId xmlns:a16="http://schemas.microsoft.com/office/drawing/2014/main" id="{CD9E5722-6006-F0D2-BB24-7E2BA612B724}"/>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3" name="AutoShape 32">
                <a:extLst>
                  <a:ext uri="{FF2B5EF4-FFF2-40B4-BE49-F238E27FC236}">
                    <a16:creationId xmlns:a16="http://schemas.microsoft.com/office/drawing/2014/main" id="{0B693730-9EFF-4C7C-1F3D-93B60009AEB6}"/>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4" name="AutoShape 33">
                <a:extLst>
                  <a:ext uri="{FF2B5EF4-FFF2-40B4-BE49-F238E27FC236}">
                    <a16:creationId xmlns:a16="http://schemas.microsoft.com/office/drawing/2014/main" id="{E911DD5B-8356-DE00-26E0-8A18C9667C02}"/>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76" name="Group 34">
              <a:extLst>
                <a:ext uri="{FF2B5EF4-FFF2-40B4-BE49-F238E27FC236}">
                  <a16:creationId xmlns:a16="http://schemas.microsoft.com/office/drawing/2014/main" id="{4854E1A6-393D-63E4-2434-B78E95BC227C}"/>
                </a:ext>
              </a:extLst>
            </p:cNvPr>
            <p:cNvGrpSpPr/>
            <p:nvPr/>
          </p:nvGrpSpPr>
          <p:grpSpPr>
            <a:xfrm rot="-3629133">
              <a:off x="2759998" y="14981507"/>
              <a:ext cx="1767888" cy="228546"/>
              <a:chOff x="0" y="0"/>
              <a:chExt cx="2357184" cy="304728"/>
            </a:xfrm>
          </p:grpSpPr>
          <p:sp>
            <p:nvSpPr>
              <p:cNvPr id="299" name="AutoShape 35">
                <a:extLst>
                  <a:ext uri="{FF2B5EF4-FFF2-40B4-BE49-F238E27FC236}">
                    <a16:creationId xmlns:a16="http://schemas.microsoft.com/office/drawing/2014/main" id="{44BD69BE-03E4-C459-3D52-5F7460AF715B}"/>
                  </a:ext>
                </a:extLst>
              </p:cNvPr>
              <p:cNvSpPr/>
              <p:nvPr/>
            </p:nvSpPr>
            <p:spPr>
              <a:xfrm flipV="1">
                <a:off x="0" y="13104"/>
                <a:ext cx="2357184" cy="0"/>
              </a:xfrm>
              <a:prstGeom prst="line">
                <a:avLst/>
              </a:prstGeom>
              <a:ln w="26208" cap="flat">
                <a:solidFill>
                  <a:srgbClr val="000000"/>
                </a:solidFill>
                <a:prstDash val="solid"/>
                <a:headEnd type="none" w="sm" len="sm"/>
                <a:tailEnd type="none" w="sm" len="sm"/>
              </a:ln>
            </p:spPr>
          </p:sp>
          <p:sp>
            <p:nvSpPr>
              <p:cNvPr id="300" name="AutoShape 36">
                <a:extLst>
                  <a:ext uri="{FF2B5EF4-FFF2-40B4-BE49-F238E27FC236}">
                    <a16:creationId xmlns:a16="http://schemas.microsoft.com/office/drawing/2014/main" id="{EE1846E7-9F1E-1C3F-68BF-229BEA60146C}"/>
                  </a:ext>
                </a:extLst>
              </p:cNvPr>
              <p:cNvSpPr/>
              <p:nvPr/>
            </p:nvSpPr>
            <p:spPr>
              <a:xfrm>
                <a:off x="0" y="291625"/>
                <a:ext cx="2357184" cy="0"/>
              </a:xfrm>
              <a:prstGeom prst="line">
                <a:avLst/>
              </a:prstGeom>
              <a:ln w="26208" cap="flat">
                <a:solidFill>
                  <a:srgbClr val="000000"/>
                </a:solidFill>
                <a:prstDash val="solid"/>
                <a:headEnd type="none" w="sm" len="sm"/>
                <a:tailEnd type="none" w="sm" len="sm"/>
              </a:ln>
            </p:spPr>
          </p:sp>
          <p:sp>
            <p:nvSpPr>
              <p:cNvPr id="301" name="AutoShape 37">
                <a:extLst>
                  <a:ext uri="{FF2B5EF4-FFF2-40B4-BE49-F238E27FC236}">
                    <a16:creationId xmlns:a16="http://schemas.microsoft.com/office/drawing/2014/main" id="{FD72BAFE-E05D-A469-ADC1-1A74A6E95A70}"/>
                  </a:ext>
                </a:extLst>
              </p:cNvPr>
              <p:cNvSpPr/>
              <p:nvPr/>
            </p:nvSpPr>
            <p:spPr>
              <a:xfrm>
                <a:off x="0" y="152364"/>
                <a:ext cx="2357184" cy="0"/>
              </a:xfrm>
              <a:prstGeom prst="line">
                <a:avLst/>
              </a:prstGeom>
              <a:ln w="26208" cap="flat">
                <a:solidFill>
                  <a:srgbClr val="000000"/>
                </a:solidFill>
                <a:prstDash val="solid"/>
                <a:headEnd type="none" w="sm" len="sm"/>
                <a:tailEnd type="none" w="sm" len="sm"/>
              </a:ln>
            </p:spPr>
          </p:sp>
        </p:grpSp>
        <p:grpSp>
          <p:nvGrpSpPr>
            <p:cNvPr id="177" name="Group 38">
              <a:extLst>
                <a:ext uri="{FF2B5EF4-FFF2-40B4-BE49-F238E27FC236}">
                  <a16:creationId xmlns:a16="http://schemas.microsoft.com/office/drawing/2014/main" id="{F553764C-5F1F-3021-22C8-548C80EF37E8}"/>
                </a:ext>
              </a:extLst>
            </p:cNvPr>
            <p:cNvGrpSpPr/>
            <p:nvPr/>
          </p:nvGrpSpPr>
          <p:grpSpPr>
            <a:xfrm>
              <a:off x="2747846" y="2081482"/>
              <a:ext cx="1046078" cy="837735"/>
              <a:chOff x="0" y="0"/>
              <a:chExt cx="1394770" cy="1116980"/>
            </a:xfrm>
          </p:grpSpPr>
          <p:grpSp>
            <p:nvGrpSpPr>
              <p:cNvPr id="295" name="Group 39">
                <a:extLst>
                  <a:ext uri="{FF2B5EF4-FFF2-40B4-BE49-F238E27FC236}">
                    <a16:creationId xmlns:a16="http://schemas.microsoft.com/office/drawing/2014/main" id="{8BD41DB3-9DFB-6DFE-C3BC-1B82982BC64D}"/>
                  </a:ext>
                </a:extLst>
              </p:cNvPr>
              <p:cNvGrpSpPr/>
              <p:nvPr/>
            </p:nvGrpSpPr>
            <p:grpSpPr>
              <a:xfrm>
                <a:off x="0" y="0"/>
                <a:ext cx="1394770" cy="1116980"/>
                <a:chOff x="0" y="0"/>
                <a:chExt cx="812800" cy="650918"/>
              </a:xfrm>
            </p:grpSpPr>
            <p:sp>
              <p:nvSpPr>
                <p:cNvPr id="297" name="Freeform 40">
                  <a:extLst>
                    <a:ext uri="{FF2B5EF4-FFF2-40B4-BE49-F238E27FC236}">
                      <a16:creationId xmlns:a16="http://schemas.microsoft.com/office/drawing/2014/main" id="{00847E6D-F163-6B68-0D2C-83FFD4104D3A}"/>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1565C0"/>
                </a:solidFill>
              </p:spPr>
            </p:sp>
            <p:sp>
              <p:nvSpPr>
                <p:cNvPr id="298" name="TextBox 41">
                  <a:extLst>
                    <a:ext uri="{FF2B5EF4-FFF2-40B4-BE49-F238E27FC236}">
                      <a16:creationId xmlns:a16="http://schemas.microsoft.com/office/drawing/2014/main" id="{32495B9B-5549-BC1F-B486-12432AAE02D0}"/>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96" name="TextBox 42">
                <a:extLst>
                  <a:ext uri="{FF2B5EF4-FFF2-40B4-BE49-F238E27FC236}">
                    <a16:creationId xmlns:a16="http://schemas.microsoft.com/office/drawing/2014/main" id="{D3101B99-7AE8-5EDA-2AFE-FD9E0A3CA36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01</a:t>
                </a:r>
              </a:p>
            </p:txBody>
          </p:sp>
        </p:grpSp>
        <p:grpSp>
          <p:nvGrpSpPr>
            <p:cNvPr id="178" name="Group 43">
              <a:extLst>
                <a:ext uri="{FF2B5EF4-FFF2-40B4-BE49-F238E27FC236}">
                  <a16:creationId xmlns:a16="http://schemas.microsoft.com/office/drawing/2014/main" id="{5A9FB235-D5A4-2809-6B9E-BC8235D996B0}"/>
                </a:ext>
              </a:extLst>
            </p:cNvPr>
            <p:cNvGrpSpPr/>
            <p:nvPr/>
          </p:nvGrpSpPr>
          <p:grpSpPr>
            <a:xfrm>
              <a:off x="2757198" y="5415589"/>
              <a:ext cx="1046078" cy="837735"/>
              <a:chOff x="0" y="0"/>
              <a:chExt cx="1394770" cy="1116980"/>
            </a:xfrm>
          </p:grpSpPr>
          <p:grpSp>
            <p:nvGrpSpPr>
              <p:cNvPr id="291" name="Group 44">
                <a:extLst>
                  <a:ext uri="{FF2B5EF4-FFF2-40B4-BE49-F238E27FC236}">
                    <a16:creationId xmlns:a16="http://schemas.microsoft.com/office/drawing/2014/main" id="{C129872F-3628-964C-BBBC-D4AC0FA67693}"/>
                  </a:ext>
                </a:extLst>
              </p:cNvPr>
              <p:cNvGrpSpPr/>
              <p:nvPr/>
            </p:nvGrpSpPr>
            <p:grpSpPr>
              <a:xfrm>
                <a:off x="0" y="0"/>
                <a:ext cx="1394770" cy="1116980"/>
                <a:chOff x="0" y="0"/>
                <a:chExt cx="812800" cy="650918"/>
              </a:xfrm>
            </p:grpSpPr>
            <p:sp>
              <p:nvSpPr>
                <p:cNvPr id="293" name="Freeform 45">
                  <a:extLst>
                    <a:ext uri="{FF2B5EF4-FFF2-40B4-BE49-F238E27FC236}">
                      <a16:creationId xmlns:a16="http://schemas.microsoft.com/office/drawing/2014/main" id="{090BF381-BD92-D7DF-4A03-7DC3F8CFB2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F8D16"/>
                </a:solidFill>
              </p:spPr>
            </p:sp>
            <p:sp>
              <p:nvSpPr>
                <p:cNvPr id="294" name="TextBox 46">
                  <a:extLst>
                    <a:ext uri="{FF2B5EF4-FFF2-40B4-BE49-F238E27FC236}">
                      <a16:creationId xmlns:a16="http://schemas.microsoft.com/office/drawing/2014/main" id="{FEA506D8-C878-AAD1-3DC2-3B78B294DBA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92" name="TextBox 47">
                <a:extLst>
                  <a:ext uri="{FF2B5EF4-FFF2-40B4-BE49-F238E27FC236}">
                    <a16:creationId xmlns:a16="http://schemas.microsoft.com/office/drawing/2014/main" id="{C0E5620F-E346-64EE-0D67-8B309162724D}"/>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03</a:t>
                </a:r>
              </a:p>
            </p:txBody>
          </p:sp>
        </p:grpSp>
        <p:grpSp>
          <p:nvGrpSpPr>
            <p:cNvPr id="179" name="Group 48">
              <a:extLst>
                <a:ext uri="{FF2B5EF4-FFF2-40B4-BE49-F238E27FC236}">
                  <a16:creationId xmlns:a16="http://schemas.microsoft.com/office/drawing/2014/main" id="{AC4488D7-B414-B18E-9E3C-D8A449AA4B85}"/>
                </a:ext>
              </a:extLst>
            </p:cNvPr>
            <p:cNvGrpSpPr/>
            <p:nvPr/>
          </p:nvGrpSpPr>
          <p:grpSpPr>
            <a:xfrm>
              <a:off x="2757198" y="8747872"/>
              <a:ext cx="1046078" cy="837735"/>
              <a:chOff x="0" y="0"/>
              <a:chExt cx="1394770" cy="1116980"/>
            </a:xfrm>
          </p:grpSpPr>
          <p:grpSp>
            <p:nvGrpSpPr>
              <p:cNvPr id="287" name="Group 49">
                <a:extLst>
                  <a:ext uri="{FF2B5EF4-FFF2-40B4-BE49-F238E27FC236}">
                    <a16:creationId xmlns:a16="http://schemas.microsoft.com/office/drawing/2014/main" id="{2631BF1E-FA96-DE13-1913-415760F90486}"/>
                  </a:ext>
                </a:extLst>
              </p:cNvPr>
              <p:cNvGrpSpPr/>
              <p:nvPr/>
            </p:nvGrpSpPr>
            <p:grpSpPr>
              <a:xfrm>
                <a:off x="0" y="0"/>
                <a:ext cx="1394770" cy="1116980"/>
                <a:chOff x="0" y="0"/>
                <a:chExt cx="812800" cy="650918"/>
              </a:xfrm>
            </p:grpSpPr>
            <p:sp>
              <p:nvSpPr>
                <p:cNvPr id="289" name="Freeform 50">
                  <a:extLst>
                    <a:ext uri="{FF2B5EF4-FFF2-40B4-BE49-F238E27FC236}">
                      <a16:creationId xmlns:a16="http://schemas.microsoft.com/office/drawing/2014/main" id="{627C40D1-BE7B-97EE-D6C7-B5FDF3F868A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8C00"/>
                </a:solidFill>
              </p:spPr>
            </p:sp>
            <p:sp>
              <p:nvSpPr>
                <p:cNvPr id="290" name="TextBox 51">
                  <a:extLst>
                    <a:ext uri="{FF2B5EF4-FFF2-40B4-BE49-F238E27FC236}">
                      <a16:creationId xmlns:a16="http://schemas.microsoft.com/office/drawing/2014/main" id="{2A7E0CCC-772A-BA55-BF8B-025540A24727}"/>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8" name="TextBox 52">
                <a:extLst>
                  <a:ext uri="{FF2B5EF4-FFF2-40B4-BE49-F238E27FC236}">
                    <a16:creationId xmlns:a16="http://schemas.microsoft.com/office/drawing/2014/main" id="{166AB61B-26D7-B73D-28CD-908D2EB6B537}"/>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05</a:t>
                </a:r>
              </a:p>
            </p:txBody>
          </p:sp>
        </p:grpSp>
        <p:grpSp>
          <p:nvGrpSpPr>
            <p:cNvPr id="180" name="Group 53">
              <a:extLst>
                <a:ext uri="{FF2B5EF4-FFF2-40B4-BE49-F238E27FC236}">
                  <a16:creationId xmlns:a16="http://schemas.microsoft.com/office/drawing/2014/main" id="{4404ED6D-F542-89BF-8BC7-5884777CE4AA}"/>
                </a:ext>
              </a:extLst>
            </p:cNvPr>
            <p:cNvGrpSpPr/>
            <p:nvPr/>
          </p:nvGrpSpPr>
          <p:grpSpPr>
            <a:xfrm>
              <a:off x="2769415" y="12080156"/>
              <a:ext cx="1046078" cy="837735"/>
              <a:chOff x="0" y="0"/>
              <a:chExt cx="1394770" cy="1116980"/>
            </a:xfrm>
          </p:grpSpPr>
          <p:grpSp>
            <p:nvGrpSpPr>
              <p:cNvPr id="283" name="Group 54">
                <a:extLst>
                  <a:ext uri="{FF2B5EF4-FFF2-40B4-BE49-F238E27FC236}">
                    <a16:creationId xmlns:a16="http://schemas.microsoft.com/office/drawing/2014/main" id="{44668F6F-BE5E-0AB6-E5B2-E2A599443F62}"/>
                  </a:ext>
                </a:extLst>
              </p:cNvPr>
              <p:cNvGrpSpPr/>
              <p:nvPr/>
            </p:nvGrpSpPr>
            <p:grpSpPr>
              <a:xfrm>
                <a:off x="0" y="0"/>
                <a:ext cx="1394770" cy="1116980"/>
                <a:chOff x="0" y="0"/>
                <a:chExt cx="812800" cy="650918"/>
              </a:xfrm>
            </p:grpSpPr>
            <p:sp>
              <p:nvSpPr>
                <p:cNvPr id="285" name="Freeform 55">
                  <a:extLst>
                    <a:ext uri="{FF2B5EF4-FFF2-40B4-BE49-F238E27FC236}">
                      <a16:creationId xmlns:a16="http://schemas.microsoft.com/office/drawing/2014/main" id="{3CA87F85-B089-4A59-38CE-6DAE0434E0B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32F2F"/>
                </a:solidFill>
              </p:spPr>
            </p:sp>
            <p:sp>
              <p:nvSpPr>
                <p:cNvPr id="286" name="TextBox 56">
                  <a:extLst>
                    <a:ext uri="{FF2B5EF4-FFF2-40B4-BE49-F238E27FC236}">
                      <a16:creationId xmlns:a16="http://schemas.microsoft.com/office/drawing/2014/main" id="{DD86BDED-7FCB-6ECC-59F2-0B0989CE8AD3}"/>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4" name="TextBox 57">
                <a:extLst>
                  <a:ext uri="{FF2B5EF4-FFF2-40B4-BE49-F238E27FC236}">
                    <a16:creationId xmlns:a16="http://schemas.microsoft.com/office/drawing/2014/main" id="{1238BF92-7117-E944-ACDF-463762B40EC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07</a:t>
                </a:r>
              </a:p>
            </p:txBody>
          </p:sp>
        </p:grpSp>
        <p:grpSp>
          <p:nvGrpSpPr>
            <p:cNvPr id="181" name="Group 58">
              <a:extLst>
                <a:ext uri="{FF2B5EF4-FFF2-40B4-BE49-F238E27FC236}">
                  <a16:creationId xmlns:a16="http://schemas.microsoft.com/office/drawing/2014/main" id="{106D7566-AF94-9E70-1661-A95DD419B2D7}"/>
                </a:ext>
              </a:extLst>
            </p:cNvPr>
            <p:cNvGrpSpPr/>
            <p:nvPr/>
          </p:nvGrpSpPr>
          <p:grpSpPr>
            <a:xfrm>
              <a:off x="2740687" y="15412440"/>
              <a:ext cx="1046078" cy="837735"/>
              <a:chOff x="0" y="0"/>
              <a:chExt cx="1394770" cy="1116980"/>
            </a:xfrm>
          </p:grpSpPr>
          <p:grpSp>
            <p:nvGrpSpPr>
              <p:cNvPr id="279" name="Group 59">
                <a:extLst>
                  <a:ext uri="{FF2B5EF4-FFF2-40B4-BE49-F238E27FC236}">
                    <a16:creationId xmlns:a16="http://schemas.microsoft.com/office/drawing/2014/main" id="{0183B8FA-2969-81E4-F9B7-EE85554905D3}"/>
                  </a:ext>
                </a:extLst>
              </p:cNvPr>
              <p:cNvGrpSpPr/>
              <p:nvPr/>
            </p:nvGrpSpPr>
            <p:grpSpPr>
              <a:xfrm>
                <a:off x="0" y="0"/>
                <a:ext cx="1394770" cy="1116980"/>
                <a:chOff x="0" y="0"/>
                <a:chExt cx="812800" cy="650918"/>
              </a:xfrm>
            </p:grpSpPr>
            <p:sp>
              <p:nvSpPr>
                <p:cNvPr id="281" name="Freeform 60">
                  <a:extLst>
                    <a:ext uri="{FF2B5EF4-FFF2-40B4-BE49-F238E27FC236}">
                      <a16:creationId xmlns:a16="http://schemas.microsoft.com/office/drawing/2014/main" id="{E4EE390A-5219-1870-A77A-CA67D223E54A}"/>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DB15D3"/>
                </a:solidFill>
              </p:spPr>
            </p:sp>
            <p:sp>
              <p:nvSpPr>
                <p:cNvPr id="282" name="TextBox 61">
                  <a:extLst>
                    <a:ext uri="{FF2B5EF4-FFF2-40B4-BE49-F238E27FC236}">
                      <a16:creationId xmlns:a16="http://schemas.microsoft.com/office/drawing/2014/main" id="{E029D0BF-F394-5207-9A6B-AFBFE635A9AB}"/>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80" name="TextBox 62">
                <a:extLst>
                  <a:ext uri="{FF2B5EF4-FFF2-40B4-BE49-F238E27FC236}">
                    <a16:creationId xmlns:a16="http://schemas.microsoft.com/office/drawing/2014/main" id="{1BF7BE89-0362-C864-3191-E02709FA406A}"/>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09</a:t>
                </a:r>
              </a:p>
            </p:txBody>
          </p:sp>
        </p:grpSp>
        <p:grpSp>
          <p:nvGrpSpPr>
            <p:cNvPr id="182" name="Group 63">
              <a:extLst>
                <a:ext uri="{FF2B5EF4-FFF2-40B4-BE49-F238E27FC236}">
                  <a16:creationId xmlns:a16="http://schemas.microsoft.com/office/drawing/2014/main" id="{FB17528F-202D-7271-9723-01BDC4B2F39C}"/>
                </a:ext>
              </a:extLst>
            </p:cNvPr>
            <p:cNvGrpSpPr/>
            <p:nvPr/>
          </p:nvGrpSpPr>
          <p:grpSpPr>
            <a:xfrm>
              <a:off x="3602382" y="3748535"/>
              <a:ext cx="1046078" cy="837735"/>
              <a:chOff x="0" y="0"/>
              <a:chExt cx="1394770" cy="1116980"/>
            </a:xfrm>
          </p:grpSpPr>
          <p:grpSp>
            <p:nvGrpSpPr>
              <p:cNvPr id="275" name="Group 64">
                <a:extLst>
                  <a:ext uri="{FF2B5EF4-FFF2-40B4-BE49-F238E27FC236}">
                    <a16:creationId xmlns:a16="http://schemas.microsoft.com/office/drawing/2014/main" id="{84807B89-7234-C349-CFDE-FFEF6F2DC1AB}"/>
                  </a:ext>
                </a:extLst>
              </p:cNvPr>
              <p:cNvGrpSpPr/>
              <p:nvPr/>
            </p:nvGrpSpPr>
            <p:grpSpPr>
              <a:xfrm>
                <a:off x="0" y="0"/>
                <a:ext cx="1394770" cy="1116980"/>
                <a:chOff x="0" y="0"/>
                <a:chExt cx="812800" cy="650918"/>
              </a:xfrm>
            </p:grpSpPr>
            <p:sp>
              <p:nvSpPr>
                <p:cNvPr id="277" name="Freeform 65">
                  <a:extLst>
                    <a:ext uri="{FF2B5EF4-FFF2-40B4-BE49-F238E27FC236}">
                      <a16:creationId xmlns:a16="http://schemas.microsoft.com/office/drawing/2014/main" id="{14407A4F-C534-7A2D-5E1E-10D833CF986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FBC02D"/>
                </a:solidFill>
              </p:spPr>
            </p:sp>
            <p:sp>
              <p:nvSpPr>
                <p:cNvPr id="278" name="TextBox 66">
                  <a:extLst>
                    <a:ext uri="{FF2B5EF4-FFF2-40B4-BE49-F238E27FC236}">
                      <a16:creationId xmlns:a16="http://schemas.microsoft.com/office/drawing/2014/main" id="{3745A20A-E9FA-779E-1EB2-87EF4493ABD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76" name="TextBox 67">
                <a:extLst>
                  <a:ext uri="{FF2B5EF4-FFF2-40B4-BE49-F238E27FC236}">
                    <a16:creationId xmlns:a16="http://schemas.microsoft.com/office/drawing/2014/main" id="{819A4FF8-3B5F-53C1-9123-62658A0AD03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02</a:t>
                </a:r>
              </a:p>
            </p:txBody>
          </p:sp>
        </p:grpSp>
        <p:grpSp>
          <p:nvGrpSpPr>
            <p:cNvPr id="183" name="Group 68">
              <a:extLst>
                <a:ext uri="{FF2B5EF4-FFF2-40B4-BE49-F238E27FC236}">
                  <a16:creationId xmlns:a16="http://schemas.microsoft.com/office/drawing/2014/main" id="{688FE1C6-6821-D9AD-E327-38A365173C89}"/>
                </a:ext>
              </a:extLst>
            </p:cNvPr>
            <p:cNvGrpSpPr/>
            <p:nvPr/>
          </p:nvGrpSpPr>
          <p:grpSpPr>
            <a:xfrm>
              <a:off x="3587302" y="7082642"/>
              <a:ext cx="1046078" cy="837735"/>
              <a:chOff x="0" y="0"/>
              <a:chExt cx="1394770" cy="1116980"/>
            </a:xfrm>
          </p:grpSpPr>
          <p:grpSp>
            <p:nvGrpSpPr>
              <p:cNvPr id="271" name="Group 69">
                <a:extLst>
                  <a:ext uri="{FF2B5EF4-FFF2-40B4-BE49-F238E27FC236}">
                    <a16:creationId xmlns:a16="http://schemas.microsoft.com/office/drawing/2014/main" id="{CCDD0E30-4186-6FF9-713F-B93FFE4DA754}"/>
                  </a:ext>
                </a:extLst>
              </p:cNvPr>
              <p:cNvGrpSpPr/>
              <p:nvPr/>
            </p:nvGrpSpPr>
            <p:grpSpPr>
              <a:xfrm>
                <a:off x="0" y="0"/>
                <a:ext cx="1394770" cy="1116980"/>
                <a:chOff x="0" y="0"/>
                <a:chExt cx="812800" cy="650918"/>
              </a:xfrm>
            </p:grpSpPr>
            <p:sp>
              <p:nvSpPr>
                <p:cNvPr id="273" name="Freeform 70">
                  <a:extLst>
                    <a:ext uri="{FF2B5EF4-FFF2-40B4-BE49-F238E27FC236}">
                      <a16:creationId xmlns:a16="http://schemas.microsoft.com/office/drawing/2014/main" id="{B6B9F22E-7708-0EAB-C93F-A1B5A3949CA4}"/>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0EAFA0"/>
                </a:solidFill>
              </p:spPr>
            </p:sp>
            <p:sp>
              <p:nvSpPr>
                <p:cNvPr id="274" name="TextBox 71">
                  <a:extLst>
                    <a:ext uri="{FF2B5EF4-FFF2-40B4-BE49-F238E27FC236}">
                      <a16:creationId xmlns:a16="http://schemas.microsoft.com/office/drawing/2014/main" id="{80C9D838-C169-29A9-4A74-C9BBC0A64D10}"/>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72" name="TextBox 72">
                <a:extLst>
                  <a:ext uri="{FF2B5EF4-FFF2-40B4-BE49-F238E27FC236}">
                    <a16:creationId xmlns:a16="http://schemas.microsoft.com/office/drawing/2014/main" id="{DE4D8EDA-1067-7AC3-BE9D-8E7374956D10}"/>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04</a:t>
                </a:r>
              </a:p>
            </p:txBody>
          </p:sp>
        </p:grpSp>
        <p:grpSp>
          <p:nvGrpSpPr>
            <p:cNvPr id="184" name="Group 73">
              <a:extLst>
                <a:ext uri="{FF2B5EF4-FFF2-40B4-BE49-F238E27FC236}">
                  <a16:creationId xmlns:a16="http://schemas.microsoft.com/office/drawing/2014/main" id="{2D129230-0D75-0E47-4F5C-E50FE776550E}"/>
                </a:ext>
              </a:extLst>
            </p:cNvPr>
            <p:cNvGrpSpPr/>
            <p:nvPr/>
          </p:nvGrpSpPr>
          <p:grpSpPr>
            <a:xfrm>
              <a:off x="3587302" y="10414926"/>
              <a:ext cx="1046078" cy="837735"/>
              <a:chOff x="0" y="0"/>
              <a:chExt cx="1394770" cy="1116980"/>
            </a:xfrm>
          </p:grpSpPr>
          <p:grpSp>
            <p:nvGrpSpPr>
              <p:cNvPr id="267" name="Group 74">
                <a:extLst>
                  <a:ext uri="{FF2B5EF4-FFF2-40B4-BE49-F238E27FC236}">
                    <a16:creationId xmlns:a16="http://schemas.microsoft.com/office/drawing/2014/main" id="{15D608FB-4585-C746-FB06-DDF75EA54996}"/>
                  </a:ext>
                </a:extLst>
              </p:cNvPr>
              <p:cNvGrpSpPr/>
              <p:nvPr/>
            </p:nvGrpSpPr>
            <p:grpSpPr>
              <a:xfrm>
                <a:off x="0" y="0"/>
                <a:ext cx="1394770" cy="1116980"/>
                <a:chOff x="0" y="0"/>
                <a:chExt cx="812800" cy="650918"/>
              </a:xfrm>
            </p:grpSpPr>
            <p:sp>
              <p:nvSpPr>
                <p:cNvPr id="269" name="Freeform 75">
                  <a:extLst>
                    <a:ext uri="{FF2B5EF4-FFF2-40B4-BE49-F238E27FC236}">
                      <a16:creationId xmlns:a16="http://schemas.microsoft.com/office/drawing/2014/main" id="{1F25ECCA-480A-5EE4-5DD3-88D4E608DFE7}"/>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chemeClr val="accent1"/>
                </a:solidFill>
              </p:spPr>
            </p:sp>
            <p:sp>
              <p:nvSpPr>
                <p:cNvPr id="270" name="TextBox 76">
                  <a:extLst>
                    <a:ext uri="{FF2B5EF4-FFF2-40B4-BE49-F238E27FC236}">
                      <a16:creationId xmlns:a16="http://schemas.microsoft.com/office/drawing/2014/main" id="{60801731-7CA3-6742-916D-0E09F4B7A245}"/>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8" name="TextBox 77">
                <a:extLst>
                  <a:ext uri="{FF2B5EF4-FFF2-40B4-BE49-F238E27FC236}">
                    <a16:creationId xmlns:a16="http://schemas.microsoft.com/office/drawing/2014/main" id="{A9DE12CF-9556-6967-DFFF-B8A2C631A2F5}"/>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dirty="0">
                    <a:solidFill>
                      <a:srgbClr val="000000"/>
                    </a:solidFill>
                    <a:latin typeface="TT Interphases Bold"/>
                    <a:ea typeface="TT Interphases Bold"/>
                    <a:cs typeface="TT Interphases Bold"/>
                    <a:sym typeface="TT Interphases Bold"/>
                  </a:rPr>
                  <a:t>06</a:t>
                </a:r>
              </a:p>
            </p:txBody>
          </p:sp>
        </p:grpSp>
        <p:grpSp>
          <p:nvGrpSpPr>
            <p:cNvPr id="185" name="Group 78">
              <a:extLst>
                <a:ext uri="{FF2B5EF4-FFF2-40B4-BE49-F238E27FC236}">
                  <a16:creationId xmlns:a16="http://schemas.microsoft.com/office/drawing/2014/main" id="{237389A9-4409-B298-1D5B-10829DAEC0A0}"/>
                </a:ext>
              </a:extLst>
            </p:cNvPr>
            <p:cNvGrpSpPr/>
            <p:nvPr/>
          </p:nvGrpSpPr>
          <p:grpSpPr>
            <a:xfrm>
              <a:off x="3558574" y="13747209"/>
              <a:ext cx="1046078" cy="837735"/>
              <a:chOff x="0" y="0"/>
              <a:chExt cx="1394770" cy="1116980"/>
            </a:xfrm>
          </p:grpSpPr>
          <p:grpSp>
            <p:nvGrpSpPr>
              <p:cNvPr id="263" name="Group 79">
                <a:extLst>
                  <a:ext uri="{FF2B5EF4-FFF2-40B4-BE49-F238E27FC236}">
                    <a16:creationId xmlns:a16="http://schemas.microsoft.com/office/drawing/2014/main" id="{4D86357A-0F0C-ECD5-72D2-32F326ABFE52}"/>
                  </a:ext>
                </a:extLst>
              </p:cNvPr>
              <p:cNvGrpSpPr/>
              <p:nvPr/>
            </p:nvGrpSpPr>
            <p:grpSpPr>
              <a:xfrm>
                <a:off x="0" y="0"/>
                <a:ext cx="1394770" cy="1116980"/>
                <a:chOff x="0" y="0"/>
                <a:chExt cx="812800" cy="650918"/>
              </a:xfrm>
            </p:grpSpPr>
            <p:sp>
              <p:nvSpPr>
                <p:cNvPr id="265" name="Freeform 80">
                  <a:extLst>
                    <a:ext uri="{FF2B5EF4-FFF2-40B4-BE49-F238E27FC236}">
                      <a16:creationId xmlns:a16="http://schemas.microsoft.com/office/drawing/2014/main" id="{81F4A564-9F89-F544-7453-310008469C09}"/>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903AB4"/>
                </a:solidFill>
              </p:spPr>
            </p:sp>
            <p:sp>
              <p:nvSpPr>
                <p:cNvPr id="266" name="TextBox 81">
                  <a:extLst>
                    <a:ext uri="{FF2B5EF4-FFF2-40B4-BE49-F238E27FC236}">
                      <a16:creationId xmlns:a16="http://schemas.microsoft.com/office/drawing/2014/main" id="{D3857264-97AC-A388-DAB2-D91AC81C6C64}"/>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4" name="TextBox 82">
                <a:extLst>
                  <a:ext uri="{FF2B5EF4-FFF2-40B4-BE49-F238E27FC236}">
                    <a16:creationId xmlns:a16="http://schemas.microsoft.com/office/drawing/2014/main" id="{5364A7A3-BB66-1157-0111-38D6D65F791B}"/>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08</a:t>
                </a:r>
              </a:p>
            </p:txBody>
          </p:sp>
        </p:grpSp>
        <p:grpSp>
          <p:nvGrpSpPr>
            <p:cNvPr id="186" name="Group 83">
              <a:extLst>
                <a:ext uri="{FF2B5EF4-FFF2-40B4-BE49-F238E27FC236}">
                  <a16:creationId xmlns:a16="http://schemas.microsoft.com/office/drawing/2014/main" id="{62EEFD4E-01B2-3EC0-4CAC-EF49CBBEFD9F}"/>
                </a:ext>
              </a:extLst>
            </p:cNvPr>
            <p:cNvGrpSpPr/>
            <p:nvPr/>
          </p:nvGrpSpPr>
          <p:grpSpPr>
            <a:xfrm>
              <a:off x="3529846" y="17079493"/>
              <a:ext cx="1046078" cy="837735"/>
              <a:chOff x="0" y="0"/>
              <a:chExt cx="1394770" cy="1116980"/>
            </a:xfrm>
          </p:grpSpPr>
          <p:grpSp>
            <p:nvGrpSpPr>
              <p:cNvPr id="259" name="Group 84">
                <a:extLst>
                  <a:ext uri="{FF2B5EF4-FFF2-40B4-BE49-F238E27FC236}">
                    <a16:creationId xmlns:a16="http://schemas.microsoft.com/office/drawing/2014/main" id="{C5DCB47F-0B9E-2796-86C2-E6EDAF41816D}"/>
                  </a:ext>
                </a:extLst>
              </p:cNvPr>
              <p:cNvGrpSpPr/>
              <p:nvPr/>
            </p:nvGrpSpPr>
            <p:grpSpPr>
              <a:xfrm>
                <a:off x="0" y="0"/>
                <a:ext cx="1394770" cy="1116980"/>
                <a:chOff x="0" y="0"/>
                <a:chExt cx="812800" cy="650918"/>
              </a:xfrm>
            </p:grpSpPr>
            <p:sp>
              <p:nvSpPr>
                <p:cNvPr id="261" name="Freeform 85">
                  <a:extLst>
                    <a:ext uri="{FF2B5EF4-FFF2-40B4-BE49-F238E27FC236}">
                      <a16:creationId xmlns:a16="http://schemas.microsoft.com/office/drawing/2014/main" id="{55E2B0ED-7668-F9F4-EF9C-4C3C005CD412}"/>
                    </a:ext>
                  </a:extLst>
                </p:cNvPr>
                <p:cNvSpPr/>
                <p:nvPr/>
              </p:nvSpPr>
              <p:spPr>
                <a:xfrm>
                  <a:off x="0" y="0"/>
                  <a:ext cx="812800" cy="650918"/>
                </a:xfrm>
                <a:custGeom>
                  <a:avLst/>
                  <a:gdLst/>
                  <a:ahLst/>
                  <a:cxnLst/>
                  <a:rect l="l" t="t" r="r" b="b"/>
                  <a:pathLst>
                    <a:path w="812800" h="650918">
                      <a:moveTo>
                        <a:pt x="406400" y="0"/>
                      </a:moveTo>
                      <a:cubicBezTo>
                        <a:pt x="181951" y="0"/>
                        <a:pt x="0" y="145713"/>
                        <a:pt x="0" y="325459"/>
                      </a:cubicBezTo>
                      <a:cubicBezTo>
                        <a:pt x="0" y="505205"/>
                        <a:pt x="181951" y="650918"/>
                        <a:pt x="406400" y="650918"/>
                      </a:cubicBezTo>
                      <a:cubicBezTo>
                        <a:pt x="630849" y="650918"/>
                        <a:pt x="812800" y="505205"/>
                        <a:pt x="812800" y="325459"/>
                      </a:cubicBezTo>
                      <a:cubicBezTo>
                        <a:pt x="812800" y="145713"/>
                        <a:pt x="630849" y="0"/>
                        <a:pt x="406400" y="0"/>
                      </a:cubicBezTo>
                      <a:close/>
                    </a:path>
                  </a:pathLst>
                </a:custGeom>
                <a:solidFill>
                  <a:srgbClr val="AD1457"/>
                </a:solidFill>
              </p:spPr>
            </p:sp>
            <p:sp>
              <p:nvSpPr>
                <p:cNvPr id="262" name="TextBox 86">
                  <a:extLst>
                    <a:ext uri="{FF2B5EF4-FFF2-40B4-BE49-F238E27FC236}">
                      <a16:creationId xmlns:a16="http://schemas.microsoft.com/office/drawing/2014/main" id="{C5FEA51C-42B4-DD8D-2EEC-F61A5626D9CA}"/>
                    </a:ext>
                  </a:extLst>
                </p:cNvPr>
                <p:cNvSpPr txBox="1"/>
                <p:nvPr/>
              </p:nvSpPr>
              <p:spPr>
                <a:xfrm>
                  <a:off x="76200" y="32449"/>
                  <a:ext cx="660400" cy="557446"/>
                </a:xfrm>
                <a:prstGeom prst="rect">
                  <a:avLst/>
                </a:prstGeom>
              </p:spPr>
              <p:txBody>
                <a:bodyPr lIns="50800" tIns="50800" rIns="50800" bIns="50800" rtlCol="0" anchor="ctr"/>
                <a:lstStyle/>
                <a:p>
                  <a:pPr marL="0" lvl="0" indent="0" algn="ctr">
                    <a:lnSpc>
                      <a:spcPts val="1959"/>
                    </a:lnSpc>
                  </a:pPr>
                  <a:endParaRPr/>
                </a:p>
              </p:txBody>
            </p:sp>
          </p:grpSp>
          <p:sp>
            <p:nvSpPr>
              <p:cNvPr id="260" name="TextBox 87">
                <a:extLst>
                  <a:ext uri="{FF2B5EF4-FFF2-40B4-BE49-F238E27FC236}">
                    <a16:creationId xmlns:a16="http://schemas.microsoft.com/office/drawing/2014/main" id="{1969296B-532A-F7C2-EC45-D180FACF6A53}"/>
                  </a:ext>
                </a:extLst>
              </p:cNvPr>
              <p:cNvSpPr txBox="1"/>
              <p:nvPr/>
            </p:nvSpPr>
            <p:spPr>
              <a:xfrm>
                <a:off x="0" y="232587"/>
                <a:ext cx="1394770" cy="594656"/>
              </a:xfrm>
              <a:prstGeom prst="rect">
                <a:avLst/>
              </a:prstGeom>
            </p:spPr>
            <p:txBody>
              <a:bodyPr lIns="0" tIns="0" rIns="0" bIns="0" rtlCol="0" anchor="t">
                <a:spAutoFit/>
              </a:bodyPr>
              <a:lstStyle/>
              <a:p>
                <a:pPr marL="0" lvl="0" indent="0" algn="ctr">
                  <a:lnSpc>
                    <a:spcPts val="3766"/>
                  </a:lnSpc>
                  <a:spcBef>
                    <a:spcPct val="0"/>
                  </a:spcBef>
                </a:pPr>
                <a:r>
                  <a:rPr lang="en-US" sz="2690" b="1" u="none" strike="noStrike">
                    <a:solidFill>
                      <a:srgbClr val="000000"/>
                    </a:solidFill>
                    <a:latin typeface="TT Interphases Bold"/>
                    <a:ea typeface="TT Interphases Bold"/>
                    <a:cs typeface="TT Interphases Bold"/>
                    <a:sym typeface="TT Interphases Bold"/>
                  </a:rPr>
                  <a:t>10</a:t>
                </a:r>
              </a:p>
            </p:txBody>
          </p:sp>
        </p:grpSp>
        <p:grpSp>
          <p:nvGrpSpPr>
            <p:cNvPr id="187" name="Group 88">
              <a:extLst>
                <a:ext uri="{FF2B5EF4-FFF2-40B4-BE49-F238E27FC236}">
                  <a16:creationId xmlns:a16="http://schemas.microsoft.com/office/drawing/2014/main" id="{D9A7E11C-3382-C369-DA2C-AD38CD9E9908}"/>
                </a:ext>
              </a:extLst>
            </p:cNvPr>
            <p:cNvGrpSpPr/>
            <p:nvPr/>
          </p:nvGrpSpPr>
          <p:grpSpPr>
            <a:xfrm>
              <a:off x="7096125" y="1644709"/>
              <a:ext cx="380004" cy="2232310"/>
              <a:chOff x="0" y="0"/>
              <a:chExt cx="135112" cy="793710"/>
            </a:xfrm>
          </p:grpSpPr>
          <p:sp>
            <p:nvSpPr>
              <p:cNvPr id="257" name="Freeform 89">
                <a:extLst>
                  <a:ext uri="{FF2B5EF4-FFF2-40B4-BE49-F238E27FC236}">
                    <a16:creationId xmlns:a16="http://schemas.microsoft.com/office/drawing/2014/main" id="{EEEDABD7-6F34-9F6E-6259-5CE4EFD6BCFE}"/>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1565C0"/>
              </a:solidFill>
            </p:spPr>
          </p:sp>
          <p:sp>
            <p:nvSpPr>
              <p:cNvPr id="258" name="TextBox 90">
                <a:extLst>
                  <a:ext uri="{FF2B5EF4-FFF2-40B4-BE49-F238E27FC236}">
                    <a16:creationId xmlns:a16="http://schemas.microsoft.com/office/drawing/2014/main" id="{EC761579-0E7F-5356-8425-2C307D6D1E3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88" name="Group 91">
              <a:extLst>
                <a:ext uri="{FF2B5EF4-FFF2-40B4-BE49-F238E27FC236}">
                  <a16:creationId xmlns:a16="http://schemas.microsoft.com/office/drawing/2014/main" id="{B78657AC-1326-0358-A0E2-0094EC49DE98}"/>
                </a:ext>
              </a:extLst>
            </p:cNvPr>
            <p:cNvGrpSpPr/>
            <p:nvPr/>
          </p:nvGrpSpPr>
          <p:grpSpPr>
            <a:xfrm>
              <a:off x="7086600" y="4850332"/>
              <a:ext cx="380004" cy="2232310"/>
              <a:chOff x="0" y="0"/>
              <a:chExt cx="135112" cy="793710"/>
            </a:xfrm>
          </p:grpSpPr>
          <p:sp>
            <p:nvSpPr>
              <p:cNvPr id="255" name="Freeform 92">
                <a:extLst>
                  <a:ext uri="{FF2B5EF4-FFF2-40B4-BE49-F238E27FC236}">
                    <a16:creationId xmlns:a16="http://schemas.microsoft.com/office/drawing/2014/main" id="{2B7410B2-A5DD-FFB0-158B-7088FAE1636F}"/>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F8D16"/>
              </a:solidFill>
            </p:spPr>
          </p:sp>
          <p:sp>
            <p:nvSpPr>
              <p:cNvPr id="256" name="TextBox 93">
                <a:extLst>
                  <a:ext uri="{FF2B5EF4-FFF2-40B4-BE49-F238E27FC236}">
                    <a16:creationId xmlns:a16="http://schemas.microsoft.com/office/drawing/2014/main" id="{355C6AF9-8509-70B2-8368-7E7034B75F91}"/>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89" name="Group 94">
              <a:extLst>
                <a:ext uri="{FF2B5EF4-FFF2-40B4-BE49-F238E27FC236}">
                  <a16:creationId xmlns:a16="http://schemas.microsoft.com/office/drawing/2014/main" id="{F5E9066A-31BC-3D86-8359-DA8ED5FB9C68}"/>
                </a:ext>
              </a:extLst>
            </p:cNvPr>
            <p:cNvGrpSpPr/>
            <p:nvPr/>
          </p:nvGrpSpPr>
          <p:grpSpPr>
            <a:xfrm>
              <a:off x="7096125" y="8140589"/>
              <a:ext cx="380004" cy="2232310"/>
              <a:chOff x="0" y="0"/>
              <a:chExt cx="135112" cy="793710"/>
            </a:xfrm>
          </p:grpSpPr>
          <p:sp>
            <p:nvSpPr>
              <p:cNvPr id="253" name="Freeform 95">
                <a:extLst>
                  <a:ext uri="{FF2B5EF4-FFF2-40B4-BE49-F238E27FC236}">
                    <a16:creationId xmlns:a16="http://schemas.microsoft.com/office/drawing/2014/main" id="{DBB4727B-F879-E26A-A4EF-51CB75C9BA26}"/>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8C00"/>
              </a:solidFill>
            </p:spPr>
          </p:sp>
          <p:sp>
            <p:nvSpPr>
              <p:cNvPr id="254" name="TextBox 96">
                <a:extLst>
                  <a:ext uri="{FF2B5EF4-FFF2-40B4-BE49-F238E27FC236}">
                    <a16:creationId xmlns:a16="http://schemas.microsoft.com/office/drawing/2014/main" id="{A339018D-7A8F-C62A-F85D-B52B7BD7B4D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0" name="Group 97">
              <a:extLst>
                <a:ext uri="{FF2B5EF4-FFF2-40B4-BE49-F238E27FC236}">
                  <a16:creationId xmlns:a16="http://schemas.microsoft.com/office/drawing/2014/main" id="{141A3151-D100-A0D6-408C-6BB869E3F8D5}"/>
                </a:ext>
              </a:extLst>
            </p:cNvPr>
            <p:cNvGrpSpPr/>
            <p:nvPr/>
          </p:nvGrpSpPr>
          <p:grpSpPr>
            <a:xfrm>
              <a:off x="7077075" y="11344449"/>
              <a:ext cx="380004" cy="2232310"/>
              <a:chOff x="0" y="0"/>
              <a:chExt cx="135112" cy="793710"/>
            </a:xfrm>
          </p:grpSpPr>
          <p:sp>
            <p:nvSpPr>
              <p:cNvPr id="251" name="Freeform 98">
                <a:extLst>
                  <a:ext uri="{FF2B5EF4-FFF2-40B4-BE49-F238E27FC236}">
                    <a16:creationId xmlns:a16="http://schemas.microsoft.com/office/drawing/2014/main" id="{68552F26-7347-6C27-5944-548B73BC5C2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32F2F"/>
              </a:solidFill>
            </p:spPr>
          </p:sp>
          <p:sp>
            <p:nvSpPr>
              <p:cNvPr id="252" name="TextBox 99">
                <a:extLst>
                  <a:ext uri="{FF2B5EF4-FFF2-40B4-BE49-F238E27FC236}">
                    <a16:creationId xmlns:a16="http://schemas.microsoft.com/office/drawing/2014/main" id="{B99B48D7-6CBF-422C-38FE-B5A98959F2A3}"/>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1" name="Group 100">
              <a:extLst>
                <a:ext uri="{FF2B5EF4-FFF2-40B4-BE49-F238E27FC236}">
                  <a16:creationId xmlns:a16="http://schemas.microsoft.com/office/drawing/2014/main" id="{58A90B61-5906-2A0B-A378-5EA39EE108E2}"/>
                </a:ext>
              </a:extLst>
            </p:cNvPr>
            <p:cNvGrpSpPr/>
            <p:nvPr/>
          </p:nvGrpSpPr>
          <p:grpSpPr>
            <a:xfrm>
              <a:off x="7077075" y="14695739"/>
              <a:ext cx="380004" cy="2232310"/>
              <a:chOff x="0" y="0"/>
              <a:chExt cx="135112" cy="793710"/>
            </a:xfrm>
          </p:grpSpPr>
          <p:sp>
            <p:nvSpPr>
              <p:cNvPr id="249" name="Freeform 101">
                <a:extLst>
                  <a:ext uri="{FF2B5EF4-FFF2-40B4-BE49-F238E27FC236}">
                    <a16:creationId xmlns:a16="http://schemas.microsoft.com/office/drawing/2014/main" id="{A6379207-9ABB-C084-78B2-5F3A73F667DA}"/>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DB15D3"/>
              </a:solidFill>
            </p:spPr>
          </p:sp>
          <p:sp>
            <p:nvSpPr>
              <p:cNvPr id="250" name="TextBox 102">
                <a:extLst>
                  <a:ext uri="{FF2B5EF4-FFF2-40B4-BE49-F238E27FC236}">
                    <a16:creationId xmlns:a16="http://schemas.microsoft.com/office/drawing/2014/main" id="{E1B22D87-505F-9B05-B43F-974696DC8F88}"/>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2" name="Group 103">
              <a:extLst>
                <a:ext uri="{FF2B5EF4-FFF2-40B4-BE49-F238E27FC236}">
                  <a16:creationId xmlns:a16="http://schemas.microsoft.com/office/drawing/2014/main" id="{EE7B04DA-03C2-EA9E-3E43-C0FF614F847B}"/>
                </a:ext>
              </a:extLst>
            </p:cNvPr>
            <p:cNvGrpSpPr/>
            <p:nvPr/>
          </p:nvGrpSpPr>
          <p:grpSpPr>
            <a:xfrm>
              <a:off x="162921" y="3021317"/>
              <a:ext cx="380004" cy="2232310"/>
              <a:chOff x="0" y="0"/>
              <a:chExt cx="135112" cy="793710"/>
            </a:xfrm>
          </p:grpSpPr>
          <p:sp>
            <p:nvSpPr>
              <p:cNvPr id="247" name="Freeform 104">
                <a:extLst>
                  <a:ext uri="{FF2B5EF4-FFF2-40B4-BE49-F238E27FC236}">
                    <a16:creationId xmlns:a16="http://schemas.microsoft.com/office/drawing/2014/main" id="{C5E42B05-23D2-48BE-6248-6C4D6AB6F25F}"/>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FBC02D"/>
              </a:solidFill>
            </p:spPr>
          </p:sp>
          <p:sp>
            <p:nvSpPr>
              <p:cNvPr id="248" name="TextBox 105">
                <a:extLst>
                  <a:ext uri="{FF2B5EF4-FFF2-40B4-BE49-F238E27FC236}">
                    <a16:creationId xmlns:a16="http://schemas.microsoft.com/office/drawing/2014/main" id="{586A9B7E-C247-DDB5-B675-338CA208DC57}"/>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3" name="Group 106">
              <a:extLst>
                <a:ext uri="{FF2B5EF4-FFF2-40B4-BE49-F238E27FC236}">
                  <a16:creationId xmlns:a16="http://schemas.microsoft.com/office/drawing/2014/main" id="{25A7D92B-69B1-6CF6-3E08-883019C4651F}"/>
                </a:ext>
              </a:extLst>
            </p:cNvPr>
            <p:cNvGrpSpPr/>
            <p:nvPr/>
          </p:nvGrpSpPr>
          <p:grpSpPr>
            <a:xfrm>
              <a:off x="143871" y="6355424"/>
              <a:ext cx="380004" cy="2232310"/>
              <a:chOff x="0" y="0"/>
              <a:chExt cx="135112" cy="793710"/>
            </a:xfrm>
          </p:grpSpPr>
          <p:sp>
            <p:nvSpPr>
              <p:cNvPr id="245" name="Freeform 107">
                <a:extLst>
                  <a:ext uri="{FF2B5EF4-FFF2-40B4-BE49-F238E27FC236}">
                    <a16:creationId xmlns:a16="http://schemas.microsoft.com/office/drawing/2014/main" id="{99706B9D-2BB1-CF4C-BC35-4A5B0950F60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EAFA0"/>
              </a:solidFill>
            </p:spPr>
          </p:sp>
          <p:sp>
            <p:nvSpPr>
              <p:cNvPr id="246" name="TextBox 108">
                <a:extLst>
                  <a:ext uri="{FF2B5EF4-FFF2-40B4-BE49-F238E27FC236}">
                    <a16:creationId xmlns:a16="http://schemas.microsoft.com/office/drawing/2014/main" id="{D081D8DC-F2D6-A6D5-4A81-3D620A3B5900}"/>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4" name="Group 109">
              <a:extLst>
                <a:ext uri="{FF2B5EF4-FFF2-40B4-BE49-F238E27FC236}">
                  <a16:creationId xmlns:a16="http://schemas.microsoft.com/office/drawing/2014/main" id="{8F09B434-995A-B45D-A5E7-CFE049EA1526}"/>
                </a:ext>
              </a:extLst>
            </p:cNvPr>
            <p:cNvGrpSpPr/>
            <p:nvPr/>
          </p:nvGrpSpPr>
          <p:grpSpPr>
            <a:xfrm>
              <a:off x="143871" y="9688244"/>
              <a:ext cx="380004" cy="2232310"/>
              <a:chOff x="0" y="0"/>
              <a:chExt cx="135112" cy="793710"/>
            </a:xfrm>
          </p:grpSpPr>
          <p:sp>
            <p:nvSpPr>
              <p:cNvPr id="243" name="Freeform 110">
                <a:extLst>
                  <a:ext uri="{FF2B5EF4-FFF2-40B4-BE49-F238E27FC236}">
                    <a16:creationId xmlns:a16="http://schemas.microsoft.com/office/drawing/2014/main" id="{1C0EF0D1-3631-B5EC-E72F-9D341D4AA6A9}"/>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039BE5"/>
              </a:solidFill>
            </p:spPr>
          </p:sp>
          <p:sp>
            <p:nvSpPr>
              <p:cNvPr id="244" name="TextBox 111">
                <a:extLst>
                  <a:ext uri="{FF2B5EF4-FFF2-40B4-BE49-F238E27FC236}">
                    <a16:creationId xmlns:a16="http://schemas.microsoft.com/office/drawing/2014/main" id="{B4E85893-7D3F-A37E-76E1-97C5140AC86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5" name="Group 112">
              <a:extLst>
                <a:ext uri="{FF2B5EF4-FFF2-40B4-BE49-F238E27FC236}">
                  <a16:creationId xmlns:a16="http://schemas.microsoft.com/office/drawing/2014/main" id="{950993FB-1C6D-F650-F0EE-428F5A7E50A7}"/>
                </a:ext>
              </a:extLst>
            </p:cNvPr>
            <p:cNvGrpSpPr/>
            <p:nvPr/>
          </p:nvGrpSpPr>
          <p:grpSpPr>
            <a:xfrm>
              <a:off x="143871" y="13025454"/>
              <a:ext cx="380004" cy="2232310"/>
              <a:chOff x="0" y="0"/>
              <a:chExt cx="135112" cy="793710"/>
            </a:xfrm>
          </p:grpSpPr>
          <p:sp>
            <p:nvSpPr>
              <p:cNvPr id="241" name="Freeform 113">
                <a:extLst>
                  <a:ext uri="{FF2B5EF4-FFF2-40B4-BE49-F238E27FC236}">
                    <a16:creationId xmlns:a16="http://schemas.microsoft.com/office/drawing/2014/main" id="{261E0B94-AFBB-66B7-4581-04AE4F5853E8}"/>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903AB4"/>
              </a:solidFill>
            </p:spPr>
          </p:sp>
          <p:sp>
            <p:nvSpPr>
              <p:cNvPr id="242" name="TextBox 114">
                <a:extLst>
                  <a:ext uri="{FF2B5EF4-FFF2-40B4-BE49-F238E27FC236}">
                    <a16:creationId xmlns:a16="http://schemas.microsoft.com/office/drawing/2014/main" id="{CBC1A993-F655-624D-A2BD-D088B24252A6}"/>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6" name="Group 115">
              <a:extLst>
                <a:ext uri="{FF2B5EF4-FFF2-40B4-BE49-F238E27FC236}">
                  <a16:creationId xmlns:a16="http://schemas.microsoft.com/office/drawing/2014/main" id="{4413AA9B-33B3-E0A5-6235-93E96B545913}"/>
                </a:ext>
              </a:extLst>
            </p:cNvPr>
            <p:cNvGrpSpPr/>
            <p:nvPr/>
          </p:nvGrpSpPr>
          <p:grpSpPr>
            <a:xfrm>
              <a:off x="143871" y="16362664"/>
              <a:ext cx="380004" cy="2232310"/>
              <a:chOff x="0" y="0"/>
              <a:chExt cx="135112" cy="793710"/>
            </a:xfrm>
          </p:grpSpPr>
          <p:sp>
            <p:nvSpPr>
              <p:cNvPr id="239" name="Freeform 116">
                <a:extLst>
                  <a:ext uri="{FF2B5EF4-FFF2-40B4-BE49-F238E27FC236}">
                    <a16:creationId xmlns:a16="http://schemas.microsoft.com/office/drawing/2014/main" id="{ACAF03C5-872D-453D-0181-5C2A5B8CA537}"/>
                  </a:ext>
                </a:extLst>
              </p:cNvPr>
              <p:cNvSpPr/>
              <p:nvPr/>
            </p:nvSpPr>
            <p:spPr>
              <a:xfrm>
                <a:off x="0" y="0"/>
                <a:ext cx="135112" cy="793710"/>
              </a:xfrm>
              <a:custGeom>
                <a:avLst/>
                <a:gdLst/>
                <a:ahLst/>
                <a:cxnLst/>
                <a:rect l="l" t="t" r="r" b="b"/>
                <a:pathLst>
                  <a:path w="135112" h="793710">
                    <a:moveTo>
                      <a:pt x="0" y="0"/>
                    </a:moveTo>
                    <a:lnTo>
                      <a:pt x="135112" y="0"/>
                    </a:lnTo>
                    <a:lnTo>
                      <a:pt x="135112" y="793710"/>
                    </a:lnTo>
                    <a:lnTo>
                      <a:pt x="0" y="793710"/>
                    </a:lnTo>
                    <a:close/>
                  </a:path>
                </a:pathLst>
              </a:custGeom>
              <a:solidFill>
                <a:srgbClr val="AD1457"/>
              </a:solidFill>
            </p:spPr>
          </p:sp>
          <p:sp>
            <p:nvSpPr>
              <p:cNvPr id="240" name="TextBox 117">
                <a:extLst>
                  <a:ext uri="{FF2B5EF4-FFF2-40B4-BE49-F238E27FC236}">
                    <a16:creationId xmlns:a16="http://schemas.microsoft.com/office/drawing/2014/main" id="{C971DFDD-A093-0371-FA23-570BA82A8839}"/>
                  </a:ext>
                </a:extLst>
              </p:cNvPr>
              <p:cNvSpPr txBox="1"/>
              <p:nvPr/>
            </p:nvSpPr>
            <p:spPr>
              <a:xfrm>
                <a:off x="0" y="-38100"/>
                <a:ext cx="135112" cy="831810"/>
              </a:xfrm>
              <a:prstGeom prst="rect">
                <a:avLst/>
              </a:prstGeom>
            </p:spPr>
            <p:txBody>
              <a:bodyPr lIns="50800" tIns="50800" rIns="50800" bIns="50800" rtlCol="0" anchor="ctr"/>
              <a:lstStyle/>
              <a:p>
                <a:pPr marL="0" lvl="0" indent="0" algn="ctr">
                  <a:lnSpc>
                    <a:spcPts val="2744"/>
                  </a:lnSpc>
                </a:pPr>
                <a:endParaRPr/>
              </a:p>
            </p:txBody>
          </p:sp>
        </p:grpSp>
        <p:grpSp>
          <p:nvGrpSpPr>
            <p:cNvPr id="197" name="Group 118">
              <a:extLst>
                <a:ext uri="{FF2B5EF4-FFF2-40B4-BE49-F238E27FC236}">
                  <a16:creationId xmlns:a16="http://schemas.microsoft.com/office/drawing/2014/main" id="{99927B04-C26D-AC10-2E0E-3A408B9C10E3}"/>
                </a:ext>
              </a:extLst>
            </p:cNvPr>
            <p:cNvGrpSpPr/>
            <p:nvPr/>
          </p:nvGrpSpPr>
          <p:grpSpPr>
            <a:xfrm>
              <a:off x="4288296" y="2060137"/>
              <a:ext cx="2579230" cy="1387166"/>
              <a:chOff x="-219902" y="-19050"/>
              <a:chExt cx="3438974" cy="1849554"/>
            </a:xfrm>
          </p:grpSpPr>
          <p:sp>
            <p:nvSpPr>
              <p:cNvPr id="236" name="TextBox 119">
                <a:extLst>
                  <a:ext uri="{FF2B5EF4-FFF2-40B4-BE49-F238E27FC236}">
                    <a16:creationId xmlns:a16="http://schemas.microsoft.com/office/drawing/2014/main" id="{489D122A-5D0B-9E06-6CCE-C78B63A0DDE2}"/>
                  </a:ext>
                </a:extLst>
              </p:cNvPr>
              <p:cNvSpPr txBox="1"/>
              <p:nvPr/>
            </p:nvSpPr>
            <p:spPr>
              <a:xfrm>
                <a:off x="0" y="801530"/>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Central system managing all payroll operations, employee records, tax calculations, and payment scheduling.</a:t>
                </a:r>
              </a:p>
            </p:txBody>
          </p:sp>
          <p:sp>
            <p:nvSpPr>
              <p:cNvPr id="237" name="TextBox 120">
                <a:extLst>
                  <a:ext uri="{FF2B5EF4-FFF2-40B4-BE49-F238E27FC236}">
                    <a16:creationId xmlns:a16="http://schemas.microsoft.com/office/drawing/2014/main" id="{39433E21-8FF5-4A09-88BA-8279E613632F}"/>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MAIN</a:t>
                </a:r>
              </a:p>
            </p:txBody>
          </p:sp>
          <p:sp>
            <p:nvSpPr>
              <p:cNvPr id="238" name="TextBox 121">
                <a:extLst>
                  <a:ext uri="{FF2B5EF4-FFF2-40B4-BE49-F238E27FC236}">
                    <a16:creationId xmlns:a16="http://schemas.microsoft.com/office/drawing/2014/main" id="{7B1FF45D-7D26-9CE5-539A-B995F6909405}"/>
                  </a:ext>
                </a:extLst>
              </p:cNvPr>
              <p:cNvSpPr txBox="1"/>
              <p:nvPr/>
            </p:nvSpPr>
            <p:spPr>
              <a:xfrm>
                <a:off x="-219902" y="391240"/>
                <a:ext cx="3438974" cy="288079"/>
              </a:xfrm>
              <a:prstGeom prst="rect">
                <a:avLst/>
              </a:prstGeom>
            </p:spPr>
            <p:txBody>
              <a:bodyPr wrap="square" lIns="0" tIns="0" rIns="0" bIns="0" rtlCol="0" anchor="t">
                <a:spAutoFit/>
              </a:bodyPr>
              <a:lstStyle/>
              <a:p>
                <a:pPr marL="0" lvl="0" indent="0" algn="r">
                  <a:lnSpc>
                    <a:spcPts val="1823"/>
                  </a:lnSpc>
                  <a:spcBef>
                    <a:spcPct val="0"/>
                  </a:spcBef>
                </a:pPr>
                <a:r>
                  <a:rPr lang="en-US" sz="1302" b="1" u="none" strike="noStrike" dirty="0">
                    <a:solidFill>
                      <a:srgbClr val="1565C0"/>
                    </a:solidFill>
                    <a:latin typeface="TT Interphases Bold"/>
                    <a:ea typeface="TT Interphases Bold"/>
                    <a:cs typeface="TT Interphases Bold"/>
                    <a:sym typeface="TT Interphases Bold"/>
                  </a:rPr>
                  <a:t>PAYROLL PROCESSING HUB</a:t>
                </a:r>
              </a:p>
            </p:txBody>
          </p:sp>
        </p:grpSp>
        <p:sp>
          <p:nvSpPr>
            <p:cNvPr id="198" name="TextBox 122">
              <a:extLst>
                <a:ext uri="{FF2B5EF4-FFF2-40B4-BE49-F238E27FC236}">
                  <a16:creationId xmlns:a16="http://schemas.microsoft.com/office/drawing/2014/main" id="{1AC81F05-3DFA-20C2-7E05-E8B69CFF4F43}"/>
                </a:ext>
              </a:extLst>
            </p:cNvPr>
            <p:cNvSpPr txBox="1"/>
            <p:nvPr/>
          </p:nvSpPr>
          <p:spPr>
            <a:xfrm>
              <a:off x="162921" y="655040"/>
              <a:ext cx="7313208" cy="603272"/>
            </a:xfrm>
            <a:prstGeom prst="rect">
              <a:avLst/>
            </a:prstGeom>
          </p:spPr>
          <p:txBody>
            <a:bodyPr lIns="0" tIns="0" rIns="0" bIns="0" rtlCol="0" anchor="t">
              <a:spAutoFit/>
            </a:bodyPr>
            <a:lstStyle/>
            <a:p>
              <a:pPr marL="0" lvl="0" indent="0" algn="ctr">
                <a:lnSpc>
                  <a:spcPts val="5073"/>
                </a:lnSpc>
                <a:spcBef>
                  <a:spcPct val="0"/>
                </a:spcBef>
              </a:pPr>
              <a:r>
                <a:rPr lang="en-US" sz="3624" b="1" u="none" strike="noStrike" dirty="0">
                  <a:solidFill>
                    <a:srgbClr val="000000"/>
                  </a:solidFill>
                  <a:latin typeface="TT Interphases Bold"/>
                  <a:ea typeface="TT Interphases Bold"/>
                  <a:cs typeface="TT Interphases Bold"/>
                  <a:sym typeface="TT Interphases Bold"/>
                </a:rPr>
                <a:t>PAYROLL MANAGEMENT SYSTEM</a:t>
              </a:r>
            </a:p>
          </p:txBody>
        </p:sp>
        <p:grpSp>
          <p:nvGrpSpPr>
            <p:cNvPr id="199" name="Group 123">
              <a:extLst>
                <a:ext uri="{FF2B5EF4-FFF2-40B4-BE49-F238E27FC236}">
                  <a16:creationId xmlns:a16="http://schemas.microsoft.com/office/drawing/2014/main" id="{7EA4DC09-68FD-E229-CC2E-CB0DD14EAFC3}"/>
                </a:ext>
              </a:extLst>
            </p:cNvPr>
            <p:cNvGrpSpPr/>
            <p:nvPr/>
          </p:nvGrpSpPr>
          <p:grpSpPr>
            <a:xfrm>
              <a:off x="4453222" y="5320190"/>
              <a:ext cx="2414303" cy="1190608"/>
              <a:chOff x="0" y="-19050"/>
              <a:chExt cx="3219071" cy="1587478"/>
            </a:xfrm>
          </p:grpSpPr>
          <p:sp>
            <p:nvSpPr>
              <p:cNvPr id="233" name="TextBox 124">
                <a:extLst>
                  <a:ext uri="{FF2B5EF4-FFF2-40B4-BE49-F238E27FC236}">
                    <a16:creationId xmlns:a16="http://schemas.microsoft.com/office/drawing/2014/main" id="{F777B1BE-9E00-421D-ABDB-B913C9261CAF}"/>
                  </a:ext>
                </a:extLst>
              </p:cNvPr>
              <p:cNvSpPr txBox="1"/>
              <p:nvPr/>
            </p:nvSpPr>
            <p:spPr>
              <a:xfrm>
                <a:off x="0" y="801530"/>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Manage and organize all employee records. Search and sort employee data for efficient payroll processing.</a:t>
                </a:r>
              </a:p>
            </p:txBody>
          </p:sp>
          <p:sp>
            <p:nvSpPr>
              <p:cNvPr id="234" name="TextBox 125">
                <a:extLst>
                  <a:ext uri="{FF2B5EF4-FFF2-40B4-BE49-F238E27FC236}">
                    <a16:creationId xmlns:a16="http://schemas.microsoft.com/office/drawing/2014/main" id="{DE4BA930-724D-465F-2622-EF5F6F897216}"/>
                  </a:ext>
                </a:extLst>
              </p:cNvPr>
              <p:cNvSpPr txBox="1"/>
              <p:nvPr/>
            </p:nvSpPr>
            <p:spPr>
              <a:xfrm>
                <a:off x="0" y="-19050"/>
                <a:ext cx="3219071" cy="276332"/>
              </a:xfrm>
              <a:prstGeom prst="rect">
                <a:avLst/>
              </a:prstGeom>
            </p:spPr>
            <p:txBody>
              <a:bodyPr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RECORD MANAGEMENT</a:t>
                </a:r>
              </a:p>
            </p:txBody>
          </p:sp>
          <p:sp>
            <p:nvSpPr>
              <p:cNvPr id="235" name="TextBox 126">
                <a:extLst>
                  <a:ext uri="{FF2B5EF4-FFF2-40B4-BE49-F238E27FC236}">
                    <a16:creationId xmlns:a16="http://schemas.microsoft.com/office/drawing/2014/main" id="{0AD892D6-DDB0-B19C-D6AE-B6599D4EEEDC}"/>
                  </a:ext>
                </a:extLst>
              </p:cNvPr>
              <p:cNvSpPr txBox="1"/>
              <p:nvPr/>
            </p:nvSpPr>
            <p:spPr>
              <a:xfrm>
                <a:off x="0" y="391240"/>
                <a:ext cx="3219071" cy="289567"/>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0F8D16"/>
                    </a:solidFill>
                    <a:latin typeface="TT Interphases Bold"/>
                    <a:ea typeface="TT Interphases Bold"/>
                    <a:cs typeface="TT Interphases Bold"/>
                    <a:sym typeface="TT Interphases Bold"/>
                  </a:rPr>
                  <a:t>SEARCH</a:t>
                </a:r>
                <a:r>
                  <a:rPr lang="en-US" sz="1302" b="1" dirty="0">
                    <a:solidFill>
                      <a:srgbClr val="0F8D16"/>
                    </a:solidFill>
                    <a:latin typeface="TT Interphases Bold"/>
                    <a:ea typeface="TT Interphases Bold"/>
                    <a:cs typeface="TT Interphases Bold"/>
                    <a:sym typeface="TT Interphases Bold"/>
                  </a:rPr>
                  <a:t>ING</a:t>
                </a:r>
                <a:r>
                  <a:rPr lang="en-US" sz="1302" b="1" u="none" strike="noStrike" dirty="0">
                    <a:solidFill>
                      <a:srgbClr val="0F8D16"/>
                    </a:solidFill>
                    <a:latin typeface="TT Interphases Bold"/>
                    <a:ea typeface="TT Interphases Bold"/>
                    <a:cs typeface="TT Interphases Bold"/>
                    <a:sym typeface="TT Interphases Bold"/>
                  </a:rPr>
                  <a:t> | SORTING</a:t>
                </a:r>
              </a:p>
            </p:txBody>
          </p:sp>
        </p:grpSp>
        <p:grpSp>
          <p:nvGrpSpPr>
            <p:cNvPr id="200" name="Group 127">
              <a:extLst>
                <a:ext uri="{FF2B5EF4-FFF2-40B4-BE49-F238E27FC236}">
                  <a16:creationId xmlns:a16="http://schemas.microsoft.com/office/drawing/2014/main" id="{DEE127FF-39A4-80A5-919A-6AB0D1AFCE70}"/>
                </a:ext>
              </a:extLst>
            </p:cNvPr>
            <p:cNvGrpSpPr/>
            <p:nvPr/>
          </p:nvGrpSpPr>
          <p:grpSpPr>
            <a:xfrm>
              <a:off x="4453222" y="11887279"/>
              <a:ext cx="2414303" cy="1181442"/>
              <a:chOff x="0" y="0"/>
              <a:chExt cx="3219071" cy="1575255"/>
            </a:xfrm>
          </p:grpSpPr>
          <p:sp>
            <p:nvSpPr>
              <p:cNvPr id="230" name="TextBox 128">
                <a:extLst>
                  <a:ext uri="{FF2B5EF4-FFF2-40B4-BE49-F238E27FC236}">
                    <a16:creationId xmlns:a16="http://schemas.microsoft.com/office/drawing/2014/main" id="{DFC62C4B-BDA1-45F6-093C-B174CED9A760}"/>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dirty="0">
                    <a:solidFill>
                      <a:srgbClr val="000000"/>
                    </a:solidFill>
                    <a:latin typeface="TT Interphases"/>
                    <a:ea typeface="TT Interphases"/>
                    <a:cs typeface="TT Interphases"/>
                    <a:sym typeface="TT Interphases"/>
                  </a:rPr>
                  <a:t>Retrieve and process tax information for each employee including federal, state, and local tax rates.</a:t>
                </a:r>
              </a:p>
            </p:txBody>
          </p:sp>
          <p:sp>
            <p:nvSpPr>
              <p:cNvPr id="231" name="TextBox 129">
                <a:extLst>
                  <a:ext uri="{FF2B5EF4-FFF2-40B4-BE49-F238E27FC236}">
                    <a16:creationId xmlns:a16="http://schemas.microsoft.com/office/drawing/2014/main" id="{1933A00C-FBCD-2FC9-4560-68F821313CA7}"/>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000000"/>
                    </a:solidFill>
                    <a:latin typeface="TT Interphases Bold"/>
                    <a:ea typeface="TT Interphases Bold"/>
                    <a:cs typeface="TT Interphases Bold"/>
                    <a:sym typeface="TT Interphases Bold"/>
                  </a:rPr>
                  <a:t>TAX INFORMATION</a:t>
                </a:r>
              </a:p>
            </p:txBody>
          </p:sp>
          <p:sp>
            <p:nvSpPr>
              <p:cNvPr id="232" name="TextBox 130">
                <a:extLst>
                  <a:ext uri="{FF2B5EF4-FFF2-40B4-BE49-F238E27FC236}">
                    <a16:creationId xmlns:a16="http://schemas.microsoft.com/office/drawing/2014/main" id="{2C5FF865-8815-E9AC-9EBE-DB44C60403A0}"/>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32F2F"/>
                    </a:solidFill>
                    <a:latin typeface="TT Interphases Bold"/>
                    <a:ea typeface="TT Interphases Bold"/>
                    <a:cs typeface="TT Interphases Bold"/>
                    <a:sym typeface="TT Interphases Bold"/>
                  </a:rPr>
                  <a:t>TAX PROCESSING</a:t>
                </a:r>
              </a:p>
            </p:txBody>
          </p:sp>
        </p:grpSp>
        <p:grpSp>
          <p:nvGrpSpPr>
            <p:cNvPr id="201" name="Group 131">
              <a:extLst>
                <a:ext uri="{FF2B5EF4-FFF2-40B4-BE49-F238E27FC236}">
                  <a16:creationId xmlns:a16="http://schemas.microsoft.com/office/drawing/2014/main" id="{8468EB9D-DC64-0782-FBC4-E34E3737ADAC}"/>
                </a:ext>
              </a:extLst>
            </p:cNvPr>
            <p:cNvGrpSpPr/>
            <p:nvPr/>
          </p:nvGrpSpPr>
          <p:grpSpPr>
            <a:xfrm>
              <a:off x="4372229" y="15122895"/>
              <a:ext cx="2414303" cy="1377998"/>
              <a:chOff x="0" y="0"/>
              <a:chExt cx="3219071" cy="1837331"/>
            </a:xfrm>
          </p:grpSpPr>
          <p:sp>
            <p:nvSpPr>
              <p:cNvPr id="227" name="TextBox 132">
                <a:extLst>
                  <a:ext uri="{FF2B5EF4-FFF2-40B4-BE49-F238E27FC236}">
                    <a16:creationId xmlns:a16="http://schemas.microsoft.com/office/drawing/2014/main" id="{E18BE995-8DD9-FB0F-5D83-BC00D0A01283}"/>
                  </a:ext>
                </a:extLst>
              </p:cNvPr>
              <p:cNvSpPr txBox="1"/>
              <p:nvPr/>
            </p:nvSpPr>
            <p:spPr>
              <a:xfrm>
                <a:off x="0" y="808357"/>
                <a:ext cx="3219071" cy="1028974"/>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Calculate all applicable deductions including taxes, benefits, insurance, and other withholdings from gross salary.</a:t>
                </a:r>
              </a:p>
            </p:txBody>
          </p:sp>
          <p:sp>
            <p:nvSpPr>
              <p:cNvPr id="228" name="TextBox 133">
                <a:extLst>
                  <a:ext uri="{FF2B5EF4-FFF2-40B4-BE49-F238E27FC236}">
                    <a16:creationId xmlns:a16="http://schemas.microsoft.com/office/drawing/2014/main" id="{22C93695-F783-9758-E84C-8CA4867BAF04}"/>
                  </a:ext>
                </a:extLst>
              </p:cNvPr>
              <p:cNvSpPr txBox="1"/>
              <p:nvPr/>
            </p:nvSpPr>
            <p:spPr>
              <a:xfrm>
                <a:off x="0" y="-19050"/>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CALCULATE REDUCTION</a:t>
                </a:r>
              </a:p>
            </p:txBody>
          </p:sp>
          <p:sp>
            <p:nvSpPr>
              <p:cNvPr id="229" name="TextBox 134">
                <a:extLst>
                  <a:ext uri="{FF2B5EF4-FFF2-40B4-BE49-F238E27FC236}">
                    <a16:creationId xmlns:a16="http://schemas.microsoft.com/office/drawing/2014/main" id="{E1AAC1AA-EAB5-C9E7-E154-0E6025B5DEDD}"/>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a:solidFill>
                      <a:srgbClr val="DB15D3"/>
                    </a:solidFill>
                    <a:latin typeface="TT Interphases Bold"/>
                    <a:ea typeface="TT Interphases Bold"/>
                    <a:cs typeface="TT Interphases Bold"/>
                    <a:sym typeface="TT Interphases Bold"/>
                  </a:rPr>
                  <a:t>DEDUCTIONS &amp; BENEFITS</a:t>
                </a:r>
              </a:p>
            </p:txBody>
          </p:sp>
        </p:grpSp>
        <p:grpSp>
          <p:nvGrpSpPr>
            <p:cNvPr id="202" name="Group 135">
              <a:extLst>
                <a:ext uri="{FF2B5EF4-FFF2-40B4-BE49-F238E27FC236}">
                  <a16:creationId xmlns:a16="http://schemas.microsoft.com/office/drawing/2014/main" id="{97CADFD7-54D6-C2CE-D8B7-0B2644A35AFE}"/>
                </a:ext>
              </a:extLst>
            </p:cNvPr>
            <p:cNvGrpSpPr/>
            <p:nvPr/>
          </p:nvGrpSpPr>
          <p:grpSpPr>
            <a:xfrm>
              <a:off x="4288296" y="8683368"/>
              <a:ext cx="2579230" cy="1195731"/>
              <a:chOff x="-219902" y="-19052"/>
              <a:chExt cx="3438974" cy="1594307"/>
            </a:xfrm>
          </p:grpSpPr>
          <p:sp>
            <p:nvSpPr>
              <p:cNvPr id="224" name="TextBox 136">
                <a:extLst>
                  <a:ext uri="{FF2B5EF4-FFF2-40B4-BE49-F238E27FC236}">
                    <a16:creationId xmlns:a16="http://schemas.microsoft.com/office/drawing/2014/main" id="{280E454D-68BF-7DB6-302D-5058739787B6}"/>
                  </a:ext>
                </a:extLst>
              </p:cNvPr>
              <p:cNvSpPr txBox="1"/>
              <p:nvPr/>
            </p:nvSpPr>
            <p:spPr>
              <a:xfrm>
                <a:off x="0" y="808357"/>
                <a:ext cx="3219071" cy="766898"/>
              </a:xfrm>
              <a:prstGeom prst="rect">
                <a:avLst/>
              </a:prstGeom>
            </p:spPr>
            <p:txBody>
              <a:bodyPr lIns="0" tIns="0" rIns="0" bIns="0" rtlCol="0" anchor="t">
                <a:spAutoFit/>
              </a:bodyPr>
              <a:lstStyle/>
              <a:p>
                <a:pPr marL="0" lvl="0" indent="0" algn="r">
                  <a:lnSpc>
                    <a:spcPts val="1586"/>
                  </a:lnSpc>
                  <a:spcBef>
                    <a:spcPct val="0"/>
                  </a:spcBef>
                </a:pPr>
                <a:r>
                  <a:rPr lang="en-US" sz="1133" u="none" strike="noStrike">
                    <a:solidFill>
                      <a:srgbClr val="000000"/>
                    </a:solidFill>
                    <a:latin typeface="TT Interphases"/>
                    <a:ea typeface="TT Interphases"/>
                    <a:cs typeface="TT Interphases"/>
                    <a:sym typeface="TT Interphases"/>
                  </a:rPr>
                  <a:t>Monitor and record employee working hours, overtime, and attendance data for accurate payroll calculation.</a:t>
                </a:r>
              </a:p>
            </p:txBody>
          </p:sp>
          <p:sp>
            <p:nvSpPr>
              <p:cNvPr id="225" name="TextBox 137">
                <a:extLst>
                  <a:ext uri="{FF2B5EF4-FFF2-40B4-BE49-F238E27FC236}">
                    <a16:creationId xmlns:a16="http://schemas.microsoft.com/office/drawing/2014/main" id="{4843B0BF-3FC1-CFE2-2320-182448ED273D}"/>
                  </a:ext>
                </a:extLst>
              </p:cNvPr>
              <p:cNvSpPr txBox="1"/>
              <p:nvPr/>
            </p:nvSpPr>
            <p:spPr>
              <a:xfrm>
                <a:off x="-219902" y="-19052"/>
                <a:ext cx="3438974" cy="281530"/>
              </a:xfrm>
              <a:prstGeom prst="rect">
                <a:avLst/>
              </a:prstGeom>
            </p:spPr>
            <p:txBody>
              <a:bodyPr wrap="square" lIns="0" tIns="0" rIns="0" bIns="0" rtlCol="0" anchor="t">
                <a:spAutoFit/>
              </a:bodyPr>
              <a:lstStyle/>
              <a:p>
                <a:pPr marL="0" lvl="0" indent="0" algn="r">
                  <a:lnSpc>
                    <a:spcPts val="1823"/>
                  </a:lnSpc>
                  <a:spcBef>
                    <a:spcPct val="0"/>
                  </a:spcBef>
                </a:pPr>
                <a:r>
                  <a:rPr lang="en-US" sz="1302" b="1" dirty="0">
                    <a:solidFill>
                      <a:srgbClr val="000000"/>
                    </a:solidFill>
                    <a:latin typeface="TT Interphases Bold"/>
                    <a:ea typeface="TT Interphases Bold"/>
                    <a:cs typeface="TT Interphases Bold"/>
                    <a:sym typeface="TT Interphases Bold"/>
                  </a:rPr>
                  <a:t>TRACK TIME &amp; ATTENDANCE</a:t>
                </a:r>
              </a:p>
            </p:txBody>
          </p:sp>
          <p:sp>
            <p:nvSpPr>
              <p:cNvPr id="226" name="TextBox 138">
                <a:extLst>
                  <a:ext uri="{FF2B5EF4-FFF2-40B4-BE49-F238E27FC236}">
                    <a16:creationId xmlns:a16="http://schemas.microsoft.com/office/drawing/2014/main" id="{EC2988E9-9317-DC6A-17E1-232FD1F2A3B2}"/>
                  </a:ext>
                </a:extLst>
              </p:cNvPr>
              <p:cNvSpPr txBox="1"/>
              <p:nvPr/>
            </p:nvSpPr>
            <p:spPr>
              <a:xfrm>
                <a:off x="0" y="394654"/>
                <a:ext cx="3219071" cy="279746"/>
              </a:xfrm>
              <a:prstGeom prst="rect">
                <a:avLst/>
              </a:prstGeom>
            </p:spPr>
            <p:txBody>
              <a:bodyPr lIns="0" tIns="0" rIns="0" bIns="0" rtlCol="0" anchor="t">
                <a:spAutoFit/>
              </a:bodyPr>
              <a:lstStyle/>
              <a:p>
                <a:pPr marL="0" lvl="0" indent="0" algn="r">
                  <a:lnSpc>
                    <a:spcPts val="1823"/>
                  </a:lnSpc>
                  <a:spcBef>
                    <a:spcPct val="0"/>
                  </a:spcBef>
                </a:pPr>
                <a:r>
                  <a:rPr lang="en-US" sz="1302" b="1" u="none" strike="noStrike" dirty="0">
                    <a:solidFill>
                      <a:srgbClr val="FB8C00"/>
                    </a:solidFill>
                    <a:latin typeface="TT Interphases Bold"/>
                    <a:ea typeface="TT Interphases Bold"/>
                    <a:cs typeface="TT Interphases Bold"/>
                    <a:sym typeface="TT Interphases Bold"/>
                  </a:rPr>
                  <a:t>ATTENDANCE TRACKING</a:t>
                </a:r>
              </a:p>
            </p:txBody>
          </p:sp>
        </p:grpSp>
        <p:grpSp>
          <p:nvGrpSpPr>
            <p:cNvPr id="203" name="Group 139">
              <a:extLst>
                <a:ext uri="{FF2B5EF4-FFF2-40B4-BE49-F238E27FC236}">
                  <a16:creationId xmlns:a16="http://schemas.microsoft.com/office/drawing/2014/main" id="{EE1723D8-9114-6D6F-6BE3-BC52B75EC6B3}"/>
                </a:ext>
              </a:extLst>
            </p:cNvPr>
            <p:cNvGrpSpPr/>
            <p:nvPr/>
          </p:nvGrpSpPr>
          <p:grpSpPr>
            <a:xfrm>
              <a:off x="771525" y="3535025"/>
              <a:ext cx="2389202" cy="1218036"/>
              <a:chOff x="0" y="-19050"/>
              <a:chExt cx="3185603" cy="1624049"/>
            </a:xfrm>
          </p:grpSpPr>
          <p:sp>
            <p:nvSpPr>
              <p:cNvPr id="221" name="TextBox 140">
                <a:extLst>
                  <a:ext uri="{FF2B5EF4-FFF2-40B4-BE49-F238E27FC236}">
                    <a16:creationId xmlns:a16="http://schemas.microsoft.com/office/drawing/2014/main" id="{AAC3A8E1-C04B-6F6D-A0D7-2C752FF8C9E9}"/>
                  </a:ext>
                </a:extLst>
              </p:cNvPr>
              <p:cNvSpPr txBox="1"/>
              <p:nvPr/>
            </p:nvSpPr>
            <p:spPr>
              <a:xfrm>
                <a:off x="0" y="801530"/>
                <a:ext cx="3185603" cy="803469"/>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employee_list.csv</a:t>
                </a:r>
              </a:p>
              <a:p>
                <a:pPr marL="0" lvl="0" indent="0" algn="l">
                  <a:lnSpc>
                    <a:spcPts val="1586"/>
                  </a:lnSpc>
                  <a:spcBef>
                    <a:spcPct val="0"/>
                  </a:spcBef>
                </a:pPr>
                <a:r>
                  <a:rPr lang="en-US" sz="1133" dirty="0">
                    <a:solidFill>
                      <a:srgbClr val="000000"/>
                    </a:solidFill>
                    <a:latin typeface="TT Interphases"/>
                    <a:ea typeface="TT Interphases"/>
                    <a:cs typeface="TT Interphases"/>
                    <a:sym typeface="TT Interphases"/>
                  </a:rPr>
                  <a:t>tax_information</a:t>
                </a:r>
                <a:r>
                  <a:rPr lang="en-US" sz="1133" u="none" strike="noStrike" dirty="0">
                    <a:solidFill>
                      <a:srgbClr val="000000"/>
                    </a:solidFill>
                    <a:latin typeface="TT Interphases"/>
                    <a:ea typeface="TT Interphases"/>
                    <a:cs typeface="TT Interphases"/>
                    <a:sym typeface="TT Interphases"/>
                  </a:rPr>
                  <a:t>.csv</a:t>
                </a:r>
              </a:p>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attendance.csv</a:t>
                </a:r>
              </a:p>
            </p:txBody>
          </p:sp>
          <p:sp>
            <p:nvSpPr>
              <p:cNvPr id="222" name="TextBox 141">
                <a:extLst>
                  <a:ext uri="{FF2B5EF4-FFF2-40B4-BE49-F238E27FC236}">
                    <a16:creationId xmlns:a16="http://schemas.microsoft.com/office/drawing/2014/main" id="{6019B5EB-9AB7-A370-6B6C-80E9D43066BC}"/>
                  </a:ext>
                </a:extLst>
              </p:cNvPr>
              <p:cNvSpPr txBox="1"/>
              <p:nvPr/>
            </p:nvSpPr>
            <p:spPr>
              <a:xfrm>
                <a:off x="0" y="-1905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DATA SOURCES</a:t>
                </a:r>
              </a:p>
            </p:txBody>
          </p:sp>
          <p:sp>
            <p:nvSpPr>
              <p:cNvPr id="223" name="TextBox 142">
                <a:extLst>
                  <a:ext uri="{FF2B5EF4-FFF2-40B4-BE49-F238E27FC236}">
                    <a16:creationId xmlns:a16="http://schemas.microsoft.com/office/drawing/2014/main" id="{B3EFCC93-35B1-9D4E-6624-4E1E2521B920}"/>
                  </a:ext>
                </a:extLst>
              </p:cNvPr>
              <p:cNvSpPr txBox="1"/>
              <p:nvPr/>
            </p:nvSpPr>
            <p:spPr>
              <a:xfrm>
                <a:off x="0" y="391240"/>
                <a:ext cx="3185603" cy="276332"/>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FBC02D"/>
                    </a:solidFill>
                    <a:latin typeface="TT Interphases Bold"/>
                    <a:ea typeface="TT Interphases Bold"/>
                    <a:cs typeface="TT Interphases Bold"/>
                    <a:sym typeface="TT Interphases Bold"/>
                  </a:rPr>
                  <a:t>INPUT FILES</a:t>
                </a:r>
              </a:p>
            </p:txBody>
          </p:sp>
        </p:grpSp>
        <p:grpSp>
          <p:nvGrpSpPr>
            <p:cNvPr id="204" name="Group 143">
              <a:extLst>
                <a:ext uri="{FF2B5EF4-FFF2-40B4-BE49-F238E27FC236}">
                  <a16:creationId xmlns:a16="http://schemas.microsoft.com/office/drawing/2014/main" id="{7FC3DDC1-E5A1-98FD-E451-51BB079462E6}"/>
                </a:ext>
              </a:extLst>
            </p:cNvPr>
            <p:cNvGrpSpPr/>
            <p:nvPr/>
          </p:nvGrpSpPr>
          <p:grpSpPr>
            <a:xfrm>
              <a:off x="771524" y="6656552"/>
              <a:ext cx="2548694" cy="1651820"/>
              <a:chOff x="-1" y="-19050"/>
              <a:chExt cx="3398259" cy="2202426"/>
            </a:xfrm>
          </p:grpSpPr>
          <p:sp>
            <p:nvSpPr>
              <p:cNvPr id="218" name="TextBox 144">
                <a:extLst>
                  <a:ext uri="{FF2B5EF4-FFF2-40B4-BE49-F238E27FC236}">
                    <a16:creationId xmlns:a16="http://schemas.microsoft.com/office/drawing/2014/main" id="{0E8067CF-CA43-CC9E-754A-063691BE4867}"/>
                  </a:ext>
                </a:extLst>
              </p:cNvPr>
              <p:cNvSpPr txBox="1"/>
              <p:nvPr/>
            </p:nvSpPr>
            <p:spPr>
              <a:xfrm>
                <a:off x="0" y="1106330"/>
                <a:ext cx="3185603" cy="1077046"/>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Compute the final net salary for each employee after applying all deductions and tax reductions. Reference: </a:t>
                </a:r>
                <a:r>
                  <a:rPr lang="en-US" sz="1133" dirty="0">
                    <a:solidFill>
                      <a:srgbClr val="000000"/>
                    </a:solidFill>
                    <a:latin typeface="TT Interphases"/>
                    <a:ea typeface="TT Interphases"/>
                    <a:cs typeface="TT Interphases"/>
                    <a:sym typeface="TT Interphases"/>
                  </a:rPr>
                  <a:t>final_salary</a:t>
                </a:r>
                <a:r>
                  <a:rPr lang="en-US" sz="1133" u="none" strike="noStrike" dirty="0">
                    <a:solidFill>
                      <a:srgbClr val="000000"/>
                    </a:solidFill>
                    <a:latin typeface="TT Interphases"/>
                    <a:ea typeface="TT Interphases"/>
                    <a:cs typeface="TT Interphases"/>
                    <a:sym typeface="TT Interphases"/>
                  </a:rPr>
                  <a:t>.csv</a:t>
                </a:r>
              </a:p>
            </p:txBody>
          </p:sp>
          <p:sp>
            <p:nvSpPr>
              <p:cNvPr id="219" name="TextBox 145">
                <a:extLst>
                  <a:ext uri="{FF2B5EF4-FFF2-40B4-BE49-F238E27FC236}">
                    <a16:creationId xmlns:a16="http://schemas.microsoft.com/office/drawing/2014/main" id="{63117BB6-28D4-CA86-2521-7CD4FAD0D3CA}"/>
                  </a:ext>
                </a:extLst>
              </p:cNvPr>
              <p:cNvSpPr txBox="1"/>
              <p:nvPr/>
            </p:nvSpPr>
            <p:spPr>
              <a:xfrm>
                <a:off x="0" y="-19050"/>
                <a:ext cx="3185603" cy="597344"/>
              </a:xfrm>
              <a:prstGeom prst="rect">
                <a:avLst/>
              </a:prstGeom>
            </p:spPr>
            <p:txBody>
              <a:bodyPr lIns="0" tIns="0" rIns="0" bIns="0" rtlCol="0" anchor="t">
                <a:spAutoFit/>
              </a:bodyPr>
              <a:lstStyle/>
              <a:p>
                <a:pPr marL="0" lvl="0" indent="0" algn="l">
                  <a:lnSpc>
                    <a:spcPts val="1823"/>
                  </a:lnSpc>
                  <a:spcBef>
                    <a:spcPct val="0"/>
                  </a:spcBef>
                </a:pPr>
                <a:r>
                  <a:rPr lang="en-US" sz="1302" b="1" dirty="0">
                    <a:solidFill>
                      <a:srgbClr val="000000"/>
                    </a:solidFill>
                    <a:latin typeface="TT Interphases Bold"/>
                    <a:ea typeface="TT Interphases Bold"/>
                    <a:cs typeface="TT Interphases Bold"/>
                    <a:sym typeface="TT Interphases Bold"/>
                  </a:rPr>
                  <a:t>CALCULATE SALARY AND DEDUCTION</a:t>
                </a:r>
              </a:p>
            </p:txBody>
          </p:sp>
          <p:sp>
            <p:nvSpPr>
              <p:cNvPr id="220" name="TextBox 146">
                <a:extLst>
                  <a:ext uri="{FF2B5EF4-FFF2-40B4-BE49-F238E27FC236}">
                    <a16:creationId xmlns:a16="http://schemas.microsoft.com/office/drawing/2014/main" id="{159A2CBB-1A51-EF16-B3D3-94D44E3916EF}"/>
                  </a:ext>
                </a:extLst>
              </p:cNvPr>
              <p:cNvSpPr txBox="1"/>
              <p:nvPr/>
            </p:nvSpPr>
            <p:spPr>
              <a:xfrm>
                <a:off x="-1" y="692627"/>
                <a:ext cx="3398259" cy="281531"/>
              </a:xfrm>
              <a:prstGeom prst="rect">
                <a:avLst/>
              </a:prstGeom>
            </p:spPr>
            <p:txBody>
              <a:bodyPr wrap="square" lIns="0" tIns="0" rIns="0" bIns="0" rtlCol="0" anchor="t">
                <a:spAutoFit/>
              </a:bodyPr>
              <a:lstStyle/>
              <a:p>
                <a:pPr marL="0" lvl="0" indent="0" algn="l">
                  <a:lnSpc>
                    <a:spcPts val="1823"/>
                  </a:lnSpc>
                  <a:spcBef>
                    <a:spcPct val="0"/>
                  </a:spcBef>
                </a:pPr>
                <a:r>
                  <a:rPr lang="en-US" sz="1302" b="1" u="none" strike="noStrike" dirty="0">
                    <a:solidFill>
                      <a:srgbClr val="0EAFA0"/>
                    </a:solidFill>
                    <a:latin typeface="TT Interphases Bold"/>
                    <a:ea typeface="TT Interphases Bold"/>
                    <a:cs typeface="TT Interphases Bold"/>
                    <a:sym typeface="TT Interphases Bold"/>
                  </a:rPr>
                  <a:t>NET SALARY COMPUTATION</a:t>
                </a:r>
              </a:p>
            </p:txBody>
          </p:sp>
        </p:grpSp>
        <p:grpSp>
          <p:nvGrpSpPr>
            <p:cNvPr id="205" name="Group 147">
              <a:extLst>
                <a:ext uri="{FF2B5EF4-FFF2-40B4-BE49-F238E27FC236}">
                  <a16:creationId xmlns:a16="http://schemas.microsoft.com/office/drawing/2014/main" id="{3404C997-C9B0-7DF1-12BF-F2DB35C3D98F}"/>
                </a:ext>
              </a:extLst>
            </p:cNvPr>
            <p:cNvGrpSpPr/>
            <p:nvPr/>
          </p:nvGrpSpPr>
          <p:grpSpPr>
            <a:xfrm>
              <a:off x="771525" y="10115400"/>
              <a:ext cx="2389202" cy="1377998"/>
              <a:chOff x="0" y="0"/>
              <a:chExt cx="3185603" cy="1837331"/>
            </a:xfrm>
          </p:grpSpPr>
          <p:sp>
            <p:nvSpPr>
              <p:cNvPr id="215" name="TextBox 148">
                <a:extLst>
                  <a:ext uri="{FF2B5EF4-FFF2-40B4-BE49-F238E27FC236}">
                    <a16:creationId xmlns:a16="http://schemas.microsoft.com/office/drawing/2014/main" id="{30531982-4689-0F6E-1A31-F4FF41AA3A4B}"/>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Organize and schedule payment dates for all employees. Manage pay periods and ensure timely disbursement of salaries.</a:t>
                </a:r>
              </a:p>
            </p:txBody>
          </p:sp>
          <p:sp>
            <p:nvSpPr>
              <p:cNvPr id="216" name="TextBox 149">
                <a:extLst>
                  <a:ext uri="{FF2B5EF4-FFF2-40B4-BE49-F238E27FC236}">
                    <a16:creationId xmlns:a16="http://schemas.microsoft.com/office/drawing/2014/main" id="{A914C5BC-91D1-73F3-07E0-A24F05287BB0}"/>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SCHEDULE</a:t>
                </a:r>
              </a:p>
            </p:txBody>
          </p:sp>
          <p:sp>
            <p:nvSpPr>
              <p:cNvPr id="217" name="TextBox 150">
                <a:extLst>
                  <a:ext uri="{FF2B5EF4-FFF2-40B4-BE49-F238E27FC236}">
                    <a16:creationId xmlns:a16="http://schemas.microsoft.com/office/drawing/2014/main" id="{990A5D09-31F7-379B-6D6A-07FA37E4D253}"/>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039BE5"/>
                    </a:solidFill>
                    <a:latin typeface="TT Interphases Bold"/>
                    <a:ea typeface="TT Interphases Bold"/>
                    <a:cs typeface="TT Interphases Bold"/>
                    <a:sym typeface="TT Interphases Bold"/>
                  </a:rPr>
                  <a:t>PAYMENT PLANNING</a:t>
                </a:r>
              </a:p>
            </p:txBody>
          </p:sp>
        </p:grpSp>
        <p:grpSp>
          <p:nvGrpSpPr>
            <p:cNvPr id="206" name="Group 151">
              <a:extLst>
                <a:ext uri="{FF2B5EF4-FFF2-40B4-BE49-F238E27FC236}">
                  <a16:creationId xmlns:a16="http://schemas.microsoft.com/office/drawing/2014/main" id="{56465BB9-CCF0-C836-172F-AF509528CBF7}"/>
                </a:ext>
              </a:extLst>
            </p:cNvPr>
            <p:cNvGrpSpPr/>
            <p:nvPr/>
          </p:nvGrpSpPr>
          <p:grpSpPr>
            <a:xfrm>
              <a:off x="771525" y="13509767"/>
              <a:ext cx="2389202" cy="1377998"/>
              <a:chOff x="0" y="0"/>
              <a:chExt cx="3185603" cy="1837331"/>
            </a:xfrm>
          </p:grpSpPr>
          <p:sp>
            <p:nvSpPr>
              <p:cNvPr id="212" name="TextBox 152">
                <a:extLst>
                  <a:ext uri="{FF2B5EF4-FFF2-40B4-BE49-F238E27FC236}">
                    <a16:creationId xmlns:a16="http://schemas.microsoft.com/office/drawing/2014/main" id="{D34B9365-CE76-4FFB-C4E1-A61DEF4783F4}"/>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dirty="0">
                    <a:solidFill>
                      <a:srgbClr val="000000"/>
                    </a:solidFill>
                    <a:latin typeface="TT Interphases"/>
                    <a:ea typeface="TT Interphases"/>
                    <a:cs typeface="TT Interphases"/>
                    <a:sym typeface="TT Interphases"/>
                  </a:rPr>
                  <a:t>Execute salary payments to all employees via direct deposit or check. Confirm successful payment transactions.</a:t>
                </a:r>
              </a:p>
            </p:txBody>
          </p:sp>
          <p:sp>
            <p:nvSpPr>
              <p:cNvPr id="213" name="TextBox 153">
                <a:extLst>
                  <a:ext uri="{FF2B5EF4-FFF2-40B4-BE49-F238E27FC236}">
                    <a16:creationId xmlns:a16="http://schemas.microsoft.com/office/drawing/2014/main" id="{CF0E3B55-6F72-B077-C117-80FF1794C4FD}"/>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PAY EMPLOYEES</a:t>
                </a:r>
              </a:p>
            </p:txBody>
          </p:sp>
          <p:sp>
            <p:nvSpPr>
              <p:cNvPr id="214" name="TextBox 154">
                <a:extLst>
                  <a:ext uri="{FF2B5EF4-FFF2-40B4-BE49-F238E27FC236}">
                    <a16:creationId xmlns:a16="http://schemas.microsoft.com/office/drawing/2014/main" id="{1423A764-7C36-9289-D812-3F8111156EDE}"/>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903AB4"/>
                    </a:solidFill>
                    <a:latin typeface="TT Interphases Bold"/>
                    <a:ea typeface="TT Interphases Bold"/>
                    <a:cs typeface="TT Interphases Bold"/>
                    <a:sym typeface="TT Interphases Bold"/>
                  </a:rPr>
                  <a:t>SALARY DISBURSEMENT</a:t>
                </a:r>
              </a:p>
            </p:txBody>
          </p:sp>
        </p:grpSp>
        <p:grpSp>
          <p:nvGrpSpPr>
            <p:cNvPr id="207" name="Group 155">
              <a:extLst>
                <a:ext uri="{FF2B5EF4-FFF2-40B4-BE49-F238E27FC236}">
                  <a16:creationId xmlns:a16="http://schemas.microsoft.com/office/drawing/2014/main" id="{B93AACC3-10CC-3CCE-9751-607A8A97807A}"/>
                </a:ext>
              </a:extLst>
            </p:cNvPr>
            <p:cNvGrpSpPr/>
            <p:nvPr/>
          </p:nvGrpSpPr>
          <p:grpSpPr>
            <a:xfrm>
              <a:off x="771525" y="16841842"/>
              <a:ext cx="2389202" cy="1377998"/>
              <a:chOff x="0" y="0"/>
              <a:chExt cx="3185603" cy="1837331"/>
            </a:xfrm>
          </p:grpSpPr>
          <p:sp>
            <p:nvSpPr>
              <p:cNvPr id="209" name="TextBox 156">
                <a:extLst>
                  <a:ext uri="{FF2B5EF4-FFF2-40B4-BE49-F238E27FC236}">
                    <a16:creationId xmlns:a16="http://schemas.microsoft.com/office/drawing/2014/main" id="{3D854654-A5C6-E883-D5F9-F458EEE9F80E}"/>
                  </a:ext>
                </a:extLst>
              </p:cNvPr>
              <p:cNvSpPr txBox="1"/>
              <p:nvPr/>
            </p:nvSpPr>
            <p:spPr>
              <a:xfrm>
                <a:off x="0" y="808357"/>
                <a:ext cx="3185603" cy="1028974"/>
              </a:xfrm>
              <a:prstGeom prst="rect">
                <a:avLst/>
              </a:prstGeom>
            </p:spPr>
            <p:txBody>
              <a:bodyPr lIns="0" tIns="0" rIns="0" bIns="0" rtlCol="0" anchor="t">
                <a:spAutoFit/>
              </a:bodyPr>
              <a:lstStyle/>
              <a:p>
                <a:pPr marL="0" lvl="0" indent="0" algn="l">
                  <a:lnSpc>
                    <a:spcPts val="1586"/>
                  </a:lnSpc>
                  <a:spcBef>
                    <a:spcPct val="0"/>
                  </a:spcBef>
                </a:pPr>
                <a:r>
                  <a:rPr lang="en-US" sz="1133" u="none" strike="noStrike">
                    <a:solidFill>
                      <a:srgbClr val="000000"/>
                    </a:solidFill>
                    <a:latin typeface="TT Interphases"/>
                    <a:ea typeface="TT Interphases"/>
                    <a:cs typeface="TT Interphases"/>
                    <a:sym typeface="TT Interphases"/>
                  </a:rPr>
                  <a:t>Submit payroll tax payments and filings to relevant authorities. Reference: tax_report.csv | tax_filling_history.csv</a:t>
                </a:r>
              </a:p>
            </p:txBody>
          </p:sp>
          <p:sp>
            <p:nvSpPr>
              <p:cNvPr id="210" name="TextBox 157">
                <a:extLst>
                  <a:ext uri="{FF2B5EF4-FFF2-40B4-BE49-F238E27FC236}">
                    <a16:creationId xmlns:a16="http://schemas.microsoft.com/office/drawing/2014/main" id="{9C419628-FA1C-46FE-155D-CDF238CDC0D8}"/>
                  </a:ext>
                </a:extLst>
              </p:cNvPr>
              <p:cNvSpPr txBox="1"/>
              <p:nvPr/>
            </p:nvSpPr>
            <p:spPr>
              <a:xfrm>
                <a:off x="0" y="-19050"/>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a:solidFill>
                      <a:srgbClr val="000000"/>
                    </a:solidFill>
                    <a:latin typeface="TT Interphases Bold"/>
                    <a:ea typeface="TT Interphases Bold"/>
                    <a:cs typeface="TT Interphases Bold"/>
                    <a:sym typeface="TT Interphases Bold"/>
                  </a:rPr>
                  <a:t>SUBMIT PAYROLL TAX</a:t>
                </a:r>
              </a:p>
            </p:txBody>
          </p:sp>
          <p:sp>
            <p:nvSpPr>
              <p:cNvPr id="211" name="TextBox 158">
                <a:extLst>
                  <a:ext uri="{FF2B5EF4-FFF2-40B4-BE49-F238E27FC236}">
                    <a16:creationId xmlns:a16="http://schemas.microsoft.com/office/drawing/2014/main" id="{276A651B-462F-9A33-F5CD-827F68C7FF7F}"/>
                  </a:ext>
                </a:extLst>
              </p:cNvPr>
              <p:cNvSpPr txBox="1"/>
              <p:nvPr/>
            </p:nvSpPr>
            <p:spPr>
              <a:xfrm>
                <a:off x="0" y="394654"/>
                <a:ext cx="3185603" cy="279746"/>
              </a:xfrm>
              <a:prstGeom prst="rect">
                <a:avLst/>
              </a:prstGeom>
            </p:spPr>
            <p:txBody>
              <a:bodyPr lIns="0" tIns="0" rIns="0" bIns="0" rtlCol="0" anchor="t">
                <a:spAutoFit/>
              </a:bodyPr>
              <a:lstStyle/>
              <a:p>
                <a:pPr marL="0" lvl="0" indent="0" algn="l">
                  <a:lnSpc>
                    <a:spcPts val="1823"/>
                  </a:lnSpc>
                  <a:spcBef>
                    <a:spcPct val="0"/>
                  </a:spcBef>
                </a:pPr>
                <a:r>
                  <a:rPr lang="en-US" sz="1302" b="1" u="none" strike="noStrike">
                    <a:solidFill>
                      <a:srgbClr val="AD1457"/>
                    </a:solidFill>
                    <a:latin typeface="TT Interphases Bold"/>
                    <a:ea typeface="TT Interphases Bold"/>
                    <a:cs typeface="TT Interphases Bold"/>
                    <a:sym typeface="TT Interphases Bold"/>
                  </a:rPr>
                  <a:t>TAX FILING &amp; PAYMENT</a:t>
                </a:r>
              </a:p>
            </p:txBody>
          </p:sp>
        </p:grpSp>
        <p:sp>
          <p:nvSpPr>
            <p:cNvPr id="208" name="TextBox 159">
              <a:extLst>
                <a:ext uri="{FF2B5EF4-FFF2-40B4-BE49-F238E27FC236}">
                  <a16:creationId xmlns:a16="http://schemas.microsoft.com/office/drawing/2014/main" id="{9E2C00C2-FF0D-7A0B-DC4F-ED3241CB72B6}"/>
                </a:ext>
              </a:extLst>
            </p:cNvPr>
            <p:cNvSpPr txBox="1"/>
            <p:nvPr/>
          </p:nvSpPr>
          <p:spPr>
            <a:xfrm>
              <a:off x="4453222" y="18282819"/>
              <a:ext cx="3003857" cy="214572"/>
            </a:xfrm>
            <a:prstGeom prst="rect">
              <a:avLst/>
            </a:prstGeom>
          </p:spPr>
          <p:txBody>
            <a:bodyPr lIns="0" tIns="0" rIns="0" bIns="0" rtlCol="0" anchor="t">
              <a:spAutoFit/>
            </a:bodyPr>
            <a:lstStyle/>
            <a:p>
              <a:pPr marL="0" lvl="0" indent="0" algn="r">
                <a:lnSpc>
                  <a:spcPts val="1823"/>
                </a:lnSpc>
                <a:spcBef>
                  <a:spcPct val="0"/>
                </a:spcBef>
              </a:pPr>
              <a:r>
                <a:rPr lang="en-US" sz="1302" b="1">
                  <a:solidFill>
                    <a:srgbClr val="000000"/>
                  </a:solidFill>
                  <a:latin typeface="TT Interphases Bold"/>
                  <a:ea typeface="TT Interphases Bold"/>
                  <a:cs typeface="TT Interphases Bold"/>
                  <a:sym typeface="TT Interphases Bold"/>
                </a:rPr>
                <a:t>PAYROLL MANAGEMENT FLOWCHART</a:t>
              </a:r>
            </a:p>
          </p:txBody>
        </p:sp>
      </p:grpSp>
      <p:grpSp>
        <p:nvGrpSpPr>
          <p:cNvPr id="326" name="Group 325">
            <a:extLst>
              <a:ext uri="{FF2B5EF4-FFF2-40B4-BE49-F238E27FC236}">
                <a16:creationId xmlns:a16="http://schemas.microsoft.com/office/drawing/2014/main" id="{A755FBFA-C704-D0A1-9291-64148BF3EE44}"/>
              </a:ext>
            </a:extLst>
          </p:cNvPr>
          <p:cNvGrpSpPr/>
          <p:nvPr/>
        </p:nvGrpSpPr>
        <p:grpSpPr>
          <a:xfrm>
            <a:off x="1469683" y="1303328"/>
            <a:ext cx="11331916" cy="1124886"/>
            <a:chOff x="1469683" y="1303328"/>
            <a:chExt cx="11331916" cy="1124886"/>
          </a:xfrm>
        </p:grpSpPr>
        <p:sp>
          <p:nvSpPr>
            <p:cNvPr id="327" name="Freeform 7">
              <a:extLst>
                <a:ext uri="{FF2B5EF4-FFF2-40B4-BE49-F238E27FC236}">
                  <a16:creationId xmlns:a16="http://schemas.microsoft.com/office/drawing/2014/main" id="{96F21850-CE5D-46A4-6E15-DD1B9DA6A34F}"/>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328" name="TextBox 10">
              <a:extLst>
                <a:ext uri="{FF2B5EF4-FFF2-40B4-BE49-F238E27FC236}">
                  <a16:creationId xmlns:a16="http://schemas.microsoft.com/office/drawing/2014/main" id="{6C78E966-9575-3280-3CB8-79B86F043341}"/>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329" name="Freeform 3">
              <a:extLst>
                <a:ext uri="{FF2B5EF4-FFF2-40B4-BE49-F238E27FC236}">
                  <a16:creationId xmlns:a16="http://schemas.microsoft.com/office/drawing/2014/main" id="{8C2B81B4-4B75-EBA6-5C57-FD1E3E487F45}"/>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Tree>
    <p:extLst>
      <p:ext uri="{BB962C8B-B14F-4D97-AF65-F5344CB8AC3E}">
        <p14:creationId xmlns:p14="http://schemas.microsoft.com/office/powerpoint/2010/main" val="3911933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6" name="Freeform 6"/>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Tracking &amp; Searching </a:t>
            </a:r>
          </a:p>
        </p:txBody>
      </p:sp>
      <p:pic>
        <p:nvPicPr>
          <p:cNvPr id="2050" name="Picture 2">
            <a:extLst>
              <a:ext uri="{FF2B5EF4-FFF2-40B4-BE49-F238E27FC236}">
                <a16:creationId xmlns:a16="http://schemas.microsoft.com/office/drawing/2014/main" id="{C8E97213-262C-D8E6-493A-1DBB2F0D2EE0}"/>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1507117" y="4738659"/>
            <a:ext cx="6181594" cy="2220725"/>
          </a:xfrm>
          <a:prstGeom prst="rect">
            <a:avLst/>
          </a:prstGeom>
          <a:noFill/>
          <a:ln w="9525">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F2020B9-DE1A-A8DF-AF1C-8539F3B3C4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73901" y="4738660"/>
            <a:ext cx="5989899" cy="2220724"/>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86425F3-35DA-7A99-E4F7-853E47022A48}"/>
              </a:ext>
            </a:extLst>
          </p:cNvPr>
          <p:cNvSpPr txBox="1"/>
          <p:nvPr/>
        </p:nvSpPr>
        <p:spPr>
          <a:xfrm>
            <a:off x="1752600" y="4882602"/>
            <a:ext cx="5183768" cy="2492990"/>
          </a:xfrm>
          <a:prstGeom prst="rect">
            <a:avLst/>
          </a:prstGeom>
          <a:noFill/>
        </p:spPr>
        <p:txBody>
          <a:bodyPr wrap="square" rtlCol="0">
            <a:spAutoFit/>
          </a:bodyPr>
          <a:lstStyle/>
          <a:p>
            <a:r>
              <a:rPr lang="en-US" sz="2400" b="1" dirty="0">
                <a:solidFill>
                  <a:schemeClr val="tx2">
                    <a:lumMod val="60000"/>
                    <a:lumOff val="40000"/>
                  </a:schemeClr>
                </a:solidFill>
                <a:latin typeface="Sukar"/>
                <a:cs typeface="Sukar"/>
              </a:rPr>
              <a:t>Attendance Tracking</a:t>
            </a:r>
          </a:p>
          <a:p>
            <a:r>
              <a:rPr lang="en-US" sz="2400" dirty="0">
                <a:solidFill>
                  <a:srgbClr val="000000"/>
                </a:solidFill>
                <a:latin typeface="Sukar"/>
                <a:cs typeface="Sukar"/>
              </a:rPr>
              <a:t>Records working hours, presence, and overtime. Automatically updates employee stats and prepares values for the final payroll calculation</a:t>
            </a:r>
            <a:r>
              <a:rPr lang="en-US" dirty="0"/>
              <a:t>.</a:t>
            </a:r>
          </a:p>
          <a:p>
            <a:br>
              <a:rPr lang="en-US" dirty="0"/>
            </a:br>
            <a:endParaRPr lang="en-US" dirty="0"/>
          </a:p>
        </p:txBody>
      </p:sp>
      <p:sp>
        <p:nvSpPr>
          <p:cNvPr id="16" name="TextBox 15">
            <a:extLst>
              <a:ext uri="{FF2B5EF4-FFF2-40B4-BE49-F238E27FC236}">
                <a16:creationId xmlns:a16="http://schemas.microsoft.com/office/drawing/2014/main" id="{931E0EF3-1E0A-7CCE-5BC1-57CE66A0E89B}"/>
              </a:ext>
            </a:extLst>
          </p:cNvPr>
          <p:cNvSpPr txBox="1"/>
          <p:nvPr/>
        </p:nvSpPr>
        <p:spPr>
          <a:xfrm>
            <a:off x="9494474" y="4882602"/>
            <a:ext cx="5108678" cy="2769989"/>
          </a:xfrm>
          <a:prstGeom prst="rect">
            <a:avLst/>
          </a:prstGeom>
          <a:noFill/>
        </p:spPr>
        <p:txBody>
          <a:bodyPr wrap="square" rtlCol="0">
            <a:spAutoFit/>
          </a:bodyPr>
          <a:lstStyle/>
          <a:p>
            <a:r>
              <a:rPr lang="en-US" sz="2400" b="1" dirty="0">
                <a:solidFill>
                  <a:schemeClr val="accent1">
                    <a:lumMod val="50000"/>
                  </a:schemeClr>
                </a:solidFill>
                <a:latin typeface="Sukar"/>
                <a:cs typeface="Sukar"/>
              </a:rPr>
              <a:t>Linear Search Function</a:t>
            </a:r>
          </a:p>
          <a:p>
            <a:r>
              <a:rPr lang="en-US" sz="2400" dirty="0">
                <a:solidFill>
                  <a:srgbClr val="000000"/>
                </a:solidFill>
                <a:latin typeface="Sukar"/>
                <a:cs typeface="Sukar"/>
              </a:rPr>
              <a:t>Quickly locate records using Employee ID. The system traverses the linked list to display relevant payroll and personal details instantly.</a:t>
            </a:r>
          </a:p>
          <a:p>
            <a:br>
              <a:rPr lang="en-US" dirty="0"/>
            </a:br>
            <a:br>
              <a:rPr lang="en-US" dirty="0"/>
            </a:br>
            <a:endParaRPr lang="en-US" dirty="0"/>
          </a:p>
        </p:txBody>
      </p:sp>
      <p:pic>
        <p:nvPicPr>
          <p:cNvPr id="2054" name="Picture 6" descr="Payroll Time Attendance Stock Photos - Free &amp; Royalty-Free Stock Photos  from Dreamstime">
            <a:extLst>
              <a:ext uri="{FF2B5EF4-FFF2-40B4-BE49-F238E27FC236}">
                <a16:creationId xmlns:a16="http://schemas.microsoft.com/office/drawing/2014/main" id="{3D3E09BB-DC90-18A3-A8D5-8654B34E78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4097" y="7573874"/>
            <a:ext cx="3431145" cy="2286000"/>
          </a:xfrm>
          <a:prstGeom prst="round2DiagRect">
            <a:avLst>
              <a:gd name="adj1" fmla="val 50000"/>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6" name="Picture 8" descr="2,354 Payroll Management System Royalty-Free Images, Stock Photos &amp;  Pictures | Shutterstock">
            <a:extLst>
              <a:ext uri="{FF2B5EF4-FFF2-40B4-BE49-F238E27FC236}">
                <a16:creationId xmlns:a16="http://schemas.microsoft.com/office/drawing/2014/main" id="{090C6FB3-3A2F-D760-7738-D35C40FBEAD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b="8400"/>
          <a:stretch>
            <a:fillRect/>
          </a:stretch>
        </p:blipFill>
        <p:spPr bwMode="auto">
          <a:xfrm>
            <a:off x="8808767" y="7573874"/>
            <a:ext cx="3484972" cy="2286000"/>
          </a:xfrm>
          <a:prstGeom prst="round2DiagRect">
            <a:avLst>
              <a:gd name="adj1" fmla="val 0"/>
              <a:gd name="adj2" fmla="val 5000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8A7C2F41-A099-D57C-D007-8793871A98EF}"/>
              </a:ext>
            </a:extLst>
          </p:cNvPr>
          <p:cNvGrpSpPr/>
          <p:nvPr/>
        </p:nvGrpSpPr>
        <p:grpSpPr>
          <a:xfrm>
            <a:off x="1469683" y="1303328"/>
            <a:ext cx="11331916" cy="1124886"/>
            <a:chOff x="1469683" y="1303328"/>
            <a:chExt cx="11331916" cy="1124886"/>
          </a:xfrm>
        </p:grpSpPr>
        <p:sp>
          <p:nvSpPr>
            <p:cNvPr id="18" name="Freeform 7">
              <a:extLst>
                <a:ext uri="{FF2B5EF4-FFF2-40B4-BE49-F238E27FC236}">
                  <a16:creationId xmlns:a16="http://schemas.microsoft.com/office/drawing/2014/main" id="{CEA17546-8C0C-D47D-F717-4ED106B2507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cstate="print">
                <a:extLst>
                  <a:ext uri="{28A0092B-C50C-407E-A947-70E740481C1C}">
                    <a14:useLocalDpi xmlns:a14="http://schemas.microsoft.com/office/drawing/2010/main" val="0"/>
                  </a:ext>
                </a:extLst>
              </a:blip>
              <a:stretch>
                <a:fillRect/>
              </a:stretch>
            </a:blipFill>
          </p:spPr>
        </p:sp>
        <p:sp>
          <p:nvSpPr>
            <p:cNvPr id="19" name="TextBox 10">
              <a:extLst>
                <a:ext uri="{FF2B5EF4-FFF2-40B4-BE49-F238E27FC236}">
                  <a16:creationId xmlns:a16="http://schemas.microsoft.com/office/drawing/2014/main" id="{161B66B7-BEA8-D4CB-4CB4-53BEB09D724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0" name="Freeform 3">
              <a:extLst>
                <a:ext uri="{FF2B5EF4-FFF2-40B4-BE49-F238E27FC236}">
                  <a16:creationId xmlns:a16="http://schemas.microsoft.com/office/drawing/2014/main" id="{29774797-A871-47D9-190B-54307BE12702}"/>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1"/>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5" name="TextBox 5"/>
          <p:cNvSpPr txBox="1"/>
          <p:nvPr/>
        </p:nvSpPr>
        <p:spPr>
          <a:xfrm>
            <a:off x="2390340" y="2885632"/>
            <a:ext cx="107922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Technical Implementation</a:t>
            </a:r>
          </a:p>
        </p:txBody>
      </p:sp>
      <p:sp>
        <p:nvSpPr>
          <p:cNvPr id="6" name="TextBox 6"/>
          <p:cNvSpPr txBox="1"/>
          <p:nvPr/>
        </p:nvSpPr>
        <p:spPr>
          <a:xfrm>
            <a:off x="2420820" y="4143732"/>
            <a:ext cx="6386917" cy="6401753"/>
          </a:xfrm>
          <a:prstGeom prst="rect">
            <a:avLst/>
          </a:prstGeom>
        </p:spPr>
        <p:txBody>
          <a:bodyPr lIns="0" tIns="0" rIns="0" bIns="0" rtlCol="0" anchor="t">
            <a:spAutoFit/>
          </a:bodyPr>
          <a:lstStyle/>
          <a:p>
            <a:r>
              <a:rPr lang="en-US" sz="2400" dirty="0">
                <a:solidFill>
                  <a:srgbClr val="000000"/>
                </a:solidFill>
                <a:latin typeface="Sukar"/>
                <a:cs typeface="Sukar"/>
              </a:rPr>
              <a:t>The system is built as a console-based C++ application, prioritizing performance and modularity.</a:t>
            </a:r>
          </a:p>
          <a:p>
            <a:pPr marL="285750" indent="-285750">
              <a:buFont typeface="Arial" panose="020B0604020202020204" pitchFamily="34" charset="0"/>
              <a:buChar char="•"/>
            </a:pPr>
            <a:r>
              <a:rPr lang="en-US" sz="2400" dirty="0">
                <a:solidFill>
                  <a:srgbClr val="000000"/>
                </a:solidFill>
                <a:latin typeface="Sukar"/>
                <a:cs typeface="Sukar"/>
              </a:rPr>
              <a:t>Language: C++ (Double Linked List and File IO).</a:t>
            </a:r>
          </a:p>
          <a:p>
            <a:pPr marL="285750" indent="-285750">
              <a:buFont typeface="Arial" panose="020B0604020202020204" pitchFamily="34" charset="0"/>
              <a:buChar char="•"/>
            </a:pPr>
            <a:r>
              <a:rPr lang="en-US" sz="2400" dirty="0">
                <a:solidFill>
                  <a:srgbClr val="000000"/>
                </a:solidFill>
                <a:latin typeface="Sukar"/>
                <a:cs typeface="Sukar"/>
              </a:rPr>
              <a:t>Modules: Separate headers for Records, Attendance, and Tax Calculation.</a:t>
            </a:r>
          </a:p>
          <a:p>
            <a:pPr marL="285750" indent="-285750">
              <a:buFont typeface="Arial" panose="020B0604020202020204" pitchFamily="34" charset="0"/>
              <a:buChar char="•"/>
            </a:pPr>
            <a:r>
              <a:rPr lang="en-US" sz="2400" dirty="0">
                <a:solidFill>
                  <a:srgbClr val="000000"/>
                </a:solidFill>
                <a:latin typeface="Sukar"/>
                <a:cs typeface="Sukar"/>
              </a:rPr>
              <a:t>Persistence: CSV format for lightweight data storage and portability.</a:t>
            </a:r>
          </a:p>
          <a:p>
            <a:br>
              <a:rPr lang="en-US" sz="2800" dirty="0"/>
            </a:br>
            <a:endParaRPr lang="en-US" sz="2800" dirty="0"/>
          </a:p>
          <a:p>
            <a:br>
              <a:rPr lang="en-US" sz="2800" dirty="0"/>
            </a:br>
            <a:endParaRPr lang="en-US" sz="2800" dirty="0"/>
          </a:p>
          <a:p>
            <a:br>
              <a:rPr lang="en-US" sz="2800" dirty="0"/>
            </a:br>
            <a:endParaRPr lang="en-US" sz="2800" dirty="0"/>
          </a:p>
          <a:p>
            <a:br>
              <a:rPr lang="en-US" sz="2800" dirty="0"/>
            </a:br>
            <a:endParaRPr lang="en-US" sz="2800" dirty="0">
              <a:solidFill>
                <a:srgbClr val="000000"/>
              </a:solidFill>
              <a:latin typeface="Sukar"/>
              <a:ea typeface="Sukar"/>
              <a:cs typeface="Sukar"/>
              <a:sym typeface="Sukar"/>
            </a:endParaRPr>
          </a:p>
        </p:txBody>
      </p:sp>
      <p:sp>
        <p:nvSpPr>
          <p:cNvPr id="11" name="Freeform 11"/>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5122" name="Picture 2">
            <a:extLst>
              <a:ext uri="{FF2B5EF4-FFF2-40B4-BE49-F238E27FC236}">
                <a16:creationId xmlns:a16="http://schemas.microsoft.com/office/drawing/2014/main" id="{0A3736B9-50AA-02A9-2E64-C2ECC40166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71419" y="4381500"/>
            <a:ext cx="5286375" cy="36195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D5C9A438-8CF6-3117-6609-038D7D998FEF}"/>
              </a:ext>
            </a:extLst>
          </p:cNvPr>
          <p:cNvGrpSpPr/>
          <p:nvPr/>
        </p:nvGrpSpPr>
        <p:grpSpPr>
          <a:xfrm>
            <a:off x="1469683" y="1303328"/>
            <a:ext cx="11331916" cy="1124886"/>
            <a:chOff x="1469683" y="1303328"/>
            <a:chExt cx="11331916" cy="1124886"/>
          </a:xfrm>
        </p:grpSpPr>
        <p:sp>
          <p:nvSpPr>
            <p:cNvPr id="13" name="Freeform 7">
              <a:extLst>
                <a:ext uri="{FF2B5EF4-FFF2-40B4-BE49-F238E27FC236}">
                  <a16:creationId xmlns:a16="http://schemas.microsoft.com/office/drawing/2014/main" id="{CACD80C7-F585-BD99-E860-2C0C5DFBDB9C}"/>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cstate="print">
                <a:extLst>
                  <a:ext uri="{28A0092B-C50C-407E-A947-70E740481C1C}">
                    <a14:useLocalDpi xmlns:a14="http://schemas.microsoft.com/office/drawing/2010/main" val="0"/>
                  </a:ext>
                </a:extLst>
              </a:blip>
              <a:stretch>
                <a:fillRect/>
              </a:stretch>
            </a:blipFill>
          </p:spPr>
        </p:sp>
        <p:sp>
          <p:nvSpPr>
            <p:cNvPr id="14" name="TextBox 10">
              <a:extLst>
                <a:ext uri="{FF2B5EF4-FFF2-40B4-BE49-F238E27FC236}">
                  <a16:creationId xmlns:a16="http://schemas.microsoft.com/office/drawing/2014/main" id="{D70816A7-5BA2-4B11-504D-E817D660E749}"/>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48F69A8B-7AA6-607D-BF2E-FCA918877B9F}"/>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4" name="Freeform 4"/>
          <p:cNvSpPr/>
          <p:nvPr/>
        </p:nvSpPr>
        <p:spPr>
          <a:xfrm flipH="1" flipV="1">
            <a:off x="8157545" y="8689326"/>
            <a:ext cx="13978602" cy="3253202"/>
          </a:xfrm>
          <a:custGeom>
            <a:avLst/>
            <a:gdLst/>
            <a:ahLst/>
            <a:cxnLst/>
            <a:rect l="l" t="t" r="r" b="b"/>
            <a:pathLst>
              <a:path w="13978602" h="3253202">
                <a:moveTo>
                  <a:pt x="13978602" y="3253202"/>
                </a:moveTo>
                <a:lnTo>
                  <a:pt x="0" y="3253202"/>
                </a:lnTo>
                <a:lnTo>
                  <a:pt x="0" y="0"/>
                </a:lnTo>
                <a:lnTo>
                  <a:pt x="13978602" y="0"/>
                </a:lnTo>
                <a:lnTo>
                  <a:pt x="13978602"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9144000" y="2253294"/>
            <a:ext cx="9677400" cy="1333698"/>
          </a:xfrm>
          <a:prstGeom prst="rect">
            <a:avLst/>
          </a:prstGeom>
        </p:spPr>
        <p:txBody>
          <a:bodyPr wrap="square" lIns="0" tIns="0" rIns="0" bIns="0" rtlCol="0" anchor="t">
            <a:spAutoFit/>
          </a:bodyPr>
          <a:lstStyle/>
          <a:p>
            <a:pPr algn="l">
              <a:lnSpc>
                <a:spcPts val="10353"/>
              </a:lnSpc>
            </a:pPr>
            <a:r>
              <a:rPr lang="fr-CA" sz="7395" dirty="0">
                <a:solidFill>
                  <a:srgbClr val="00AAEB"/>
                </a:solidFill>
                <a:latin typeface="Lalezar"/>
                <a:ea typeface="Lalezar"/>
                <a:cs typeface="Lalezar"/>
                <a:sym typeface="Lalezar"/>
              </a:rPr>
              <a:t>D</a:t>
            </a:r>
            <a:r>
              <a:rPr lang="en-US" sz="7395" dirty="0" err="1">
                <a:solidFill>
                  <a:srgbClr val="00AAEB"/>
                </a:solidFill>
                <a:latin typeface="Lalezar"/>
                <a:ea typeface="Lalezar"/>
                <a:cs typeface="Lalezar"/>
                <a:sym typeface="Lalezar"/>
              </a:rPr>
              <a:t>ata</a:t>
            </a:r>
            <a:r>
              <a:rPr lang="en-US" sz="7395" dirty="0">
                <a:solidFill>
                  <a:srgbClr val="00AAEB"/>
                </a:solidFill>
                <a:latin typeface="Lalezar"/>
                <a:ea typeface="Lalezar"/>
                <a:cs typeface="Lalezar"/>
                <a:sym typeface="Lalezar"/>
              </a:rPr>
              <a:t> Structure &amp; Logic</a:t>
            </a:r>
          </a:p>
        </p:txBody>
      </p:sp>
      <p:sp>
        <p:nvSpPr>
          <p:cNvPr id="9" name="TextBox 9"/>
          <p:cNvSpPr txBox="1"/>
          <p:nvPr/>
        </p:nvSpPr>
        <p:spPr>
          <a:xfrm>
            <a:off x="9144000" y="3711167"/>
            <a:ext cx="6386917" cy="1477328"/>
          </a:xfrm>
          <a:prstGeom prst="rect">
            <a:avLst/>
          </a:prstGeom>
        </p:spPr>
        <p:txBody>
          <a:bodyPr lIns="0" tIns="0" rIns="0" bIns="0" rtlCol="0" anchor="t">
            <a:spAutoFit/>
          </a:bodyPr>
          <a:lstStyle/>
          <a:p>
            <a:r>
              <a:rPr lang="en-US" sz="4000" dirty="0">
                <a:solidFill>
                  <a:srgbClr val="002060"/>
                </a:solidFill>
                <a:latin typeface="Lalezar"/>
                <a:cs typeface="Lalezar"/>
              </a:rPr>
              <a:t>Doubly Linked List Logic</a:t>
            </a:r>
          </a:p>
          <a:p>
            <a:br>
              <a:rPr lang="en-US" sz="2800" dirty="0"/>
            </a:br>
            <a:r>
              <a:rPr lang="en-US" sz="2800" dirty="0">
                <a:solidFill>
                  <a:srgbClr val="000000"/>
                </a:solidFill>
                <a:latin typeface="Sukar"/>
                <a:ea typeface="Sukar"/>
                <a:cs typeface="Sukar"/>
                <a:sym typeface="Sukar"/>
              </a:rPr>
              <a:t> </a:t>
            </a:r>
          </a:p>
        </p:txBody>
      </p:sp>
      <p:sp>
        <p:nvSpPr>
          <p:cNvPr id="16" name="TextBox 15">
            <a:extLst>
              <a:ext uri="{FF2B5EF4-FFF2-40B4-BE49-F238E27FC236}">
                <a16:creationId xmlns:a16="http://schemas.microsoft.com/office/drawing/2014/main" id="{715F6D18-E0DA-3F35-5F0D-76FCA6DA6F36}"/>
              </a:ext>
            </a:extLst>
          </p:cNvPr>
          <p:cNvSpPr txBox="1"/>
          <p:nvPr/>
        </p:nvSpPr>
        <p:spPr>
          <a:xfrm>
            <a:off x="9110662" y="4762500"/>
            <a:ext cx="9090764" cy="4893647"/>
          </a:xfrm>
          <a:prstGeom prst="rect">
            <a:avLst/>
          </a:prstGeom>
          <a:noFill/>
        </p:spPr>
        <p:txBody>
          <a:bodyPr wrap="square" rtlCol="0">
            <a:spAutoFit/>
          </a:bodyPr>
          <a:lstStyle/>
          <a:p>
            <a:r>
              <a:rPr lang="en-US" sz="2400" b="1" dirty="0">
                <a:solidFill>
                  <a:srgbClr val="000000"/>
                </a:solidFill>
                <a:latin typeface="Sukar"/>
                <a:cs typeface="Sukar"/>
              </a:rPr>
              <a:t>We chose the Doubly Linked List for its flexibility in managing employee nodes:</a:t>
            </a:r>
          </a:p>
          <a:p>
            <a:r>
              <a:rPr lang="en-US" sz="2400" dirty="0">
                <a:solidFill>
                  <a:srgbClr val="000000"/>
                </a:solidFill>
                <a:latin typeface="Sukar"/>
                <a:cs typeface="Sukar"/>
              </a:rPr>
              <a:t>	Dynamic Memory:</a:t>
            </a:r>
          </a:p>
          <a:p>
            <a:r>
              <a:rPr lang="en-US" sz="2400" dirty="0">
                <a:solidFill>
                  <a:srgbClr val="000000"/>
                </a:solidFill>
                <a:latin typeface="Sukar"/>
                <a:cs typeface="Sukar"/>
              </a:rPr>
              <a:t>      Scales without fixed-size arrays. </a:t>
            </a:r>
          </a:p>
          <a:p>
            <a:endParaRPr lang="en-US" sz="2400" dirty="0">
              <a:solidFill>
                <a:srgbClr val="000000"/>
              </a:solidFill>
              <a:latin typeface="Sukar"/>
              <a:cs typeface="Sukar"/>
            </a:endParaRPr>
          </a:p>
          <a:p>
            <a:pPr lvl="1"/>
            <a:r>
              <a:rPr lang="en-US" sz="2400" dirty="0">
                <a:solidFill>
                  <a:srgbClr val="000000"/>
                </a:solidFill>
                <a:latin typeface="Sukar"/>
                <a:cs typeface="Sukar"/>
              </a:rPr>
              <a:t>	Bidirectional Traversal: </a:t>
            </a:r>
          </a:p>
          <a:p>
            <a:pPr lvl="1"/>
            <a:r>
              <a:rPr lang="en-US" sz="2400" dirty="0">
                <a:solidFill>
                  <a:srgbClr val="000000"/>
                </a:solidFill>
                <a:latin typeface="Sukar"/>
                <a:cs typeface="Sukar"/>
              </a:rPr>
              <a:t>Easy access to Next and Previous nodes.</a:t>
            </a:r>
          </a:p>
          <a:p>
            <a:pPr lvl="1"/>
            <a:endParaRPr lang="en-US" sz="2400" dirty="0">
              <a:solidFill>
                <a:srgbClr val="000000"/>
              </a:solidFill>
              <a:latin typeface="Sukar"/>
              <a:cs typeface="Sukar"/>
            </a:endParaRPr>
          </a:p>
          <a:p>
            <a:pPr lvl="1"/>
            <a:r>
              <a:rPr lang="en-US" sz="2400" dirty="0">
                <a:solidFill>
                  <a:srgbClr val="000000"/>
                </a:solidFill>
                <a:latin typeface="Sukar"/>
                <a:cs typeface="Sukar"/>
              </a:rPr>
              <a:t>	Efficiency: </a:t>
            </a:r>
          </a:p>
          <a:p>
            <a:pPr lvl="1"/>
            <a:r>
              <a:rPr lang="en-US" sz="2400" dirty="0">
                <a:solidFill>
                  <a:srgbClr val="000000"/>
                </a:solidFill>
                <a:latin typeface="Sukar"/>
                <a:cs typeface="Sukar"/>
              </a:rPr>
              <a:t>Constant time complexity for insertion and deletion of staff records.</a:t>
            </a:r>
          </a:p>
          <a:p>
            <a:br>
              <a:rPr lang="en-US" dirty="0"/>
            </a:br>
            <a:endParaRPr lang="en-US" dirty="0"/>
          </a:p>
          <a:p>
            <a:br>
              <a:rPr lang="en-US" dirty="0"/>
            </a:br>
            <a:endParaRPr lang="en-US" dirty="0"/>
          </a:p>
        </p:txBody>
      </p:sp>
      <p:sp>
        <p:nvSpPr>
          <p:cNvPr id="19" name="Rectangle 18">
            <a:extLst>
              <a:ext uri="{FF2B5EF4-FFF2-40B4-BE49-F238E27FC236}">
                <a16:creationId xmlns:a16="http://schemas.microsoft.com/office/drawing/2014/main" id="{D3840405-E0C4-6F13-5377-E51ED9E772FF}"/>
              </a:ext>
            </a:extLst>
          </p:cNvPr>
          <p:cNvSpPr/>
          <p:nvPr/>
        </p:nvSpPr>
        <p:spPr>
          <a:xfrm>
            <a:off x="8869680" y="5609987"/>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sp>
        <p:nvSpPr>
          <p:cNvPr id="20" name="Rectangle 19">
            <a:extLst>
              <a:ext uri="{FF2B5EF4-FFF2-40B4-BE49-F238E27FC236}">
                <a16:creationId xmlns:a16="http://schemas.microsoft.com/office/drawing/2014/main" id="{0664107E-2D9B-CDC2-3226-CD6C12527651}"/>
              </a:ext>
            </a:extLst>
          </p:cNvPr>
          <p:cNvSpPr/>
          <p:nvPr/>
        </p:nvSpPr>
        <p:spPr>
          <a:xfrm>
            <a:off x="8869680" y="6725722"/>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02</a:t>
            </a:r>
          </a:p>
        </p:txBody>
      </p:sp>
      <p:sp>
        <p:nvSpPr>
          <p:cNvPr id="21" name="Rectangle 20">
            <a:extLst>
              <a:ext uri="{FF2B5EF4-FFF2-40B4-BE49-F238E27FC236}">
                <a16:creationId xmlns:a16="http://schemas.microsoft.com/office/drawing/2014/main" id="{2C6D01FC-91AD-7242-CA94-56FF4ACC001B}"/>
              </a:ext>
            </a:extLst>
          </p:cNvPr>
          <p:cNvSpPr/>
          <p:nvPr/>
        </p:nvSpPr>
        <p:spPr>
          <a:xfrm>
            <a:off x="8869680" y="7733002"/>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pic>
        <p:nvPicPr>
          <p:cNvPr id="23" name="Picture 22">
            <a:extLst>
              <a:ext uri="{FF2B5EF4-FFF2-40B4-BE49-F238E27FC236}">
                <a16:creationId xmlns:a16="http://schemas.microsoft.com/office/drawing/2014/main" id="{3F2F6A9E-20AA-1BEE-862B-77C06F99ED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12944" y="2708512"/>
            <a:ext cx="3219729" cy="7056732"/>
          </a:xfrm>
          <a:prstGeom prst="rect">
            <a:avLst/>
          </a:prstGeom>
        </p:spPr>
      </p:pic>
      <p:pic>
        <p:nvPicPr>
          <p:cNvPr id="25" name="Picture 24">
            <a:extLst>
              <a:ext uri="{FF2B5EF4-FFF2-40B4-BE49-F238E27FC236}">
                <a16:creationId xmlns:a16="http://schemas.microsoft.com/office/drawing/2014/main" id="{6114E5A7-09E4-2291-B0DF-6F70B2630D4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87916" y="2708512"/>
            <a:ext cx="2324301" cy="7228196"/>
          </a:xfrm>
          <a:prstGeom prst="rect">
            <a:avLst/>
          </a:prstGeom>
        </p:spPr>
      </p:pic>
      <p:grpSp>
        <p:nvGrpSpPr>
          <p:cNvPr id="26" name="Group 25">
            <a:extLst>
              <a:ext uri="{FF2B5EF4-FFF2-40B4-BE49-F238E27FC236}">
                <a16:creationId xmlns:a16="http://schemas.microsoft.com/office/drawing/2014/main" id="{E3B15283-9F1D-FA00-1EB6-75200A71FD98}"/>
              </a:ext>
            </a:extLst>
          </p:cNvPr>
          <p:cNvGrpSpPr/>
          <p:nvPr/>
        </p:nvGrpSpPr>
        <p:grpSpPr>
          <a:xfrm>
            <a:off x="1469683" y="1303328"/>
            <a:ext cx="11331916" cy="1124886"/>
            <a:chOff x="1469683" y="1303328"/>
            <a:chExt cx="11331916" cy="1124886"/>
          </a:xfrm>
        </p:grpSpPr>
        <p:sp>
          <p:nvSpPr>
            <p:cNvPr id="27" name="Freeform 7">
              <a:extLst>
                <a:ext uri="{FF2B5EF4-FFF2-40B4-BE49-F238E27FC236}">
                  <a16:creationId xmlns:a16="http://schemas.microsoft.com/office/drawing/2014/main" id="{AFE74100-38F5-8D0F-1D13-5AEC51DDFDF0}"/>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cstate="print">
                <a:extLst>
                  <a:ext uri="{28A0092B-C50C-407E-A947-70E740481C1C}">
                    <a14:useLocalDpi xmlns:a14="http://schemas.microsoft.com/office/drawing/2010/main" val="0"/>
                  </a:ext>
                </a:extLst>
              </a:blip>
              <a:stretch>
                <a:fillRect/>
              </a:stretch>
            </a:blipFill>
          </p:spPr>
        </p:sp>
        <p:sp>
          <p:nvSpPr>
            <p:cNvPr id="28" name="TextBox 10">
              <a:extLst>
                <a:ext uri="{FF2B5EF4-FFF2-40B4-BE49-F238E27FC236}">
                  <a16:creationId xmlns:a16="http://schemas.microsoft.com/office/drawing/2014/main" id="{2ED527E0-1A5E-D1A8-BDB2-48863014F42E}"/>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9" name="Freeform 3">
              <a:extLst>
                <a:ext uri="{FF2B5EF4-FFF2-40B4-BE49-F238E27FC236}">
                  <a16:creationId xmlns:a16="http://schemas.microsoft.com/office/drawing/2014/main" id="{090E50E0-CD79-222B-27C0-0C78AC1E922C}"/>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C5FD5-0D69-A864-CE54-4E83D223D8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197D1DA-46E3-3C2A-F814-F0600387A316}"/>
              </a:ext>
            </a:extLst>
          </p:cNvPr>
          <p:cNvSpPr/>
          <p:nvPr/>
        </p:nvSpPr>
        <p:spPr>
          <a:xfrm>
            <a:off x="-38394" y="0"/>
            <a:ext cx="18326394"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6" name="Freeform 6">
            <a:extLst>
              <a:ext uri="{FF2B5EF4-FFF2-40B4-BE49-F238E27FC236}">
                <a16:creationId xmlns:a16="http://schemas.microsoft.com/office/drawing/2014/main" id="{AC5F540B-635F-49BF-D7FB-E45844094903}"/>
              </a:ext>
            </a:extLst>
          </p:cNvPr>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42ACEC51-C0DC-E963-6E0C-F89811F3B276}"/>
              </a:ext>
            </a:extLst>
          </p:cNvPr>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File IO </a:t>
            </a:r>
          </a:p>
        </p:txBody>
      </p:sp>
      <p:grpSp>
        <p:nvGrpSpPr>
          <p:cNvPr id="12" name="Group 11">
            <a:extLst>
              <a:ext uri="{FF2B5EF4-FFF2-40B4-BE49-F238E27FC236}">
                <a16:creationId xmlns:a16="http://schemas.microsoft.com/office/drawing/2014/main" id="{B1778210-E973-BCED-CE2B-A6BD0D9EB4FE}"/>
              </a:ext>
            </a:extLst>
          </p:cNvPr>
          <p:cNvGrpSpPr/>
          <p:nvPr/>
        </p:nvGrpSpPr>
        <p:grpSpPr>
          <a:xfrm>
            <a:off x="2632642" y="5733159"/>
            <a:ext cx="6472964" cy="2711312"/>
            <a:chOff x="1539989" y="4854438"/>
            <a:chExt cx="7255883" cy="2268876"/>
          </a:xfrm>
        </p:grpSpPr>
        <p:pic>
          <p:nvPicPr>
            <p:cNvPr id="2050" name="Picture 2">
              <a:extLst>
                <a:ext uri="{FF2B5EF4-FFF2-40B4-BE49-F238E27FC236}">
                  <a16:creationId xmlns:a16="http://schemas.microsoft.com/office/drawing/2014/main" id="{CC8B08C9-54E1-C9DC-F315-3728B95B3F55}"/>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1539989" y="4854438"/>
              <a:ext cx="7255883" cy="2220725"/>
            </a:xfrm>
            <a:prstGeom prst="rect">
              <a:avLst/>
            </a:prstGeom>
            <a:noFill/>
            <a:ln w="9525">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5DCB142A-BB87-CD6A-5590-24D23B43EC06}"/>
                </a:ext>
              </a:extLst>
            </p:cNvPr>
            <p:cNvSpPr txBox="1"/>
            <p:nvPr/>
          </p:nvSpPr>
          <p:spPr>
            <a:xfrm>
              <a:off x="1752600" y="4882602"/>
              <a:ext cx="6915477" cy="2240712"/>
            </a:xfrm>
            <a:prstGeom prst="rect">
              <a:avLst/>
            </a:prstGeom>
            <a:noFill/>
          </p:spPr>
          <p:txBody>
            <a:bodyPr wrap="square" rtlCol="0">
              <a:spAutoFit/>
            </a:bodyPr>
            <a:lstStyle/>
            <a:p>
              <a:r>
                <a:rPr lang="en-US" sz="2400" dirty="0">
                  <a:solidFill>
                    <a:srgbClr val="000000"/>
                  </a:solidFill>
                  <a:latin typeface="Sukar"/>
                  <a:cs typeface="Sukar"/>
                </a:rPr>
                <a:t>Reading Files</a:t>
              </a:r>
            </a:p>
            <a:p>
              <a:r>
                <a:rPr lang="en-US" sz="2400" dirty="0">
                  <a:solidFill>
                    <a:srgbClr val="000000"/>
                  </a:solidFill>
                  <a:latin typeface="Sukar"/>
                  <a:cs typeface="Sukar"/>
                </a:rPr>
                <a:t>Employee and attendance data are loaded from CSV files into linked lists during program initialization. The system automatically reads existing records at startup, restoring all employee profiles, attendance logs, and payroll data into memory for immediate use</a:t>
              </a:r>
              <a:r>
                <a:rPr lang="en-US" dirty="0"/>
                <a:t>.</a:t>
              </a:r>
            </a:p>
          </p:txBody>
        </p:sp>
      </p:grpSp>
      <p:grpSp>
        <p:nvGrpSpPr>
          <p:cNvPr id="13" name="Group 12">
            <a:extLst>
              <a:ext uri="{FF2B5EF4-FFF2-40B4-BE49-F238E27FC236}">
                <a16:creationId xmlns:a16="http://schemas.microsoft.com/office/drawing/2014/main" id="{23F49F2F-A7A1-6C64-D165-273BA11982C0}"/>
              </a:ext>
            </a:extLst>
          </p:cNvPr>
          <p:cNvGrpSpPr/>
          <p:nvPr/>
        </p:nvGrpSpPr>
        <p:grpSpPr>
          <a:xfrm>
            <a:off x="9681436" y="5689350"/>
            <a:ext cx="6625364" cy="2721465"/>
            <a:chOff x="9132499" y="4693201"/>
            <a:chExt cx="6717102" cy="2202417"/>
          </a:xfrm>
        </p:grpSpPr>
        <p:pic>
          <p:nvPicPr>
            <p:cNvPr id="2052" name="Picture 4">
              <a:extLst>
                <a:ext uri="{FF2B5EF4-FFF2-40B4-BE49-F238E27FC236}">
                  <a16:creationId xmlns:a16="http://schemas.microsoft.com/office/drawing/2014/main" id="{42306383-1E8E-C018-80FC-40CC138A27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32499" y="4693201"/>
              <a:ext cx="6717102" cy="2175266"/>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EDFBAA9-072C-F396-3A10-53E6B2A87995}"/>
                </a:ext>
              </a:extLst>
            </p:cNvPr>
            <p:cNvSpPr txBox="1"/>
            <p:nvPr/>
          </p:nvSpPr>
          <p:spPr>
            <a:xfrm>
              <a:off x="9417547" y="4728655"/>
              <a:ext cx="5821726" cy="2166963"/>
            </a:xfrm>
            <a:prstGeom prst="rect">
              <a:avLst/>
            </a:prstGeom>
            <a:noFill/>
          </p:spPr>
          <p:txBody>
            <a:bodyPr wrap="square" rtlCol="0">
              <a:spAutoFit/>
            </a:bodyPr>
            <a:lstStyle/>
            <a:p>
              <a:r>
                <a:rPr lang="en-US" sz="2400" dirty="0">
                  <a:solidFill>
                    <a:srgbClr val="000000"/>
                  </a:solidFill>
                  <a:latin typeface="Sukar"/>
                  <a:cs typeface="Sukar"/>
                </a:rPr>
                <a:t>Writing Files</a:t>
              </a:r>
            </a:p>
            <a:p>
              <a:r>
                <a:rPr lang="en-US" sz="2400" dirty="0">
                  <a:solidFill>
                    <a:srgbClr val="000000"/>
                  </a:solidFill>
                  <a:latin typeface="Sukar"/>
                  <a:cs typeface="Sukar"/>
                </a:rPr>
                <a:t>Updated records are saved back to their respective CSV files after any modifications are made. This ensures full data persistence across sessions — all changes to employee info, attendance, and payroll calculations are retained even after the program closes.</a:t>
              </a:r>
            </a:p>
          </p:txBody>
        </p:sp>
      </p:grpSp>
      <p:sp>
        <p:nvSpPr>
          <p:cNvPr id="4" name="Rectangle 1">
            <a:extLst>
              <a:ext uri="{FF2B5EF4-FFF2-40B4-BE49-F238E27FC236}">
                <a16:creationId xmlns:a16="http://schemas.microsoft.com/office/drawing/2014/main" id="{6D2CCD33-A160-1759-C81C-A5191964627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reeform 2">
            <a:extLst>
              <a:ext uri="{FF2B5EF4-FFF2-40B4-BE49-F238E27FC236}">
                <a16:creationId xmlns:a16="http://schemas.microsoft.com/office/drawing/2014/main" id="{EFDAD78E-D3FD-7C4C-F486-5BCFF443B1C5}"/>
              </a:ext>
            </a:extLst>
          </p:cNvPr>
          <p:cNvSpPr/>
          <p:nvPr/>
        </p:nvSpPr>
        <p:spPr>
          <a:xfrm>
            <a:off x="1189947" y="4386746"/>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Freeform 3">
            <a:extLst>
              <a:ext uri="{FF2B5EF4-FFF2-40B4-BE49-F238E27FC236}">
                <a16:creationId xmlns:a16="http://schemas.microsoft.com/office/drawing/2014/main" id="{E0E62FCD-EFBE-3F40-7082-B4F1A9FA1BF4}"/>
              </a:ext>
            </a:extLst>
          </p:cNvPr>
          <p:cNvSpPr/>
          <p:nvPr/>
        </p:nvSpPr>
        <p:spPr>
          <a:xfrm flipH="1" flipV="1">
            <a:off x="15243138" y="7353251"/>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8">
              <a:extLst>
                <a:ext uri="{96DAC541-7B7A-43D3-8B79-37D633B846F1}">
                  <asvg:svgBlip xmlns:asvg="http://schemas.microsoft.com/office/drawing/2016/SVG/main" r:embed="rId10"/>
                </a:ext>
              </a:extLst>
            </a:blip>
            <a:stretch>
              <a:fillRect/>
            </a:stretch>
          </a:blipFill>
        </p:spPr>
      </p:sp>
      <p:sp>
        <p:nvSpPr>
          <p:cNvPr id="14" name="Freeform 5">
            <a:extLst>
              <a:ext uri="{FF2B5EF4-FFF2-40B4-BE49-F238E27FC236}">
                <a16:creationId xmlns:a16="http://schemas.microsoft.com/office/drawing/2014/main" id="{DA9D8504-3145-CAC6-164C-528A2A538A02}"/>
              </a:ext>
            </a:extLst>
          </p:cNvPr>
          <p:cNvSpPr/>
          <p:nvPr/>
        </p:nvSpPr>
        <p:spPr>
          <a:xfrm>
            <a:off x="16711594" y="4386746"/>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7" name="Freeform 5">
            <a:extLst>
              <a:ext uri="{FF2B5EF4-FFF2-40B4-BE49-F238E27FC236}">
                <a16:creationId xmlns:a16="http://schemas.microsoft.com/office/drawing/2014/main" id="{229D7D4F-0901-E154-8FB3-9CDBCBB2B0A0}"/>
              </a:ext>
            </a:extLst>
          </p:cNvPr>
          <p:cNvSpPr/>
          <p:nvPr/>
        </p:nvSpPr>
        <p:spPr>
          <a:xfrm>
            <a:off x="1603320" y="564552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1">
              <a:extLst>
                <a:ext uri="{96DAC541-7B7A-43D3-8B79-37D633B846F1}">
                  <asvg:svgBlip xmlns:asvg="http://schemas.microsoft.com/office/drawing/2016/SVG/main" r:embed="rId13"/>
                </a:ext>
              </a:extLst>
            </a:blip>
            <a:stretch>
              <a:fillRect/>
            </a:stretch>
          </a:blipFill>
        </p:spPr>
      </p:sp>
      <p:grpSp>
        <p:nvGrpSpPr>
          <p:cNvPr id="18" name="Group 17">
            <a:extLst>
              <a:ext uri="{FF2B5EF4-FFF2-40B4-BE49-F238E27FC236}">
                <a16:creationId xmlns:a16="http://schemas.microsoft.com/office/drawing/2014/main" id="{0981F82C-5C66-7E0B-89CE-9FD1DAB94D6C}"/>
              </a:ext>
            </a:extLst>
          </p:cNvPr>
          <p:cNvGrpSpPr/>
          <p:nvPr/>
        </p:nvGrpSpPr>
        <p:grpSpPr>
          <a:xfrm>
            <a:off x="1469683" y="1303328"/>
            <a:ext cx="11331916" cy="1124886"/>
            <a:chOff x="1469683" y="1303328"/>
            <a:chExt cx="11331916" cy="1124886"/>
          </a:xfrm>
        </p:grpSpPr>
        <p:sp>
          <p:nvSpPr>
            <p:cNvPr id="19" name="Freeform 7">
              <a:extLst>
                <a:ext uri="{FF2B5EF4-FFF2-40B4-BE49-F238E27FC236}">
                  <a16:creationId xmlns:a16="http://schemas.microsoft.com/office/drawing/2014/main" id="{08536242-80F1-3FAB-C464-E342091BA04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4" cstate="print">
                <a:extLst>
                  <a:ext uri="{28A0092B-C50C-407E-A947-70E740481C1C}">
                    <a14:useLocalDpi xmlns:a14="http://schemas.microsoft.com/office/drawing/2010/main" val="0"/>
                  </a:ext>
                </a:extLst>
              </a:blip>
              <a:stretch>
                <a:fillRect/>
              </a:stretch>
            </a:blipFill>
          </p:spPr>
        </p:sp>
        <p:sp>
          <p:nvSpPr>
            <p:cNvPr id="20" name="TextBox 10">
              <a:extLst>
                <a:ext uri="{FF2B5EF4-FFF2-40B4-BE49-F238E27FC236}">
                  <a16:creationId xmlns:a16="http://schemas.microsoft.com/office/drawing/2014/main" id="{F7D6FE74-0780-0E69-312C-6BD20F5653F8}"/>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1" name="Freeform 3">
              <a:extLst>
                <a:ext uri="{FF2B5EF4-FFF2-40B4-BE49-F238E27FC236}">
                  <a16:creationId xmlns:a16="http://schemas.microsoft.com/office/drawing/2014/main" id="{3266EA2B-3271-830B-6E38-5E424138D632}"/>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5"/>
              <a:stretch>
                <a:fillRect/>
              </a:stretch>
            </a:blipFill>
          </p:spPr>
        </p:sp>
      </p:grpSp>
    </p:spTree>
    <p:extLst>
      <p:ext uri="{BB962C8B-B14F-4D97-AF65-F5344CB8AC3E}">
        <p14:creationId xmlns:p14="http://schemas.microsoft.com/office/powerpoint/2010/main" val="4246090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 y="30212"/>
            <a:ext cx="1831848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8518"/>
            </a:stretch>
          </a:blipFill>
        </p:spPr>
      </p:sp>
      <p:sp>
        <p:nvSpPr>
          <p:cNvPr id="3" name="Freeform 3"/>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2209800" y="3291302"/>
            <a:ext cx="7620000" cy="919482"/>
          </a:xfrm>
          <a:prstGeom prst="rect">
            <a:avLst/>
          </a:prstGeom>
        </p:spPr>
        <p:txBody>
          <a:bodyPr wrap="square" lIns="0" tIns="0" rIns="0" bIns="0" rtlCol="0" anchor="t">
            <a:spAutoFit/>
          </a:bodyPr>
          <a:lstStyle/>
          <a:p>
            <a:pPr algn="l">
              <a:lnSpc>
                <a:spcPts val="6649"/>
              </a:lnSpc>
            </a:pPr>
            <a:r>
              <a:rPr lang="fr-CA" sz="7400" dirty="0">
                <a:solidFill>
                  <a:srgbClr val="00AAEB"/>
                </a:solidFill>
                <a:latin typeface="Lalezar"/>
                <a:ea typeface="Lalezar"/>
                <a:cs typeface="Lalezar"/>
                <a:sym typeface="Lalezar"/>
              </a:rPr>
              <a:t>S</a:t>
            </a:r>
            <a:r>
              <a:rPr lang="en-US" sz="7400" dirty="0" err="1">
                <a:solidFill>
                  <a:srgbClr val="00AAEB"/>
                </a:solidFill>
                <a:latin typeface="Lalezar"/>
                <a:ea typeface="Lalezar"/>
                <a:cs typeface="Lalezar"/>
                <a:sym typeface="Lalezar"/>
              </a:rPr>
              <a:t>ystem</a:t>
            </a:r>
            <a:r>
              <a:rPr lang="en-US" sz="7400" dirty="0">
                <a:solidFill>
                  <a:srgbClr val="00AAEB"/>
                </a:solidFill>
                <a:latin typeface="Lalezar"/>
                <a:ea typeface="Lalezar"/>
                <a:cs typeface="Lalezar"/>
                <a:sym typeface="Lalezar"/>
              </a:rPr>
              <a:t> Result</a:t>
            </a:r>
          </a:p>
        </p:txBody>
      </p:sp>
      <p:grpSp>
        <p:nvGrpSpPr>
          <p:cNvPr id="15" name="Group 14">
            <a:extLst>
              <a:ext uri="{FF2B5EF4-FFF2-40B4-BE49-F238E27FC236}">
                <a16:creationId xmlns:a16="http://schemas.microsoft.com/office/drawing/2014/main" id="{A03548AE-1F17-4481-E8F8-AC2AD83EB1D7}"/>
              </a:ext>
            </a:extLst>
          </p:cNvPr>
          <p:cNvGrpSpPr/>
          <p:nvPr/>
        </p:nvGrpSpPr>
        <p:grpSpPr>
          <a:xfrm>
            <a:off x="1469683" y="1303328"/>
            <a:ext cx="11331916" cy="1124886"/>
            <a:chOff x="1469683" y="1303328"/>
            <a:chExt cx="11331916" cy="1124886"/>
          </a:xfrm>
        </p:grpSpPr>
        <p:sp>
          <p:nvSpPr>
            <p:cNvPr id="16" name="Freeform 7">
              <a:extLst>
                <a:ext uri="{FF2B5EF4-FFF2-40B4-BE49-F238E27FC236}">
                  <a16:creationId xmlns:a16="http://schemas.microsoft.com/office/drawing/2014/main" id="{BC569F2E-B763-B56F-0B3F-E0D5B21F5321}"/>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17" name="TextBox 10">
              <a:extLst>
                <a:ext uri="{FF2B5EF4-FFF2-40B4-BE49-F238E27FC236}">
                  <a16:creationId xmlns:a16="http://schemas.microsoft.com/office/drawing/2014/main" id="{068F136A-3CFD-AB89-D379-99B3D3BAA3A8}"/>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8" name="Freeform 3">
              <a:extLst>
                <a:ext uri="{FF2B5EF4-FFF2-40B4-BE49-F238E27FC236}">
                  <a16:creationId xmlns:a16="http://schemas.microsoft.com/office/drawing/2014/main" id="{D0B1D3FF-2CC8-1895-F656-45192AAC36D7}"/>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
        <p:nvSpPr>
          <p:cNvPr id="19" name="TextBox 18">
            <a:extLst>
              <a:ext uri="{FF2B5EF4-FFF2-40B4-BE49-F238E27FC236}">
                <a16:creationId xmlns:a16="http://schemas.microsoft.com/office/drawing/2014/main" id="{A4F07700-F2BB-FE9F-4C86-AD6CE7F3E98C}"/>
              </a:ext>
            </a:extLst>
          </p:cNvPr>
          <p:cNvSpPr txBox="1"/>
          <p:nvPr/>
        </p:nvSpPr>
        <p:spPr>
          <a:xfrm>
            <a:off x="1469683" y="4442758"/>
            <a:ext cx="4067139" cy="1138773"/>
          </a:xfrm>
          <a:prstGeom prst="rect">
            <a:avLst/>
          </a:prstGeom>
          <a:noFill/>
        </p:spPr>
        <p:txBody>
          <a:bodyPr wrap="none" rtlCol="0">
            <a:spAutoFit/>
          </a:bodyPr>
          <a:lstStyle/>
          <a:p>
            <a:r>
              <a:rPr lang="en-US" sz="3200" dirty="0">
                <a:solidFill>
                  <a:schemeClr val="accent1">
                    <a:lumMod val="50000"/>
                  </a:schemeClr>
                </a:solidFill>
                <a:latin typeface="Lalezar"/>
                <a:cs typeface="Lalezar"/>
              </a:rPr>
              <a:t>Processing Algorithms</a:t>
            </a:r>
          </a:p>
          <a:p>
            <a:br>
              <a:rPr lang="en-US" dirty="0"/>
            </a:br>
            <a:endParaRPr lang="en-US" dirty="0"/>
          </a:p>
        </p:txBody>
      </p:sp>
      <p:grpSp>
        <p:nvGrpSpPr>
          <p:cNvPr id="23" name="Group 22">
            <a:extLst>
              <a:ext uri="{FF2B5EF4-FFF2-40B4-BE49-F238E27FC236}">
                <a16:creationId xmlns:a16="http://schemas.microsoft.com/office/drawing/2014/main" id="{F55ECB9D-97E5-E475-8066-38059CB98CDA}"/>
              </a:ext>
            </a:extLst>
          </p:cNvPr>
          <p:cNvGrpSpPr/>
          <p:nvPr/>
        </p:nvGrpSpPr>
        <p:grpSpPr>
          <a:xfrm>
            <a:off x="6561526" y="4869064"/>
            <a:ext cx="3631099" cy="5282467"/>
            <a:chOff x="2457450" y="4989082"/>
            <a:chExt cx="3631099" cy="5282467"/>
          </a:xfrm>
        </p:grpSpPr>
        <p:pic>
          <p:nvPicPr>
            <p:cNvPr id="8194" name="Picture 2">
              <a:extLst>
                <a:ext uri="{FF2B5EF4-FFF2-40B4-BE49-F238E27FC236}">
                  <a16:creationId xmlns:a16="http://schemas.microsoft.com/office/drawing/2014/main" id="{0353A14E-5D57-1592-3D83-B1F6CEEB107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7450" y="4989082"/>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001CD628-5E4D-9B59-F105-92B059B6A2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7450" y="6743700"/>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16D406DD-AA9A-21CD-E5A6-59F4D929970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57450" y="8395061"/>
              <a:ext cx="3562350" cy="1352550"/>
            </a:xfrm>
            <a:prstGeom prst="rect">
              <a:avLst/>
            </a:prstGeom>
            <a:noFill/>
            <a:ln>
              <a:solidFill>
                <a:schemeClr val="tx1"/>
              </a:solidFill>
              <a:prstDash val="lgDash"/>
            </a:ln>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BA4B60D-8753-716E-B1D5-20063BE20F69}"/>
                </a:ext>
              </a:extLst>
            </p:cNvPr>
            <p:cNvSpPr txBox="1"/>
            <p:nvPr/>
          </p:nvSpPr>
          <p:spPr>
            <a:xfrm>
              <a:off x="2747348" y="4989374"/>
              <a:ext cx="2815252" cy="1754326"/>
            </a:xfrm>
            <a:prstGeom prst="rect">
              <a:avLst/>
            </a:prstGeom>
            <a:noFill/>
          </p:spPr>
          <p:txBody>
            <a:bodyPr wrap="square" rtlCol="0">
              <a:spAutoFit/>
            </a:bodyPr>
            <a:lstStyle/>
            <a:p>
              <a:r>
                <a:rPr lang="en-US" b="1" dirty="0"/>
                <a:t>Linear Search</a:t>
              </a:r>
              <a:endParaRPr lang="en-US" dirty="0"/>
            </a:p>
            <a:p>
              <a:r>
                <a:rPr lang="en-US" dirty="0"/>
                <a:t>Traverses the list from head to tail to match target IDs for record retrieval.</a:t>
              </a:r>
            </a:p>
            <a:p>
              <a:br>
                <a:rPr lang="en-US" dirty="0"/>
              </a:br>
              <a:endParaRPr lang="en-US" dirty="0"/>
            </a:p>
          </p:txBody>
        </p:sp>
        <p:sp>
          <p:nvSpPr>
            <p:cNvPr id="21" name="TextBox 20">
              <a:extLst>
                <a:ext uri="{FF2B5EF4-FFF2-40B4-BE49-F238E27FC236}">
                  <a16:creationId xmlns:a16="http://schemas.microsoft.com/office/drawing/2014/main" id="{1D3E5F65-B2C7-62B7-8FC5-81FAA11EB4A1}"/>
                </a:ext>
              </a:extLst>
            </p:cNvPr>
            <p:cNvSpPr txBox="1"/>
            <p:nvPr/>
          </p:nvSpPr>
          <p:spPr>
            <a:xfrm>
              <a:off x="2678599" y="6762897"/>
              <a:ext cx="3409950" cy="1754326"/>
            </a:xfrm>
            <a:prstGeom prst="rect">
              <a:avLst/>
            </a:prstGeom>
            <a:noFill/>
          </p:spPr>
          <p:txBody>
            <a:bodyPr wrap="square" rtlCol="0">
              <a:spAutoFit/>
            </a:bodyPr>
            <a:lstStyle/>
            <a:p>
              <a:r>
                <a:rPr lang="en-US" b="1" dirty="0"/>
                <a:t>Bubble Sort</a:t>
              </a:r>
              <a:endParaRPr lang="en-US" dirty="0"/>
            </a:p>
            <a:p>
              <a:r>
                <a:rPr lang="en-US" dirty="0"/>
                <a:t>Organizes attendance data in Ascending or Descending order for performance reports.</a:t>
              </a:r>
            </a:p>
            <a:p>
              <a:br>
                <a:rPr lang="en-US" dirty="0"/>
              </a:br>
              <a:endParaRPr lang="en-US" dirty="0"/>
            </a:p>
          </p:txBody>
        </p:sp>
        <p:sp>
          <p:nvSpPr>
            <p:cNvPr id="22" name="TextBox 21">
              <a:extLst>
                <a:ext uri="{FF2B5EF4-FFF2-40B4-BE49-F238E27FC236}">
                  <a16:creationId xmlns:a16="http://schemas.microsoft.com/office/drawing/2014/main" id="{B2845856-EE84-6D3E-6DFE-DCC0A247E551}"/>
                </a:ext>
              </a:extLst>
            </p:cNvPr>
            <p:cNvSpPr txBox="1"/>
            <p:nvPr/>
          </p:nvSpPr>
          <p:spPr>
            <a:xfrm>
              <a:off x="2747348" y="8517223"/>
              <a:ext cx="3272452" cy="1754326"/>
            </a:xfrm>
            <a:prstGeom prst="rect">
              <a:avLst/>
            </a:prstGeom>
            <a:noFill/>
          </p:spPr>
          <p:txBody>
            <a:bodyPr wrap="square" rtlCol="0">
              <a:spAutoFit/>
            </a:bodyPr>
            <a:lstStyle/>
            <a:p>
              <a:r>
                <a:rPr lang="en-US" b="1" dirty="0"/>
                <a:t>File Handling</a:t>
              </a:r>
              <a:endParaRPr lang="en-US" dirty="0"/>
            </a:p>
            <a:p>
              <a:r>
                <a:rPr lang="en-US" dirty="0"/>
                <a:t>Reads from employee_list.csv and writes back updated payroll information.</a:t>
              </a:r>
            </a:p>
            <a:p>
              <a:br>
                <a:rPr lang="en-US" dirty="0"/>
              </a:br>
              <a:endParaRPr lang="en-US" dirty="0"/>
            </a:p>
          </p:txBody>
        </p:sp>
      </p:grpSp>
      <p:pic>
        <p:nvPicPr>
          <p:cNvPr id="8200" name="Picture 8" descr="Top 10 Benefits of Payroll Automation for Your Business - Articles -  AutomationEdge Community Forum - Robotic Process Automation &amp; IT Automation">
            <a:extLst>
              <a:ext uri="{FF2B5EF4-FFF2-40B4-BE49-F238E27FC236}">
                <a16:creationId xmlns:a16="http://schemas.microsoft.com/office/drawing/2014/main" id="{E3017670-A61F-7D93-96A3-F382AF4EA3C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882003" y="2265442"/>
            <a:ext cx="5703974" cy="2971202"/>
          </a:xfrm>
          <a:prstGeom prst="rect">
            <a:avLst/>
          </a:prstGeom>
          <a:ln w="228600" cap="sq" cmpd="thickThin">
            <a:solidFill>
              <a:srgbClr val="000000"/>
            </a:solidFill>
            <a:prstDash val="solid"/>
            <a:miter lim="800000"/>
          </a:ln>
          <a:effectLst>
            <a:innerShdw blurRad="76200">
              <a:srgbClr val="000000"/>
            </a:innerShdw>
          </a:effectLst>
        </p:spPr>
      </p:pic>
      <p:sp>
        <p:nvSpPr>
          <p:cNvPr id="4" name="Freeform 5">
            <a:extLst>
              <a:ext uri="{FF2B5EF4-FFF2-40B4-BE49-F238E27FC236}">
                <a16:creationId xmlns:a16="http://schemas.microsoft.com/office/drawing/2014/main" id="{022F2B8F-9292-E865-25FF-27BD4439A0BD}"/>
              </a:ext>
            </a:extLst>
          </p:cNvPr>
          <p:cNvSpPr/>
          <p:nvPr/>
        </p:nvSpPr>
        <p:spPr>
          <a:xfrm>
            <a:off x="5471435" y="6146930"/>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5" name="Freeform 5">
            <a:extLst>
              <a:ext uri="{FF2B5EF4-FFF2-40B4-BE49-F238E27FC236}">
                <a16:creationId xmlns:a16="http://schemas.microsoft.com/office/drawing/2014/main" id="{69B5D93F-50FC-377E-B532-821E6E225B7D}"/>
              </a:ext>
            </a:extLst>
          </p:cNvPr>
          <p:cNvSpPr/>
          <p:nvPr/>
        </p:nvSpPr>
        <p:spPr>
          <a:xfrm>
            <a:off x="10441012" y="3870594"/>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EA201-D539-759F-1359-633F237436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5FD6B8-DA19-1E00-077F-56EA6A502A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4" name="Freeform 4">
            <a:extLst>
              <a:ext uri="{FF2B5EF4-FFF2-40B4-BE49-F238E27FC236}">
                <a16:creationId xmlns:a16="http://schemas.microsoft.com/office/drawing/2014/main" id="{A4088BD0-D8B4-C075-DB24-CB7CDA8B2F06}"/>
              </a:ext>
            </a:extLst>
          </p:cNvPr>
          <p:cNvSpPr/>
          <p:nvPr/>
        </p:nvSpPr>
        <p:spPr>
          <a:xfrm rot="5400000">
            <a:off x="-6173166" y="2299888"/>
            <a:ext cx="13978602" cy="3253202"/>
          </a:xfrm>
          <a:custGeom>
            <a:avLst/>
            <a:gdLst/>
            <a:ahLst/>
            <a:cxnLst/>
            <a:rect l="l" t="t" r="r" b="b"/>
            <a:pathLst>
              <a:path w="13978602" h="3253202">
                <a:moveTo>
                  <a:pt x="0" y="0"/>
                </a:moveTo>
                <a:lnTo>
                  <a:pt x="13978602" y="0"/>
                </a:lnTo>
                <a:lnTo>
                  <a:pt x="13978602"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0B8BF315-41FE-11A2-F835-919085E151C0}"/>
              </a:ext>
            </a:extLst>
          </p:cNvPr>
          <p:cNvSpPr txBox="1"/>
          <p:nvPr/>
        </p:nvSpPr>
        <p:spPr>
          <a:xfrm>
            <a:off x="1891577" y="2492414"/>
            <a:ext cx="12574649" cy="1333698"/>
          </a:xfrm>
          <a:prstGeom prst="rect">
            <a:avLst/>
          </a:prstGeom>
        </p:spPr>
        <p:txBody>
          <a:bodyPr wrap="square" lIns="0" tIns="0" rIns="0" bIns="0" rtlCol="0" anchor="t">
            <a:spAutoFit/>
          </a:bodyPr>
          <a:lstStyle/>
          <a:p>
            <a:pPr algn="ctr">
              <a:lnSpc>
                <a:spcPts val="10353"/>
              </a:lnSpc>
            </a:pPr>
            <a:r>
              <a:rPr lang="en-US" sz="7200" dirty="0">
                <a:solidFill>
                  <a:srgbClr val="00AAEB"/>
                </a:solidFill>
                <a:latin typeface="Lalezar"/>
                <a:ea typeface="Lalezar"/>
                <a:cs typeface="Lalezar"/>
                <a:sym typeface="Lalezar"/>
              </a:rPr>
              <a:t>SALARY &amp; TAX CALCULATION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1439897-60A6-C536-E7E1-12EF9B702476}"/>
                  </a:ext>
                </a:extLst>
              </p:cNvPr>
              <p:cNvSpPr txBox="1"/>
              <p:nvPr/>
            </p:nvSpPr>
            <p:spPr>
              <a:xfrm>
                <a:off x="2680684" y="3833264"/>
                <a:ext cx="12000026" cy="831061"/>
              </a:xfrm>
              <a:prstGeom prst="rect">
                <a:avLst/>
              </a:prstGeom>
              <a:noFill/>
            </p:spPr>
            <p:txBody>
              <a:bodyPr wrap="square" rtlCol="0">
                <a:spAutoFit/>
              </a:bodyPr>
              <a:lstStyle/>
              <a:p>
                <a:r>
                  <a:rPr lang="en-US" sz="2400" dirty="0"/>
                  <a:t>The core logic integrates earnings with government tax regulations and attendance deductions.</a:t>
                </a:r>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m:rPr>
                              <m:sty m:val="p"/>
                            </m:rPr>
                            <a:rPr lang="en-US" sz="2400">
                              <a:latin typeface="Cambria Math" panose="02040503050406030204" pitchFamily="18" charset="0"/>
                            </a:rPr>
                            <m:t>Salary</m:t>
                          </m:r>
                        </m:e>
                        <m:sub>
                          <m:r>
                            <m:rPr>
                              <m:sty m:val="p"/>
                            </m:rPr>
                            <a:rPr lang="en-US" sz="2400">
                              <a:latin typeface="Cambria Math" panose="02040503050406030204" pitchFamily="18" charset="0"/>
                            </a:rPr>
                            <m:t>Final</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Salary</m:t>
                          </m:r>
                        </m:e>
                        <m:sub>
                          <m:r>
                            <m:rPr>
                              <m:sty m:val="p"/>
                            </m:rPr>
                            <a:rPr lang="en-US" sz="2400">
                              <a:latin typeface="Cambria Math" panose="02040503050406030204" pitchFamily="18" charset="0"/>
                            </a:rPr>
                            <m:t>Base</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a:latin typeface="Cambria Math" panose="02040503050406030204" pitchFamily="18" charset="0"/>
                            </a:rPr>
                            <m:t>Pay</m:t>
                          </m:r>
                        </m:e>
                        <m:sub>
                          <m:r>
                            <m:rPr>
                              <m:sty m:val="p"/>
                            </m:rPr>
                            <a:rPr lang="en-US" sz="2400">
                              <a:latin typeface="Cambria Math" panose="02040503050406030204" pitchFamily="18" charset="0"/>
                            </a:rPr>
                            <m:t>OT</m:t>
                          </m:r>
                        </m:sub>
                      </m:sSub>
                      <m:r>
                        <a:rPr lang="en-US" sz="2400">
                          <a:latin typeface="Cambria Math" panose="02040503050406030204" pitchFamily="18" charset="0"/>
                        </a:rPr>
                        <m:t>−</m:t>
                      </m:r>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Tax</m:t>
                          </m:r>
                        </m:e>
                        <m:sub>
                          <m:r>
                            <m:rPr>
                              <m:sty m:val="p"/>
                            </m:rPr>
                            <a:rPr lang="en-US" sz="2400" b="0" i="0" smtClean="0">
                              <a:latin typeface="Cambria Math" panose="02040503050406030204" pitchFamily="18" charset="0"/>
                            </a:rPr>
                            <m:t>Amount</m:t>
                          </m:r>
                        </m:sub>
                      </m:sSub>
                      <m:r>
                        <a:rPr lang="en-US" sz="2400" b="0" i="0" smtClean="0">
                          <a:latin typeface="Cambria Math" panose="02040503050406030204" pitchFamily="18" charset="0"/>
                        </a:rPr>
                        <m:t>+</m:t>
                      </m:r>
                      <m:sSub>
                        <m:sSubPr>
                          <m:ctrlPr>
                            <a:rPr lang="en-US" sz="2400" i="1" smtClean="0">
                              <a:latin typeface="Cambria Math" panose="02040503050406030204" pitchFamily="18" charset="0"/>
                            </a:rPr>
                          </m:ctrlPr>
                        </m:sSubPr>
                        <m:e>
                          <m:r>
                            <m:rPr>
                              <m:sty m:val="p"/>
                            </m:rPr>
                            <a:rPr lang="en-US" sz="2400">
                              <a:latin typeface="Cambria Math" panose="02040503050406030204" pitchFamily="18" charset="0"/>
                            </a:rPr>
                            <m:t>Absence</m:t>
                          </m:r>
                        </m:e>
                        <m:sub>
                          <m:r>
                            <m:rPr>
                              <m:sty m:val="p"/>
                            </m:rPr>
                            <a:rPr lang="en-US" sz="2400" b="0" i="0" smtClean="0">
                              <a:latin typeface="Cambria Math" panose="02040503050406030204" pitchFamily="18" charset="0"/>
                            </a:rPr>
                            <m:t>Dedu</m:t>
                          </m:r>
                        </m:sub>
                      </m:sSub>
                      <m:r>
                        <a:rPr lang="en-US" sz="2400" b="0" i="1" smtClean="0">
                          <a:latin typeface="Cambria Math" panose="02040503050406030204" pitchFamily="18" charset="0"/>
                        </a:rPr>
                        <m:t>+</m:t>
                      </m:r>
                      <m:r>
                        <a:rPr lang="en-US" sz="2400" b="0" i="1" smtClean="0">
                          <a:latin typeface="Cambria Math" panose="02040503050406030204" pitchFamily="18" charset="0"/>
                        </a:rPr>
                        <m:t>𝑆𝑜𝑐𝑖𝑎𝑙𝑠𝑜𝑐𝑖𝑒𝑡𝑦</m:t>
                      </m:r>
                      <m:r>
                        <a:rPr lang="en-US" sz="2400" b="0" i="1" smtClean="0">
                          <a:latin typeface="Cambria Math" panose="02040503050406030204" pitchFamily="18" charset="0"/>
                        </a:rPr>
                        <m:t>)</m:t>
                      </m:r>
                    </m:oMath>
                  </m:oMathPara>
                </a14:m>
                <a:br>
                  <a:rPr lang="en-US" sz="2400" dirty="0"/>
                </a:br>
                <a:endParaRPr lang="en-US" sz="2400" dirty="0">
                  <a:solidFill>
                    <a:srgbClr val="000000"/>
                  </a:solidFill>
                  <a:latin typeface="Sukar"/>
                  <a:cs typeface="Sukar"/>
                </a:endParaRPr>
              </a:p>
            </p:txBody>
          </p:sp>
        </mc:Choice>
        <mc:Fallback xmlns="">
          <p:sp>
            <p:nvSpPr>
              <p:cNvPr id="18" name="TextBox 17">
                <a:extLst>
                  <a:ext uri="{FF2B5EF4-FFF2-40B4-BE49-F238E27FC236}">
                    <a16:creationId xmlns:a16="http://schemas.microsoft.com/office/drawing/2014/main" id="{21439897-60A6-C536-E7E1-12EF9B702476}"/>
                  </a:ext>
                </a:extLst>
              </p:cNvPr>
              <p:cNvSpPr txBox="1">
                <a:spLocks noRot="1" noChangeAspect="1" noMove="1" noResize="1" noEditPoints="1" noAdjustHandles="1" noChangeArrowheads="1" noChangeShapeType="1" noTextEdit="1"/>
              </p:cNvSpPr>
              <p:nvPr/>
            </p:nvSpPr>
            <p:spPr>
              <a:xfrm>
                <a:off x="2680684" y="3833264"/>
                <a:ext cx="12000026" cy="831061"/>
              </a:xfrm>
              <a:prstGeom prst="rect">
                <a:avLst/>
              </a:prstGeom>
              <a:blipFill>
                <a:blip r:embed="rId6"/>
                <a:stretch>
                  <a:fillRect l="-813" t="-5882" r="-152" b="-9559"/>
                </a:stretch>
              </a:blipFill>
            </p:spPr>
            <p:txBody>
              <a:bodyPr/>
              <a:lstStyle/>
              <a:p>
                <a:r>
                  <a:rPr lang="en-US">
                    <a:noFill/>
                  </a:rPr>
                  <a:t> </a:t>
                </a:r>
              </a:p>
            </p:txBody>
          </p:sp>
        </mc:Fallback>
      </mc:AlternateContent>
      <p:sp>
        <p:nvSpPr>
          <p:cNvPr id="505" name="Freeform 5">
            <a:extLst>
              <a:ext uri="{FF2B5EF4-FFF2-40B4-BE49-F238E27FC236}">
                <a16:creationId xmlns:a16="http://schemas.microsoft.com/office/drawing/2014/main" id="{3FBD22B0-AA59-B4C1-284D-F9C89AFE5985}"/>
              </a:ext>
            </a:extLst>
          </p:cNvPr>
          <p:cNvSpPr/>
          <p:nvPr/>
        </p:nvSpPr>
        <p:spPr>
          <a:xfrm>
            <a:off x="14177496" y="1249097"/>
            <a:ext cx="3967811" cy="3227830"/>
          </a:xfrm>
          <a:custGeom>
            <a:avLst/>
            <a:gdLst/>
            <a:ahLst/>
            <a:cxnLst/>
            <a:rect l="l" t="t" r="r" b="b"/>
            <a:pathLst>
              <a:path w="1804151" h="1419733">
                <a:moveTo>
                  <a:pt x="465531" y="1419733"/>
                </a:moveTo>
                <a:lnTo>
                  <a:pt x="1675483" y="1419733"/>
                </a:lnTo>
                <a:cubicBezTo>
                  <a:pt x="1746544" y="1419732"/>
                  <a:pt x="1804150" y="1362126"/>
                  <a:pt x="1804151" y="1291065"/>
                </a:cubicBezTo>
                <a:lnTo>
                  <a:pt x="1804151" y="584899"/>
                </a:lnTo>
                <a:cubicBezTo>
                  <a:pt x="1804151" y="513837"/>
                  <a:pt x="1746544" y="456231"/>
                  <a:pt x="1675483" y="456231"/>
                </a:cubicBezTo>
                <a:lnTo>
                  <a:pt x="864274" y="456231"/>
                </a:lnTo>
                <a:cubicBezTo>
                  <a:pt x="830150" y="456231"/>
                  <a:pt x="797423" y="442675"/>
                  <a:pt x="773293" y="418545"/>
                </a:cubicBezTo>
                <a:cubicBezTo>
                  <a:pt x="749163" y="394415"/>
                  <a:pt x="735607" y="361688"/>
                  <a:pt x="735607" y="327563"/>
                </a:cubicBezTo>
                <a:lnTo>
                  <a:pt x="735607" y="128668"/>
                </a:lnTo>
                <a:cubicBezTo>
                  <a:pt x="735607" y="57606"/>
                  <a:pt x="678000" y="0"/>
                  <a:pt x="606939" y="0"/>
                </a:cubicBezTo>
                <a:lnTo>
                  <a:pt x="128668" y="0"/>
                </a:lnTo>
                <a:cubicBezTo>
                  <a:pt x="57606" y="0"/>
                  <a:pt x="0" y="57606"/>
                  <a:pt x="0" y="128668"/>
                </a:cubicBezTo>
                <a:lnTo>
                  <a:pt x="0" y="914494"/>
                </a:lnTo>
                <a:cubicBezTo>
                  <a:pt x="-1" y="946146"/>
                  <a:pt x="11664" y="976687"/>
                  <a:pt x="32766" y="1000279"/>
                </a:cubicBezTo>
                <a:lnTo>
                  <a:pt x="369633" y="1376850"/>
                </a:lnTo>
                <a:cubicBezTo>
                  <a:pt x="394042" y="1404137"/>
                  <a:pt x="428920" y="1419733"/>
                  <a:pt x="465531" y="1419733"/>
                </a:cubicBezTo>
                <a:close/>
              </a:path>
            </a:pathLst>
          </a:custGeom>
          <a:blipFill>
            <a:blip r:embed="rId7" cstate="print">
              <a:extLst>
                <a:ext uri="{28A0092B-C50C-407E-A947-70E740481C1C}">
                  <a14:useLocalDpi xmlns:a14="http://schemas.microsoft.com/office/drawing/2010/main" val="0"/>
                </a:ext>
              </a:extLst>
            </a:blip>
            <a:stretch>
              <a:fillRect/>
            </a:stretch>
          </a:blipFill>
          <a:ln w="38100" cap="sq">
            <a:gradFill>
              <a:gsLst>
                <a:gs pos="0">
                  <a:srgbClr val="0067A8">
                    <a:alpha val="100000"/>
                  </a:srgbClr>
                </a:gs>
                <a:gs pos="100000">
                  <a:srgbClr val="00DBE6">
                    <a:alpha val="100000"/>
                  </a:srgbClr>
                </a:gs>
              </a:gsLst>
              <a:lin ang="0"/>
            </a:gradFill>
            <a:prstDash val="solid"/>
            <a:miter/>
          </a:ln>
        </p:spPr>
      </p:sp>
      <p:grpSp>
        <p:nvGrpSpPr>
          <p:cNvPr id="508" name="Group 507">
            <a:extLst>
              <a:ext uri="{FF2B5EF4-FFF2-40B4-BE49-F238E27FC236}">
                <a16:creationId xmlns:a16="http://schemas.microsoft.com/office/drawing/2014/main" id="{EC1BFE01-984C-7C3D-3132-AC8E44A04939}"/>
              </a:ext>
            </a:extLst>
          </p:cNvPr>
          <p:cNvGrpSpPr/>
          <p:nvPr/>
        </p:nvGrpSpPr>
        <p:grpSpPr>
          <a:xfrm>
            <a:off x="2057400" y="1249097"/>
            <a:ext cx="11331916" cy="1124886"/>
            <a:chOff x="1469683" y="1303328"/>
            <a:chExt cx="11331916" cy="1124886"/>
          </a:xfrm>
        </p:grpSpPr>
        <p:sp>
          <p:nvSpPr>
            <p:cNvPr id="509" name="Freeform 7">
              <a:extLst>
                <a:ext uri="{FF2B5EF4-FFF2-40B4-BE49-F238E27FC236}">
                  <a16:creationId xmlns:a16="http://schemas.microsoft.com/office/drawing/2014/main" id="{ACFBCBBB-B17B-6889-6A26-F7840D365986}"/>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8" cstate="print">
                <a:extLst>
                  <a:ext uri="{28A0092B-C50C-407E-A947-70E740481C1C}">
                    <a14:useLocalDpi xmlns:a14="http://schemas.microsoft.com/office/drawing/2010/main" val="0"/>
                  </a:ext>
                </a:extLst>
              </a:blip>
              <a:stretch>
                <a:fillRect/>
              </a:stretch>
            </a:blipFill>
          </p:spPr>
        </p:sp>
        <p:sp>
          <p:nvSpPr>
            <p:cNvPr id="510" name="TextBox 10">
              <a:extLst>
                <a:ext uri="{FF2B5EF4-FFF2-40B4-BE49-F238E27FC236}">
                  <a16:creationId xmlns:a16="http://schemas.microsoft.com/office/drawing/2014/main" id="{72C441AA-FFA8-BCF9-992F-6AFE006B50C4}"/>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511" name="Freeform 3">
              <a:extLst>
                <a:ext uri="{FF2B5EF4-FFF2-40B4-BE49-F238E27FC236}">
                  <a16:creationId xmlns:a16="http://schemas.microsoft.com/office/drawing/2014/main" id="{168DA7F6-995B-3410-2C8F-25EBCFC6EE3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a:stretch>
                <a:fillRect/>
              </a:stretch>
            </a:blipFill>
          </p:spPr>
        </p:sp>
      </p:grpSp>
      <p:grpSp>
        <p:nvGrpSpPr>
          <p:cNvPr id="538" name="Group 537">
            <a:extLst>
              <a:ext uri="{FF2B5EF4-FFF2-40B4-BE49-F238E27FC236}">
                <a16:creationId xmlns:a16="http://schemas.microsoft.com/office/drawing/2014/main" id="{21E0E2DA-BC0E-F0C3-5151-B2BCB9EF0FB5}"/>
              </a:ext>
            </a:extLst>
          </p:cNvPr>
          <p:cNvGrpSpPr/>
          <p:nvPr/>
        </p:nvGrpSpPr>
        <p:grpSpPr>
          <a:xfrm>
            <a:off x="2132444" y="4941440"/>
            <a:ext cx="15012556" cy="4332253"/>
            <a:chOff x="1028700" y="3774945"/>
            <a:chExt cx="16230600" cy="5298470"/>
          </a:xfrm>
        </p:grpSpPr>
        <p:grpSp>
          <p:nvGrpSpPr>
            <p:cNvPr id="539" name="Group 3">
              <a:extLst>
                <a:ext uri="{FF2B5EF4-FFF2-40B4-BE49-F238E27FC236}">
                  <a16:creationId xmlns:a16="http://schemas.microsoft.com/office/drawing/2014/main" id="{0654E925-7508-9C90-5596-E3480752AFF3}"/>
                </a:ext>
              </a:extLst>
            </p:cNvPr>
            <p:cNvGrpSpPr/>
            <p:nvPr/>
          </p:nvGrpSpPr>
          <p:grpSpPr>
            <a:xfrm>
              <a:off x="1028700" y="3774945"/>
              <a:ext cx="3933373" cy="1404765"/>
              <a:chOff x="0" y="0"/>
              <a:chExt cx="1137929" cy="406400"/>
            </a:xfrm>
          </p:grpSpPr>
          <p:sp>
            <p:nvSpPr>
              <p:cNvPr id="573" name="Freeform 4">
                <a:extLst>
                  <a:ext uri="{FF2B5EF4-FFF2-40B4-BE49-F238E27FC236}">
                    <a16:creationId xmlns:a16="http://schemas.microsoft.com/office/drawing/2014/main" id="{FE45F245-DEBB-E0AC-D12C-AF7B898029FA}"/>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chemeClr val="accent5"/>
              </a:solidFill>
            </p:spPr>
          </p:sp>
          <p:sp>
            <p:nvSpPr>
              <p:cNvPr id="574" name="TextBox 5">
                <a:extLst>
                  <a:ext uri="{FF2B5EF4-FFF2-40B4-BE49-F238E27FC236}">
                    <a16:creationId xmlns:a16="http://schemas.microsoft.com/office/drawing/2014/main" id="{B1E85AB1-2A1B-D72F-01DA-2DAC8C384984}"/>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0" name="Group 6">
              <a:extLst>
                <a:ext uri="{FF2B5EF4-FFF2-40B4-BE49-F238E27FC236}">
                  <a16:creationId xmlns:a16="http://schemas.microsoft.com/office/drawing/2014/main" id="{F1364C68-540E-7A51-3C1C-C7DEAFEF8C84}"/>
                </a:ext>
              </a:extLst>
            </p:cNvPr>
            <p:cNvGrpSpPr/>
            <p:nvPr/>
          </p:nvGrpSpPr>
          <p:grpSpPr>
            <a:xfrm>
              <a:off x="5129667" y="3774945"/>
              <a:ext cx="3933373" cy="1404765"/>
              <a:chOff x="0" y="0"/>
              <a:chExt cx="1137929" cy="406400"/>
            </a:xfrm>
          </p:grpSpPr>
          <p:sp>
            <p:nvSpPr>
              <p:cNvPr id="571" name="Freeform 7">
                <a:extLst>
                  <a:ext uri="{FF2B5EF4-FFF2-40B4-BE49-F238E27FC236}">
                    <a16:creationId xmlns:a16="http://schemas.microsoft.com/office/drawing/2014/main" id="{13F125DB-0C60-DC79-1F8B-8D1935F52AC5}"/>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C5FFBC"/>
              </a:solidFill>
            </p:spPr>
          </p:sp>
          <p:sp>
            <p:nvSpPr>
              <p:cNvPr id="572" name="TextBox 8">
                <a:extLst>
                  <a:ext uri="{FF2B5EF4-FFF2-40B4-BE49-F238E27FC236}">
                    <a16:creationId xmlns:a16="http://schemas.microsoft.com/office/drawing/2014/main" id="{64D7DC04-C13A-4085-EFB6-20F645EAA326}"/>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1" name="Group 9">
              <a:extLst>
                <a:ext uri="{FF2B5EF4-FFF2-40B4-BE49-F238E27FC236}">
                  <a16:creationId xmlns:a16="http://schemas.microsoft.com/office/drawing/2014/main" id="{569D709F-3ADD-FCCD-6B49-AE1581B200A7}"/>
                </a:ext>
              </a:extLst>
            </p:cNvPr>
            <p:cNvGrpSpPr/>
            <p:nvPr/>
          </p:nvGrpSpPr>
          <p:grpSpPr>
            <a:xfrm>
              <a:off x="9227797" y="3774945"/>
              <a:ext cx="3933373" cy="1404765"/>
              <a:chOff x="0" y="0"/>
              <a:chExt cx="1137929" cy="406400"/>
            </a:xfrm>
          </p:grpSpPr>
          <p:sp>
            <p:nvSpPr>
              <p:cNvPr id="569" name="Freeform 10">
                <a:extLst>
                  <a:ext uri="{FF2B5EF4-FFF2-40B4-BE49-F238E27FC236}">
                    <a16:creationId xmlns:a16="http://schemas.microsoft.com/office/drawing/2014/main" id="{E9377BDF-C4DC-FE15-7016-3B49DAA0C5CC}"/>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BACCFA"/>
              </a:solidFill>
            </p:spPr>
          </p:sp>
          <p:sp>
            <p:nvSpPr>
              <p:cNvPr id="570" name="TextBox 11">
                <a:extLst>
                  <a:ext uri="{FF2B5EF4-FFF2-40B4-BE49-F238E27FC236}">
                    <a16:creationId xmlns:a16="http://schemas.microsoft.com/office/drawing/2014/main" id="{5AFD1FEA-B478-6AB5-4D09-EE561E78571D}"/>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grpSp>
          <p:nvGrpSpPr>
            <p:cNvPr id="542" name="Group 12">
              <a:extLst>
                <a:ext uri="{FF2B5EF4-FFF2-40B4-BE49-F238E27FC236}">
                  <a16:creationId xmlns:a16="http://schemas.microsoft.com/office/drawing/2014/main" id="{F35B10D1-5E3E-11B8-2930-87D518B70483}"/>
                </a:ext>
              </a:extLst>
            </p:cNvPr>
            <p:cNvGrpSpPr/>
            <p:nvPr/>
          </p:nvGrpSpPr>
          <p:grpSpPr>
            <a:xfrm>
              <a:off x="13325927" y="3774945"/>
              <a:ext cx="3933373" cy="1404765"/>
              <a:chOff x="0" y="0"/>
              <a:chExt cx="1137929" cy="406400"/>
            </a:xfrm>
          </p:grpSpPr>
          <p:sp>
            <p:nvSpPr>
              <p:cNvPr id="567" name="Freeform 13">
                <a:extLst>
                  <a:ext uri="{FF2B5EF4-FFF2-40B4-BE49-F238E27FC236}">
                    <a16:creationId xmlns:a16="http://schemas.microsoft.com/office/drawing/2014/main" id="{7778EB2A-599E-32B9-9E3B-DF6680C94F20}"/>
                  </a:ext>
                </a:extLst>
              </p:cNvPr>
              <p:cNvSpPr/>
              <p:nvPr/>
            </p:nvSpPr>
            <p:spPr>
              <a:xfrm>
                <a:off x="0" y="0"/>
                <a:ext cx="1137929" cy="406400"/>
              </a:xfrm>
              <a:custGeom>
                <a:avLst/>
                <a:gdLst/>
                <a:ahLst/>
                <a:cxnLst/>
                <a:rect l="l" t="t" r="r" b="b"/>
                <a:pathLst>
                  <a:path w="1137929" h="406400">
                    <a:moveTo>
                      <a:pt x="934729" y="0"/>
                    </a:moveTo>
                    <a:cubicBezTo>
                      <a:pt x="1046953" y="0"/>
                      <a:pt x="1137929" y="90976"/>
                      <a:pt x="1137929" y="203200"/>
                    </a:cubicBezTo>
                    <a:cubicBezTo>
                      <a:pt x="1137929" y="315424"/>
                      <a:pt x="1046953" y="406400"/>
                      <a:pt x="934729" y="406400"/>
                    </a:cubicBezTo>
                    <a:lnTo>
                      <a:pt x="203200" y="406400"/>
                    </a:lnTo>
                    <a:cubicBezTo>
                      <a:pt x="90976" y="406400"/>
                      <a:pt x="0" y="315424"/>
                      <a:pt x="0" y="203200"/>
                    </a:cubicBezTo>
                    <a:cubicBezTo>
                      <a:pt x="0" y="90976"/>
                      <a:pt x="90976" y="0"/>
                      <a:pt x="203200" y="0"/>
                    </a:cubicBezTo>
                    <a:close/>
                  </a:path>
                </a:pathLst>
              </a:custGeom>
              <a:solidFill>
                <a:srgbClr val="4C72FF"/>
              </a:solidFill>
            </p:spPr>
          </p:sp>
          <p:sp>
            <p:nvSpPr>
              <p:cNvPr id="568" name="TextBox 14">
                <a:extLst>
                  <a:ext uri="{FF2B5EF4-FFF2-40B4-BE49-F238E27FC236}">
                    <a16:creationId xmlns:a16="http://schemas.microsoft.com/office/drawing/2014/main" id="{41710B28-C94F-803F-2C56-5F31B581D00F}"/>
                  </a:ext>
                </a:extLst>
              </p:cNvPr>
              <p:cNvSpPr txBox="1"/>
              <p:nvPr/>
            </p:nvSpPr>
            <p:spPr>
              <a:xfrm>
                <a:off x="0" y="-38100"/>
                <a:ext cx="1137929" cy="444500"/>
              </a:xfrm>
              <a:prstGeom prst="rect">
                <a:avLst/>
              </a:prstGeom>
            </p:spPr>
            <p:txBody>
              <a:bodyPr lIns="50800" tIns="50800" rIns="50800" bIns="50800" rtlCol="0" anchor="ctr"/>
              <a:lstStyle/>
              <a:p>
                <a:pPr marL="0" lvl="0" indent="0" algn="ctr">
                  <a:lnSpc>
                    <a:spcPts val="3359"/>
                  </a:lnSpc>
                </a:pPr>
                <a:endParaRPr/>
              </a:p>
            </p:txBody>
          </p:sp>
        </p:grpSp>
        <p:sp>
          <p:nvSpPr>
            <p:cNvPr id="543" name="TextBox 15">
              <a:extLst>
                <a:ext uri="{FF2B5EF4-FFF2-40B4-BE49-F238E27FC236}">
                  <a16:creationId xmlns:a16="http://schemas.microsoft.com/office/drawing/2014/main" id="{014FD485-8919-76EA-3E47-A9143D2074CA}"/>
                </a:ext>
              </a:extLst>
            </p:cNvPr>
            <p:cNvSpPr txBox="1"/>
            <p:nvPr/>
          </p:nvSpPr>
          <p:spPr>
            <a:xfrm>
              <a:off x="1744997" y="4391908"/>
              <a:ext cx="2412454" cy="423473"/>
            </a:xfrm>
            <a:prstGeom prst="rect">
              <a:avLst/>
            </a:prstGeom>
          </p:spPr>
          <p:txBody>
            <a:bodyPr wrap="square"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INPUT DATA</a:t>
              </a:r>
            </a:p>
          </p:txBody>
        </p:sp>
        <p:sp>
          <p:nvSpPr>
            <p:cNvPr id="544" name="TextBox 16">
              <a:extLst>
                <a:ext uri="{FF2B5EF4-FFF2-40B4-BE49-F238E27FC236}">
                  <a16:creationId xmlns:a16="http://schemas.microsoft.com/office/drawing/2014/main" id="{122B44E1-BF72-DD08-D271-8CD722DCD925}"/>
                </a:ext>
              </a:extLst>
            </p:cNvPr>
            <p:cNvSpPr txBox="1"/>
            <p:nvPr/>
          </p:nvSpPr>
          <p:spPr>
            <a:xfrm>
              <a:off x="5571046" y="4391908"/>
              <a:ext cx="2823207" cy="423473"/>
            </a:xfrm>
            <a:prstGeom prst="rect">
              <a:avLst/>
            </a:prstGeom>
          </p:spPr>
          <p:txBody>
            <a:bodyPr wrap="square"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ATTENDANCE</a:t>
              </a:r>
            </a:p>
          </p:txBody>
        </p:sp>
        <p:sp>
          <p:nvSpPr>
            <p:cNvPr id="545" name="TextBox 17">
              <a:extLst>
                <a:ext uri="{FF2B5EF4-FFF2-40B4-BE49-F238E27FC236}">
                  <a16:creationId xmlns:a16="http://schemas.microsoft.com/office/drawing/2014/main" id="{364BAB4F-76FB-8301-57F4-3A5FDA90C61E}"/>
                </a:ext>
              </a:extLst>
            </p:cNvPr>
            <p:cNvSpPr txBox="1"/>
            <p:nvPr/>
          </p:nvSpPr>
          <p:spPr>
            <a:xfrm>
              <a:off x="9751698" y="4391908"/>
              <a:ext cx="2885571" cy="351663"/>
            </a:xfrm>
            <a:prstGeom prst="rect">
              <a:avLst/>
            </a:prstGeom>
          </p:spPr>
          <p:txBody>
            <a:bodyPr lIns="0" tIns="0" rIns="0" bIns="0" rtlCol="0" anchor="t">
              <a:spAutoFit/>
            </a:bodyPr>
            <a:lstStyle/>
            <a:p>
              <a:pPr marL="0" lvl="0" indent="0" algn="ctr">
                <a:lnSpc>
                  <a:spcPts val="2691"/>
                </a:lnSpc>
                <a:spcBef>
                  <a:spcPct val="0"/>
                </a:spcBef>
              </a:pPr>
              <a:r>
                <a:rPr lang="en-US" sz="2925">
                  <a:solidFill>
                    <a:srgbClr val="280F91"/>
                  </a:solidFill>
                  <a:latin typeface="Garet"/>
                  <a:ea typeface="Garet"/>
                  <a:cs typeface="Garet"/>
                  <a:sym typeface="Garet"/>
                </a:rPr>
                <a:t>CALCULATION</a:t>
              </a:r>
            </a:p>
          </p:txBody>
        </p:sp>
        <p:sp>
          <p:nvSpPr>
            <p:cNvPr id="546" name="TextBox 18">
              <a:extLst>
                <a:ext uri="{FF2B5EF4-FFF2-40B4-BE49-F238E27FC236}">
                  <a16:creationId xmlns:a16="http://schemas.microsoft.com/office/drawing/2014/main" id="{DBC2A1AD-ED2E-05C7-3FFF-4170A726E797}"/>
                </a:ext>
              </a:extLst>
            </p:cNvPr>
            <p:cNvSpPr txBox="1"/>
            <p:nvPr/>
          </p:nvSpPr>
          <p:spPr>
            <a:xfrm>
              <a:off x="14130548" y="4391908"/>
              <a:ext cx="2324131" cy="351663"/>
            </a:xfrm>
            <a:prstGeom prst="rect">
              <a:avLst/>
            </a:prstGeom>
          </p:spPr>
          <p:txBody>
            <a:bodyPr lIns="0" tIns="0" rIns="0" bIns="0" rtlCol="0" anchor="t">
              <a:spAutoFit/>
            </a:bodyPr>
            <a:lstStyle/>
            <a:p>
              <a:pPr marL="0" lvl="0" indent="0" algn="ctr">
                <a:lnSpc>
                  <a:spcPts val="2691"/>
                </a:lnSpc>
                <a:spcBef>
                  <a:spcPct val="0"/>
                </a:spcBef>
              </a:pPr>
              <a:r>
                <a:rPr lang="en-US" sz="2925" dirty="0">
                  <a:solidFill>
                    <a:srgbClr val="280F91"/>
                  </a:solidFill>
                  <a:latin typeface="Garet"/>
                  <a:ea typeface="Garet"/>
                  <a:cs typeface="Garet"/>
                  <a:sym typeface="Garet"/>
                </a:rPr>
                <a:t>OUTPUT</a:t>
              </a:r>
            </a:p>
          </p:txBody>
        </p:sp>
        <p:sp>
          <p:nvSpPr>
            <p:cNvPr id="547" name="TextBox 19">
              <a:extLst>
                <a:ext uri="{FF2B5EF4-FFF2-40B4-BE49-F238E27FC236}">
                  <a16:creationId xmlns:a16="http://schemas.microsoft.com/office/drawing/2014/main" id="{4BB1733D-2761-D7CC-E734-EE3DF8018344}"/>
                </a:ext>
              </a:extLst>
            </p:cNvPr>
            <p:cNvSpPr txBox="1"/>
            <p:nvPr/>
          </p:nvSpPr>
          <p:spPr>
            <a:xfrm>
              <a:off x="1744997" y="7100836"/>
              <a:ext cx="2472204" cy="699916"/>
            </a:xfrm>
            <a:prstGeom prst="rect">
              <a:avLst/>
            </a:prstGeom>
          </p:spPr>
          <p:txBody>
            <a:bodyPr lIns="0" tIns="0" rIns="0" bIns="0" rtlCol="0" anchor="t">
              <a:spAutoFit/>
            </a:bodyPr>
            <a:lstStyle/>
            <a:p>
              <a:pPr marL="0" lvl="0" indent="0" algn="ctr">
                <a:lnSpc>
                  <a:spcPts val="1409"/>
                </a:lnSpc>
                <a:spcBef>
                  <a:spcPct val="0"/>
                </a:spcBef>
              </a:pPr>
              <a:r>
                <a:rPr lang="en-US" sz="1204" u="none" strike="noStrike">
                  <a:solidFill>
                    <a:srgbClr val="000000"/>
                  </a:solidFill>
                  <a:latin typeface="Garet"/>
                  <a:ea typeface="Garet"/>
                  <a:cs typeface="Garet"/>
                  <a:sym typeface="Garet"/>
                </a:rPr>
                <a:t>BASIC SALARY</a:t>
              </a:r>
            </a:p>
            <a:p>
              <a:pPr marL="0" lvl="0" indent="0" algn="ctr">
                <a:lnSpc>
                  <a:spcPts val="1409"/>
                </a:lnSpc>
                <a:spcBef>
                  <a:spcPct val="0"/>
                </a:spcBef>
              </a:pPr>
              <a:r>
                <a:rPr lang="en-US" sz="1204" u="none" strike="noStrike">
                  <a:solidFill>
                    <a:srgbClr val="000000"/>
                  </a:solidFill>
                  <a:latin typeface="Garet"/>
                  <a:ea typeface="Garet"/>
                  <a:cs typeface="Garet"/>
                  <a:sym typeface="Garet"/>
                </a:rPr>
                <a:t>WORKING HOURS</a:t>
              </a:r>
            </a:p>
            <a:p>
              <a:pPr marL="0" lvl="0" indent="0" algn="ctr">
                <a:lnSpc>
                  <a:spcPts val="1409"/>
                </a:lnSpc>
                <a:spcBef>
                  <a:spcPct val="0"/>
                </a:spcBef>
              </a:pPr>
              <a:r>
                <a:rPr lang="en-US" sz="1204" u="none" strike="noStrike">
                  <a:solidFill>
                    <a:srgbClr val="000000"/>
                  </a:solidFill>
                  <a:latin typeface="Garet"/>
                  <a:ea typeface="Garet"/>
                  <a:cs typeface="Garet"/>
                  <a:sym typeface="Garet"/>
                </a:rPr>
                <a:t>OVERTIME HOURS</a:t>
              </a:r>
            </a:p>
            <a:p>
              <a:pPr marL="0" lvl="0" indent="0" algn="ctr">
                <a:lnSpc>
                  <a:spcPts val="1409"/>
                </a:lnSpc>
                <a:spcBef>
                  <a:spcPct val="0"/>
                </a:spcBef>
              </a:pPr>
              <a:r>
                <a:rPr lang="en-US" sz="1204" u="none" strike="noStrike">
                  <a:solidFill>
                    <a:srgbClr val="000000"/>
                  </a:solidFill>
                  <a:latin typeface="Garet"/>
                  <a:ea typeface="Garet"/>
                  <a:cs typeface="Garet"/>
                  <a:sym typeface="Garet"/>
                </a:rPr>
                <a:t>TAX RATE</a:t>
              </a:r>
            </a:p>
          </p:txBody>
        </p:sp>
        <p:sp>
          <p:nvSpPr>
            <p:cNvPr id="548" name="AutoShape 20">
              <a:extLst>
                <a:ext uri="{FF2B5EF4-FFF2-40B4-BE49-F238E27FC236}">
                  <a16:creationId xmlns:a16="http://schemas.microsoft.com/office/drawing/2014/main" id="{B93EB206-0553-26C4-146A-19A2B1334B3C}"/>
                </a:ext>
              </a:extLst>
            </p:cNvPr>
            <p:cNvSpPr/>
            <p:nvPr/>
          </p:nvSpPr>
          <p:spPr>
            <a:xfrm>
              <a:off x="2981099" y="5633191"/>
              <a:ext cx="0" cy="682095"/>
            </a:xfrm>
            <a:prstGeom prst="line">
              <a:avLst/>
            </a:prstGeom>
            <a:ln w="28575" cap="flat">
              <a:solidFill>
                <a:srgbClr val="86E5A1"/>
              </a:solidFill>
              <a:prstDash val="sysDot"/>
              <a:headEnd type="none" w="sm" len="sm"/>
              <a:tailEnd type="none" w="sm" len="sm"/>
            </a:ln>
          </p:spPr>
        </p:sp>
        <p:sp>
          <p:nvSpPr>
            <p:cNvPr id="549" name="AutoShape 21">
              <a:extLst>
                <a:ext uri="{FF2B5EF4-FFF2-40B4-BE49-F238E27FC236}">
                  <a16:creationId xmlns:a16="http://schemas.microsoft.com/office/drawing/2014/main" id="{DFB80D12-F0DE-E608-BED2-F5A45893E0C4}"/>
                </a:ext>
              </a:extLst>
            </p:cNvPr>
            <p:cNvSpPr/>
            <p:nvPr/>
          </p:nvSpPr>
          <p:spPr>
            <a:xfrm flipH="1">
              <a:off x="7096353" y="5642141"/>
              <a:ext cx="0" cy="1249613"/>
            </a:xfrm>
            <a:prstGeom prst="line">
              <a:avLst/>
            </a:prstGeom>
            <a:ln w="28575" cap="flat">
              <a:solidFill>
                <a:srgbClr val="86E5A1"/>
              </a:solidFill>
              <a:prstDash val="sysDot"/>
              <a:headEnd type="none" w="sm" len="sm"/>
              <a:tailEnd type="none" w="sm" len="sm"/>
            </a:ln>
          </p:spPr>
        </p:sp>
        <p:sp>
          <p:nvSpPr>
            <p:cNvPr id="550" name="AutoShape 22">
              <a:extLst>
                <a:ext uri="{FF2B5EF4-FFF2-40B4-BE49-F238E27FC236}">
                  <a16:creationId xmlns:a16="http://schemas.microsoft.com/office/drawing/2014/main" id="{051368F2-911E-1E12-A519-F4328AC69BF6}"/>
                </a:ext>
              </a:extLst>
            </p:cNvPr>
            <p:cNvSpPr/>
            <p:nvPr/>
          </p:nvSpPr>
          <p:spPr>
            <a:xfrm flipH="1">
              <a:off x="11194483" y="5633191"/>
              <a:ext cx="0" cy="1815256"/>
            </a:xfrm>
            <a:prstGeom prst="line">
              <a:avLst/>
            </a:prstGeom>
            <a:ln w="28575" cap="flat">
              <a:solidFill>
                <a:srgbClr val="86E5A1"/>
              </a:solidFill>
              <a:prstDash val="sysDot"/>
              <a:headEnd type="none" w="sm" len="sm"/>
              <a:tailEnd type="none" w="sm" len="sm"/>
            </a:ln>
          </p:spPr>
        </p:sp>
        <p:sp>
          <p:nvSpPr>
            <p:cNvPr id="551" name="AutoShape 23">
              <a:extLst>
                <a:ext uri="{FF2B5EF4-FFF2-40B4-BE49-F238E27FC236}">
                  <a16:creationId xmlns:a16="http://schemas.microsoft.com/office/drawing/2014/main" id="{51EE80EE-77DA-C62B-4C1A-372B8BF6D232}"/>
                </a:ext>
              </a:extLst>
            </p:cNvPr>
            <p:cNvSpPr/>
            <p:nvPr/>
          </p:nvSpPr>
          <p:spPr>
            <a:xfrm>
              <a:off x="15309561" y="5682511"/>
              <a:ext cx="0" cy="2141844"/>
            </a:xfrm>
            <a:prstGeom prst="line">
              <a:avLst/>
            </a:prstGeom>
            <a:ln w="28575" cap="flat">
              <a:solidFill>
                <a:srgbClr val="86E5A1"/>
              </a:solidFill>
              <a:prstDash val="sysDot"/>
              <a:headEnd type="none" w="sm" len="sm"/>
              <a:tailEnd type="none" w="sm" len="sm"/>
            </a:ln>
          </p:spPr>
        </p:sp>
        <p:grpSp>
          <p:nvGrpSpPr>
            <p:cNvPr id="552" name="Group 24">
              <a:extLst>
                <a:ext uri="{FF2B5EF4-FFF2-40B4-BE49-F238E27FC236}">
                  <a16:creationId xmlns:a16="http://schemas.microsoft.com/office/drawing/2014/main" id="{717F76D6-CBCB-2486-E512-2D0CFF7E339F}"/>
                </a:ext>
              </a:extLst>
            </p:cNvPr>
            <p:cNvGrpSpPr/>
            <p:nvPr/>
          </p:nvGrpSpPr>
          <p:grpSpPr>
            <a:xfrm>
              <a:off x="2823798" y="6315286"/>
              <a:ext cx="314603" cy="314603"/>
              <a:chOff x="0" y="0"/>
              <a:chExt cx="812800" cy="812800"/>
            </a:xfrm>
          </p:grpSpPr>
          <p:sp>
            <p:nvSpPr>
              <p:cNvPr id="565" name="Freeform 25">
                <a:extLst>
                  <a:ext uri="{FF2B5EF4-FFF2-40B4-BE49-F238E27FC236}">
                    <a16:creationId xmlns:a16="http://schemas.microsoft.com/office/drawing/2014/main" id="{C0EBF1FB-98C1-6A75-0A3F-FFCC417154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6" name="TextBox 26">
                <a:extLst>
                  <a:ext uri="{FF2B5EF4-FFF2-40B4-BE49-F238E27FC236}">
                    <a16:creationId xmlns:a16="http://schemas.microsoft.com/office/drawing/2014/main" id="{CB73A0E7-4486-4AC9-8E0D-437ACEF8E6AC}"/>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3" name="Group 27">
              <a:extLst>
                <a:ext uri="{FF2B5EF4-FFF2-40B4-BE49-F238E27FC236}">
                  <a16:creationId xmlns:a16="http://schemas.microsoft.com/office/drawing/2014/main" id="{AD9714F2-61A5-EC80-B8F4-F831893C6546}"/>
                </a:ext>
              </a:extLst>
            </p:cNvPr>
            <p:cNvGrpSpPr/>
            <p:nvPr/>
          </p:nvGrpSpPr>
          <p:grpSpPr>
            <a:xfrm>
              <a:off x="6939052" y="6891754"/>
              <a:ext cx="314603" cy="314603"/>
              <a:chOff x="0" y="0"/>
              <a:chExt cx="812800" cy="812800"/>
            </a:xfrm>
          </p:grpSpPr>
          <p:sp>
            <p:nvSpPr>
              <p:cNvPr id="563" name="Freeform 28">
                <a:extLst>
                  <a:ext uri="{FF2B5EF4-FFF2-40B4-BE49-F238E27FC236}">
                    <a16:creationId xmlns:a16="http://schemas.microsoft.com/office/drawing/2014/main" id="{5A50F4F5-AF45-FC2F-73C7-BDB2BCBB9D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4" name="TextBox 29">
                <a:extLst>
                  <a:ext uri="{FF2B5EF4-FFF2-40B4-BE49-F238E27FC236}">
                    <a16:creationId xmlns:a16="http://schemas.microsoft.com/office/drawing/2014/main" id="{49E7D8C0-3C66-B973-238A-C79E9D3137D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4" name="Group 30">
              <a:extLst>
                <a:ext uri="{FF2B5EF4-FFF2-40B4-BE49-F238E27FC236}">
                  <a16:creationId xmlns:a16="http://schemas.microsoft.com/office/drawing/2014/main" id="{4688079D-A11A-C2CA-0C9E-2939C8D2A596}"/>
                </a:ext>
              </a:extLst>
            </p:cNvPr>
            <p:cNvGrpSpPr/>
            <p:nvPr/>
          </p:nvGrpSpPr>
          <p:grpSpPr>
            <a:xfrm>
              <a:off x="11037182" y="7448447"/>
              <a:ext cx="314603" cy="314603"/>
              <a:chOff x="0" y="0"/>
              <a:chExt cx="812800" cy="812800"/>
            </a:xfrm>
          </p:grpSpPr>
          <p:sp>
            <p:nvSpPr>
              <p:cNvPr id="561" name="Freeform 31">
                <a:extLst>
                  <a:ext uri="{FF2B5EF4-FFF2-40B4-BE49-F238E27FC236}">
                    <a16:creationId xmlns:a16="http://schemas.microsoft.com/office/drawing/2014/main" id="{0F7F0503-6550-355C-2893-D41D8EE34B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2" name="TextBox 32">
                <a:extLst>
                  <a:ext uri="{FF2B5EF4-FFF2-40B4-BE49-F238E27FC236}">
                    <a16:creationId xmlns:a16="http://schemas.microsoft.com/office/drawing/2014/main" id="{C0263508-97E7-1FBB-D120-6301E1FF136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grpSp>
          <p:nvGrpSpPr>
            <p:cNvPr id="555" name="Group 33">
              <a:extLst>
                <a:ext uri="{FF2B5EF4-FFF2-40B4-BE49-F238E27FC236}">
                  <a16:creationId xmlns:a16="http://schemas.microsoft.com/office/drawing/2014/main" id="{C4C6993A-FCEA-42CE-2236-BBDEB557B9CD}"/>
                </a:ext>
              </a:extLst>
            </p:cNvPr>
            <p:cNvGrpSpPr/>
            <p:nvPr/>
          </p:nvGrpSpPr>
          <p:grpSpPr>
            <a:xfrm>
              <a:off x="15152260" y="7824355"/>
              <a:ext cx="314603" cy="314603"/>
              <a:chOff x="0" y="0"/>
              <a:chExt cx="812800" cy="812800"/>
            </a:xfrm>
          </p:grpSpPr>
          <p:sp>
            <p:nvSpPr>
              <p:cNvPr id="559" name="Freeform 34">
                <a:extLst>
                  <a:ext uri="{FF2B5EF4-FFF2-40B4-BE49-F238E27FC236}">
                    <a16:creationId xmlns:a16="http://schemas.microsoft.com/office/drawing/2014/main" id="{10385EAA-D1DE-D3C8-0A5D-F3058510AF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80F91"/>
              </a:solidFill>
            </p:spPr>
          </p:sp>
          <p:sp>
            <p:nvSpPr>
              <p:cNvPr id="560" name="TextBox 35">
                <a:extLst>
                  <a:ext uri="{FF2B5EF4-FFF2-40B4-BE49-F238E27FC236}">
                    <a16:creationId xmlns:a16="http://schemas.microsoft.com/office/drawing/2014/main" id="{E21AEB4A-8D42-78C3-8366-9EFB8536147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3359"/>
                  </a:lnSpc>
                </a:pPr>
                <a:endParaRPr/>
              </a:p>
            </p:txBody>
          </p:sp>
        </p:grpSp>
        <p:sp>
          <p:nvSpPr>
            <p:cNvPr id="556" name="TextBox 36">
              <a:extLst>
                <a:ext uri="{FF2B5EF4-FFF2-40B4-BE49-F238E27FC236}">
                  <a16:creationId xmlns:a16="http://schemas.microsoft.com/office/drawing/2014/main" id="{BB7855C4-6DEE-ED3A-B516-D2534A279D06}"/>
                </a:ext>
              </a:extLst>
            </p:cNvPr>
            <p:cNvSpPr txBox="1"/>
            <p:nvPr/>
          </p:nvSpPr>
          <p:spPr>
            <a:xfrm>
              <a:off x="5571044" y="7596223"/>
              <a:ext cx="3050619" cy="528466"/>
            </a:xfrm>
            <a:prstGeom prst="rect">
              <a:avLst/>
            </a:prstGeom>
          </p:spPr>
          <p:txBody>
            <a:bodyPr lIns="0" tIns="0" rIns="0" bIns="0" rtlCol="0" anchor="t">
              <a:spAutoFit/>
            </a:bodyPr>
            <a:lstStyle/>
            <a:p>
              <a:pPr marL="0" lvl="0" indent="0" algn="ctr">
                <a:lnSpc>
                  <a:spcPts val="1409"/>
                </a:lnSpc>
              </a:pPr>
              <a:r>
                <a:rPr lang="en-US" sz="1204" u="none" strike="noStrike" dirty="0">
                  <a:solidFill>
                    <a:srgbClr val="000000"/>
                  </a:solidFill>
                  <a:latin typeface="Garet"/>
                  <a:ea typeface="Garet"/>
                  <a:cs typeface="Garet"/>
                  <a:sym typeface="Garet"/>
                </a:rPr>
                <a:t>ATTENDANCE COUNT</a:t>
              </a:r>
            </a:p>
            <a:p>
              <a:pPr marL="0" lvl="0" indent="0" algn="ctr">
                <a:lnSpc>
                  <a:spcPts val="1409"/>
                </a:lnSpc>
              </a:pPr>
              <a:r>
                <a:rPr lang="en-US" sz="1204" u="none" strike="noStrike" dirty="0">
                  <a:solidFill>
                    <a:srgbClr val="000000"/>
                  </a:solidFill>
                  <a:latin typeface="Garet"/>
                  <a:ea typeface="Garet"/>
                  <a:cs typeface="Garet"/>
                  <a:sym typeface="Garet"/>
                </a:rPr>
                <a:t>OVERTIME = HOURS × HOURLY RATE</a:t>
              </a:r>
            </a:p>
            <a:p>
              <a:pPr marL="0" lvl="0" indent="0" algn="ctr">
                <a:lnSpc>
                  <a:spcPts val="1409"/>
                </a:lnSpc>
              </a:pPr>
              <a:r>
                <a:rPr lang="en-US" sz="1204" u="none" strike="noStrike" dirty="0">
                  <a:solidFill>
                    <a:srgbClr val="000000"/>
                  </a:solidFill>
                  <a:latin typeface="Garet"/>
                  <a:ea typeface="Garet"/>
                  <a:cs typeface="Garet"/>
                  <a:sym typeface="Garet"/>
                </a:rPr>
                <a:t>ATTENDANCE DEDUCTION APPLIED</a:t>
              </a:r>
            </a:p>
          </p:txBody>
        </p:sp>
        <p:sp>
          <p:nvSpPr>
            <p:cNvPr id="557" name="TextBox 37">
              <a:extLst>
                <a:ext uri="{FF2B5EF4-FFF2-40B4-BE49-F238E27FC236}">
                  <a16:creationId xmlns:a16="http://schemas.microsoft.com/office/drawing/2014/main" id="{03B9B138-DE4A-6C78-8E78-B7E9F7C0E359}"/>
                </a:ext>
              </a:extLst>
            </p:cNvPr>
            <p:cNvSpPr txBox="1"/>
            <p:nvPr/>
          </p:nvSpPr>
          <p:spPr>
            <a:xfrm>
              <a:off x="9850796" y="8153575"/>
              <a:ext cx="2687375" cy="658734"/>
            </a:xfrm>
            <a:prstGeom prst="rect">
              <a:avLst/>
            </a:prstGeom>
          </p:spPr>
          <p:txBody>
            <a:bodyPr lIns="0" tIns="0" rIns="0" bIns="0" rtlCol="0" anchor="t">
              <a:spAutoFit/>
            </a:bodyPr>
            <a:lstStyle/>
            <a:p>
              <a:pPr marL="0" lvl="0" indent="0" algn="ctr">
                <a:lnSpc>
                  <a:spcPts val="1409"/>
                </a:lnSpc>
                <a:spcBef>
                  <a:spcPct val="0"/>
                </a:spcBef>
              </a:pPr>
              <a:r>
                <a:rPr lang="en-US" sz="1204" u="none" strike="noStrike" dirty="0">
                  <a:solidFill>
                    <a:srgbClr val="000000"/>
                  </a:solidFill>
                  <a:latin typeface="Garet"/>
                  <a:ea typeface="Garet"/>
                  <a:cs typeface="Garet"/>
                  <a:sym typeface="Garet"/>
                </a:rPr>
                <a:t>TAX AMOUNT = </a:t>
              </a:r>
              <a:r>
                <a:rPr lang="en-US" sz="1204" dirty="0">
                  <a:solidFill>
                    <a:srgbClr val="000000"/>
                  </a:solidFill>
                  <a:latin typeface="Garet"/>
                  <a:ea typeface="Garet"/>
                  <a:cs typeface="Garet"/>
                  <a:sym typeface="Garet"/>
                </a:rPr>
                <a:t>TAX_</a:t>
              </a:r>
              <a:r>
                <a:rPr lang="en-US" sz="1204" u="none" strike="noStrike" dirty="0">
                  <a:solidFill>
                    <a:srgbClr val="000000"/>
                  </a:solidFill>
                  <a:latin typeface="Garet"/>
                  <a:ea typeface="Garet"/>
                  <a:cs typeface="Garet"/>
                  <a:sym typeface="Garet"/>
                </a:rPr>
                <a:t>SALARY × (TAX RATE_BRACKET/100)</a:t>
              </a:r>
            </a:p>
            <a:p>
              <a:pPr marL="0" lvl="0" indent="0" algn="ctr">
                <a:lnSpc>
                  <a:spcPts val="1409"/>
                </a:lnSpc>
                <a:spcBef>
                  <a:spcPct val="0"/>
                </a:spcBef>
              </a:pPr>
              <a:r>
                <a:rPr lang="en-US" sz="1204" u="none" strike="noStrike" dirty="0">
                  <a:solidFill>
                    <a:srgbClr val="000000"/>
                  </a:solidFill>
                  <a:latin typeface="Garet"/>
                  <a:ea typeface="Garet"/>
                  <a:cs typeface="Garet"/>
                  <a:sym typeface="Garet"/>
                </a:rPr>
                <a:t>AUTOMATED COMPUTATION</a:t>
              </a:r>
            </a:p>
          </p:txBody>
        </p:sp>
        <p:sp>
          <p:nvSpPr>
            <p:cNvPr id="558" name="TextBox 38">
              <a:extLst>
                <a:ext uri="{FF2B5EF4-FFF2-40B4-BE49-F238E27FC236}">
                  <a16:creationId xmlns:a16="http://schemas.microsoft.com/office/drawing/2014/main" id="{69D5950F-EDCC-045E-A82A-BB59FEFD9ACE}"/>
                </a:ext>
              </a:extLst>
            </p:cNvPr>
            <p:cNvSpPr txBox="1"/>
            <p:nvPr/>
          </p:nvSpPr>
          <p:spPr>
            <a:xfrm>
              <a:off x="13767304" y="8634258"/>
              <a:ext cx="3050619" cy="439157"/>
            </a:xfrm>
            <a:prstGeom prst="rect">
              <a:avLst/>
            </a:prstGeom>
          </p:spPr>
          <p:txBody>
            <a:bodyPr lIns="0" tIns="0" rIns="0" bIns="0" rtlCol="0" anchor="t">
              <a:spAutoFit/>
            </a:bodyPr>
            <a:lstStyle/>
            <a:p>
              <a:pPr marL="0" lvl="0" indent="0" algn="ctr">
                <a:lnSpc>
                  <a:spcPts val="1409"/>
                </a:lnSpc>
                <a:spcBef>
                  <a:spcPct val="0"/>
                </a:spcBef>
              </a:pPr>
              <a:r>
                <a:rPr lang="en-US" sz="1204" u="none" strike="noStrike" dirty="0">
                  <a:solidFill>
                    <a:srgbClr val="000000"/>
                  </a:solidFill>
                  <a:latin typeface="Garet"/>
                  <a:ea typeface="Garet"/>
                  <a:cs typeface="Garet"/>
                  <a:sym typeface="Garet"/>
                </a:rPr>
                <a:t>FINAL SALARY = BASIC + OVERTIME − TAX_AMOUNT− ABSENCE- NSSF</a:t>
              </a:r>
            </a:p>
          </p:txBody>
        </p:sp>
      </p:grpSp>
      <p:sp>
        <p:nvSpPr>
          <p:cNvPr id="577" name="Freeform 5">
            <a:extLst>
              <a:ext uri="{FF2B5EF4-FFF2-40B4-BE49-F238E27FC236}">
                <a16:creationId xmlns:a16="http://schemas.microsoft.com/office/drawing/2014/main" id="{E1E7159D-6AE2-850E-A412-D8631A2375E3}"/>
              </a:ext>
            </a:extLst>
          </p:cNvPr>
          <p:cNvSpPr/>
          <p:nvPr/>
        </p:nvSpPr>
        <p:spPr>
          <a:xfrm>
            <a:off x="10515600" y="-449778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
        <p:nvSpPr>
          <p:cNvPr id="578" name="Freeform 5">
            <a:extLst>
              <a:ext uri="{FF2B5EF4-FFF2-40B4-BE49-F238E27FC236}">
                <a16:creationId xmlns:a16="http://schemas.microsoft.com/office/drawing/2014/main" id="{076C4765-8095-293C-7441-2EF5BE42A25B}"/>
              </a:ext>
            </a:extLst>
          </p:cNvPr>
          <p:cNvSpPr/>
          <p:nvPr/>
        </p:nvSpPr>
        <p:spPr>
          <a:xfrm>
            <a:off x="5588983" y="10845002"/>
            <a:ext cx="673331" cy="4114800"/>
          </a:xfrm>
          <a:custGeom>
            <a:avLst/>
            <a:gdLst/>
            <a:ahLst/>
            <a:cxnLst/>
            <a:rect l="l" t="t" r="r" b="b"/>
            <a:pathLst>
              <a:path w="673331" h="4114800">
                <a:moveTo>
                  <a:pt x="0" y="0"/>
                </a:moveTo>
                <a:lnTo>
                  <a:pt x="673331" y="0"/>
                </a:lnTo>
                <a:lnTo>
                  <a:pt x="67333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Tree>
    <p:extLst>
      <p:ext uri="{BB962C8B-B14F-4D97-AF65-F5344CB8AC3E}">
        <p14:creationId xmlns:p14="http://schemas.microsoft.com/office/powerpoint/2010/main" val="4084415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A133-830A-6426-4097-974162FE2A7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6ACC91-E074-98EE-5913-44FF582E1B8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5" name="TextBox 5">
            <a:extLst>
              <a:ext uri="{FF2B5EF4-FFF2-40B4-BE49-F238E27FC236}">
                <a16:creationId xmlns:a16="http://schemas.microsoft.com/office/drawing/2014/main" id="{D45EA8FC-FE4C-00CE-D41E-0D473AD07F3B}"/>
              </a:ext>
            </a:extLst>
          </p:cNvPr>
          <p:cNvSpPr txBox="1"/>
          <p:nvPr/>
        </p:nvSpPr>
        <p:spPr>
          <a:xfrm>
            <a:off x="2390340" y="2885632"/>
            <a:ext cx="10792260" cy="1333698"/>
          </a:xfrm>
          <a:prstGeom prst="rect">
            <a:avLst/>
          </a:prstGeom>
        </p:spPr>
        <p:txBody>
          <a:bodyPr wrap="square" lIns="0" tIns="0" rIns="0" bIns="0" rtlCol="0" anchor="t">
            <a:spAutoFit/>
          </a:bodyPr>
          <a:lstStyle/>
          <a:p>
            <a:pPr>
              <a:lnSpc>
                <a:spcPts val="10353"/>
              </a:lnSpc>
            </a:pPr>
            <a:r>
              <a:rPr lang="en-US" sz="7395" dirty="0">
                <a:solidFill>
                  <a:srgbClr val="00AAEB"/>
                </a:solidFill>
                <a:latin typeface="Lalezar"/>
                <a:cs typeface="Lalezar"/>
              </a:rPr>
              <a:t>System Result &amp; Validation</a:t>
            </a:r>
            <a:endParaRPr lang="en-US" sz="7395" dirty="0">
              <a:solidFill>
                <a:srgbClr val="00AAEB"/>
              </a:solidFill>
              <a:latin typeface="Lalezar"/>
              <a:cs typeface="Lalezar"/>
              <a:sym typeface="Lalezar"/>
            </a:endParaRPr>
          </a:p>
        </p:txBody>
      </p:sp>
      <p:sp>
        <p:nvSpPr>
          <p:cNvPr id="6" name="TextBox 6">
            <a:extLst>
              <a:ext uri="{FF2B5EF4-FFF2-40B4-BE49-F238E27FC236}">
                <a16:creationId xmlns:a16="http://schemas.microsoft.com/office/drawing/2014/main" id="{F2AE16CE-8EE8-5397-B429-76984319EF9D}"/>
              </a:ext>
            </a:extLst>
          </p:cNvPr>
          <p:cNvSpPr txBox="1"/>
          <p:nvPr/>
        </p:nvSpPr>
        <p:spPr>
          <a:xfrm>
            <a:off x="2420820" y="4143732"/>
            <a:ext cx="7866180" cy="7386638"/>
          </a:xfrm>
          <a:prstGeom prst="rect">
            <a:avLst/>
          </a:prstGeom>
        </p:spPr>
        <p:txBody>
          <a:bodyPr wrap="square" lIns="0" tIns="0" rIns="0" bIns="0" rtlCol="0" anchor="t">
            <a:spAutoFit/>
          </a:bodyPr>
          <a:lstStyle/>
          <a:p>
            <a:r>
              <a:rPr lang="en-US" sz="4000" b="1" dirty="0"/>
              <a:t>Test Case Success</a:t>
            </a:r>
            <a:endParaRPr lang="en-US" sz="4000" dirty="0"/>
          </a:p>
          <a:p>
            <a:r>
              <a:rPr lang="en-US" sz="2400" dirty="0">
                <a:solidFill>
                  <a:srgbClr val="000000"/>
                </a:solidFill>
                <a:latin typeface="Sukar"/>
                <a:cs typeface="Sukar"/>
              </a:rPr>
              <a:t>	Extensive testing ensured that the system handles edge cases effectively:</a:t>
            </a:r>
          </a:p>
          <a:p>
            <a:endParaRPr lang="en-US" sz="2400" dirty="0">
              <a:solidFill>
                <a:srgbClr val="000000"/>
              </a:solidFill>
              <a:latin typeface="Sukar"/>
              <a:cs typeface="Sukar"/>
            </a:endParaRPr>
          </a:p>
          <a:p>
            <a:pPr marL="342900" indent="-342900">
              <a:buFont typeface="Wingdings" panose="05000000000000000000" pitchFamily="2" charset="2"/>
              <a:buChar char="q"/>
            </a:pPr>
            <a:r>
              <a:rPr lang="en-US" sz="2400" dirty="0">
                <a:solidFill>
                  <a:srgbClr val="000000"/>
                </a:solidFill>
                <a:latin typeface="Sukar"/>
                <a:cs typeface="Sukar"/>
              </a:rPr>
              <a:t>Accurate processing of large attendance CSVs.</a:t>
            </a:r>
          </a:p>
          <a:p>
            <a:pPr marL="342900" indent="-342900">
              <a:buFont typeface="Wingdings" panose="05000000000000000000" pitchFamily="2" charset="2"/>
              <a:buChar char="q"/>
            </a:pPr>
            <a:r>
              <a:rPr lang="en-US" sz="2400" dirty="0">
                <a:solidFill>
                  <a:srgbClr val="000000"/>
                </a:solidFill>
                <a:latin typeface="Sukar"/>
                <a:cs typeface="Sukar"/>
              </a:rPr>
              <a:t>Proper tax application across different salary tiers.</a:t>
            </a:r>
          </a:p>
          <a:p>
            <a:pPr marL="342900" indent="-342900">
              <a:buFont typeface="Wingdings" panose="05000000000000000000" pitchFamily="2" charset="2"/>
              <a:buChar char="q"/>
            </a:pPr>
            <a:r>
              <a:rPr lang="en-US" sz="2400" dirty="0">
                <a:solidFill>
                  <a:srgbClr val="000000"/>
                </a:solidFill>
                <a:latin typeface="Sukar"/>
                <a:cs typeface="Sukar"/>
              </a:rPr>
              <a:t>Validation of ID search and sorting results.</a:t>
            </a:r>
          </a:p>
          <a:p>
            <a:pPr marL="342900" indent="-342900">
              <a:buFont typeface="Wingdings" panose="05000000000000000000" pitchFamily="2" charset="2"/>
              <a:buChar char="q"/>
            </a:pPr>
            <a:r>
              <a:rPr lang="en-US" sz="2400" dirty="0">
                <a:solidFill>
                  <a:srgbClr val="000000"/>
                </a:solidFill>
                <a:latin typeface="Sukar"/>
                <a:cs typeface="Sukar"/>
              </a:rPr>
              <a:t>Successful "Submit Payroll" file persistence.</a:t>
            </a:r>
          </a:p>
          <a:p>
            <a:br>
              <a:rPr lang="en-US" sz="2400" dirty="0"/>
            </a:br>
            <a:r>
              <a:rPr lang="en-US" sz="2400" dirty="0">
                <a:solidFill>
                  <a:srgbClr val="000000"/>
                </a:solidFill>
                <a:latin typeface="Sukar"/>
                <a:cs typeface="Sukar"/>
              </a:rPr>
              <a:t> </a:t>
            </a:r>
          </a:p>
          <a:p>
            <a:br>
              <a:rPr lang="en-US" sz="2800" dirty="0"/>
            </a:br>
            <a:endParaRPr lang="en-US" sz="2800" dirty="0"/>
          </a:p>
          <a:p>
            <a:br>
              <a:rPr lang="en-US" sz="2800" dirty="0"/>
            </a:br>
            <a:endParaRPr lang="en-US" sz="2800" dirty="0"/>
          </a:p>
          <a:p>
            <a:br>
              <a:rPr lang="en-US" sz="2800" dirty="0"/>
            </a:br>
            <a:endParaRPr lang="en-US" sz="2800" dirty="0"/>
          </a:p>
          <a:p>
            <a:br>
              <a:rPr lang="en-US" sz="2800" dirty="0"/>
            </a:br>
            <a:endParaRPr lang="en-US" sz="2800" dirty="0">
              <a:solidFill>
                <a:srgbClr val="000000"/>
              </a:solidFill>
              <a:latin typeface="Sukar"/>
              <a:ea typeface="Sukar"/>
              <a:cs typeface="Sukar"/>
              <a:sym typeface="Sukar"/>
            </a:endParaRPr>
          </a:p>
        </p:txBody>
      </p:sp>
      <p:sp>
        <p:nvSpPr>
          <p:cNvPr id="11" name="Freeform 11">
            <a:extLst>
              <a:ext uri="{FF2B5EF4-FFF2-40B4-BE49-F238E27FC236}">
                <a16:creationId xmlns:a16="http://schemas.microsoft.com/office/drawing/2014/main" id="{A824FF24-1576-1D57-674E-E1B2258A5841}"/>
              </a:ext>
            </a:extLst>
          </p:cNvPr>
          <p:cNvSpPr/>
          <p:nvPr/>
        </p:nvSpPr>
        <p:spPr>
          <a:xfrm flipV="1">
            <a:off x="-2425805" y="8689326"/>
            <a:ext cx="13978602" cy="3253202"/>
          </a:xfrm>
          <a:custGeom>
            <a:avLst/>
            <a:gdLst/>
            <a:ahLst/>
            <a:cxnLst/>
            <a:rect l="l" t="t" r="r" b="b"/>
            <a:pathLst>
              <a:path w="13978602" h="3253202">
                <a:moveTo>
                  <a:pt x="0" y="3253202"/>
                </a:moveTo>
                <a:lnTo>
                  <a:pt x="13978603" y="3253202"/>
                </a:lnTo>
                <a:lnTo>
                  <a:pt x="13978603" y="0"/>
                </a:lnTo>
                <a:lnTo>
                  <a:pt x="0" y="0"/>
                </a:lnTo>
                <a:lnTo>
                  <a:pt x="0" y="3253202"/>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2" name="Group 11">
            <a:extLst>
              <a:ext uri="{FF2B5EF4-FFF2-40B4-BE49-F238E27FC236}">
                <a16:creationId xmlns:a16="http://schemas.microsoft.com/office/drawing/2014/main" id="{97CE9AB0-14CC-4EFD-A324-059FEF1EE853}"/>
              </a:ext>
            </a:extLst>
          </p:cNvPr>
          <p:cNvGrpSpPr/>
          <p:nvPr/>
        </p:nvGrpSpPr>
        <p:grpSpPr>
          <a:xfrm>
            <a:off x="1469683" y="1303328"/>
            <a:ext cx="11331916" cy="1124886"/>
            <a:chOff x="1469683" y="1303328"/>
            <a:chExt cx="11331916" cy="1124886"/>
          </a:xfrm>
        </p:grpSpPr>
        <p:sp>
          <p:nvSpPr>
            <p:cNvPr id="13" name="Freeform 7">
              <a:extLst>
                <a:ext uri="{FF2B5EF4-FFF2-40B4-BE49-F238E27FC236}">
                  <a16:creationId xmlns:a16="http://schemas.microsoft.com/office/drawing/2014/main" id="{E6509BFA-DB40-4964-C497-7EBD47C236EB}"/>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14" name="TextBox 10">
              <a:extLst>
                <a:ext uri="{FF2B5EF4-FFF2-40B4-BE49-F238E27FC236}">
                  <a16:creationId xmlns:a16="http://schemas.microsoft.com/office/drawing/2014/main" id="{65CA18D2-ED41-F41B-9702-1555C4B5827F}"/>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ED0F18B2-B31C-1273-92F2-923A33061F79}"/>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pic>
        <p:nvPicPr>
          <p:cNvPr id="2054" name="Picture 6">
            <a:extLst>
              <a:ext uri="{FF2B5EF4-FFF2-40B4-BE49-F238E27FC236}">
                <a16:creationId xmlns:a16="http://schemas.microsoft.com/office/drawing/2014/main" id="{1E5850E1-D418-F59B-69AD-7A718B8B72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12831" y="4762562"/>
            <a:ext cx="5286375" cy="30099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F37F749C-E445-9B6E-EBD0-C56F5F4406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00217" y="5675041"/>
            <a:ext cx="866775" cy="7715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563D507-AC6F-5F79-F3E5-B0A2AD752E1F}"/>
              </a:ext>
            </a:extLst>
          </p:cNvPr>
          <p:cNvSpPr txBox="1"/>
          <p:nvPr/>
        </p:nvSpPr>
        <p:spPr>
          <a:xfrm>
            <a:off x="11290418" y="6572133"/>
            <a:ext cx="5286376" cy="1200329"/>
          </a:xfrm>
          <a:prstGeom prst="rect">
            <a:avLst/>
          </a:prstGeom>
          <a:noFill/>
        </p:spPr>
        <p:txBody>
          <a:bodyPr wrap="square">
            <a:spAutoFit/>
          </a:bodyPr>
          <a:lstStyle/>
          <a:p>
            <a:pPr algn="ctr" rtl="0">
              <a:buNone/>
            </a:pPr>
            <a:r>
              <a:rPr lang="en-US" sz="1800" b="1" i="0" u="none" strike="noStrike" dirty="0">
                <a:solidFill>
                  <a:srgbClr val="002E5D"/>
                </a:solidFill>
                <a:effectLst/>
                <a:latin typeface="DM Sans" pitchFamily="2" charset="0"/>
              </a:rPr>
              <a:t>Verified CSV Output</a:t>
            </a:r>
          </a:p>
          <a:p>
            <a:pPr algn="ctr" rtl="0">
              <a:buNone/>
            </a:pPr>
            <a:r>
              <a:rPr lang="en-US" b="1" dirty="0">
                <a:solidFill>
                  <a:srgbClr val="002E5D"/>
                </a:solidFill>
                <a:effectLst/>
                <a:latin typeface="DM Sans" pitchFamily="2" charset="0"/>
              </a:rPr>
              <a:t>final_Salary.csv</a:t>
            </a:r>
            <a:endParaRPr lang="en-US" b="0" dirty="0">
              <a:effectLst/>
            </a:endParaRPr>
          </a:p>
          <a:p>
            <a:pPr>
              <a:buNone/>
            </a:pPr>
            <a:br>
              <a:rPr lang="en-US" dirty="0"/>
            </a:br>
            <a:endParaRPr lang="en-US" dirty="0"/>
          </a:p>
        </p:txBody>
      </p:sp>
    </p:spTree>
    <p:extLst>
      <p:ext uri="{BB962C8B-B14F-4D97-AF65-F5344CB8AC3E}">
        <p14:creationId xmlns:p14="http://schemas.microsoft.com/office/powerpoint/2010/main" val="2636885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AFB33-B547-323E-7AF5-BDE8A366BC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4F2264E-2099-E109-630B-81DD9B4DA2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sp>
      <p:sp>
        <p:nvSpPr>
          <p:cNvPr id="4" name="Freeform 4">
            <a:extLst>
              <a:ext uri="{FF2B5EF4-FFF2-40B4-BE49-F238E27FC236}">
                <a16:creationId xmlns:a16="http://schemas.microsoft.com/office/drawing/2014/main" id="{A29BB126-C2B9-A149-8955-EC8F38A7B585}"/>
              </a:ext>
            </a:extLst>
          </p:cNvPr>
          <p:cNvSpPr/>
          <p:nvPr/>
        </p:nvSpPr>
        <p:spPr>
          <a:xfrm flipH="1" flipV="1">
            <a:off x="8157545" y="8689326"/>
            <a:ext cx="13978602" cy="3253202"/>
          </a:xfrm>
          <a:custGeom>
            <a:avLst/>
            <a:gdLst/>
            <a:ahLst/>
            <a:cxnLst/>
            <a:rect l="l" t="t" r="r" b="b"/>
            <a:pathLst>
              <a:path w="13978602" h="3253202">
                <a:moveTo>
                  <a:pt x="13978602" y="3253202"/>
                </a:moveTo>
                <a:lnTo>
                  <a:pt x="0" y="3253202"/>
                </a:lnTo>
                <a:lnTo>
                  <a:pt x="0" y="0"/>
                </a:lnTo>
                <a:lnTo>
                  <a:pt x="13978602" y="0"/>
                </a:lnTo>
                <a:lnTo>
                  <a:pt x="13978602" y="3253202"/>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FB6C152F-544D-FAD0-2682-543756A4C525}"/>
              </a:ext>
            </a:extLst>
          </p:cNvPr>
          <p:cNvSpPr txBox="1"/>
          <p:nvPr/>
        </p:nvSpPr>
        <p:spPr>
          <a:xfrm>
            <a:off x="9144000" y="2253294"/>
            <a:ext cx="9677400" cy="1333698"/>
          </a:xfrm>
          <a:prstGeom prst="rect">
            <a:avLst/>
          </a:prstGeom>
        </p:spPr>
        <p:txBody>
          <a:bodyPr wrap="square" lIns="0" tIns="0" rIns="0" bIns="0" rtlCol="0" anchor="t">
            <a:spAutoFit/>
          </a:bodyPr>
          <a:lstStyle/>
          <a:p>
            <a:pPr algn="l">
              <a:lnSpc>
                <a:spcPts val="10353"/>
              </a:lnSpc>
            </a:pPr>
            <a:r>
              <a:rPr lang="fr-CA" sz="7395" dirty="0">
                <a:solidFill>
                  <a:srgbClr val="00AAEB"/>
                </a:solidFill>
                <a:latin typeface="Lalezar"/>
                <a:ea typeface="Lalezar"/>
                <a:cs typeface="Lalezar"/>
                <a:sym typeface="Lalezar"/>
              </a:rPr>
              <a:t>Conclusion &amp; Learning</a:t>
            </a:r>
            <a:endParaRPr lang="en-US" sz="7395" dirty="0">
              <a:solidFill>
                <a:srgbClr val="00AAEB"/>
              </a:solidFill>
              <a:latin typeface="Lalezar"/>
              <a:ea typeface="Lalezar"/>
              <a:cs typeface="Lalezar"/>
              <a:sym typeface="Lalezar"/>
            </a:endParaRPr>
          </a:p>
        </p:txBody>
      </p:sp>
      <p:sp>
        <p:nvSpPr>
          <p:cNvPr id="9" name="TextBox 9">
            <a:extLst>
              <a:ext uri="{FF2B5EF4-FFF2-40B4-BE49-F238E27FC236}">
                <a16:creationId xmlns:a16="http://schemas.microsoft.com/office/drawing/2014/main" id="{C011E7DA-6B22-8886-19DB-65339B506C17}"/>
              </a:ext>
            </a:extLst>
          </p:cNvPr>
          <p:cNvSpPr txBox="1"/>
          <p:nvPr/>
        </p:nvSpPr>
        <p:spPr>
          <a:xfrm>
            <a:off x="9144000" y="3711167"/>
            <a:ext cx="6386917" cy="1477328"/>
          </a:xfrm>
          <a:prstGeom prst="rect">
            <a:avLst/>
          </a:prstGeom>
        </p:spPr>
        <p:txBody>
          <a:bodyPr lIns="0" tIns="0" rIns="0" bIns="0" rtlCol="0" anchor="t">
            <a:spAutoFit/>
          </a:bodyPr>
          <a:lstStyle/>
          <a:p>
            <a:endParaRPr lang="en-US" sz="4000" dirty="0">
              <a:solidFill>
                <a:srgbClr val="002060"/>
              </a:solidFill>
              <a:latin typeface="Lalezar"/>
              <a:cs typeface="Lalezar"/>
            </a:endParaRPr>
          </a:p>
          <a:p>
            <a:br>
              <a:rPr lang="en-US" sz="2800" dirty="0"/>
            </a:br>
            <a:r>
              <a:rPr lang="en-US" sz="2800" dirty="0">
                <a:solidFill>
                  <a:srgbClr val="000000"/>
                </a:solidFill>
                <a:latin typeface="Sukar"/>
                <a:ea typeface="Sukar"/>
                <a:cs typeface="Sukar"/>
                <a:sym typeface="Sukar"/>
              </a:rPr>
              <a:t> </a:t>
            </a:r>
          </a:p>
        </p:txBody>
      </p:sp>
      <p:sp>
        <p:nvSpPr>
          <p:cNvPr id="16" name="TextBox 15">
            <a:extLst>
              <a:ext uri="{FF2B5EF4-FFF2-40B4-BE49-F238E27FC236}">
                <a16:creationId xmlns:a16="http://schemas.microsoft.com/office/drawing/2014/main" id="{56E5BEAB-F1D6-7A33-E204-C85E457E2AD0}"/>
              </a:ext>
            </a:extLst>
          </p:cNvPr>
          <p:cNvSpPr txBox="1"/>
          <p:nvPr/>
        </p:nvSpPr>
        <p:spPr>
          <a:xfrm>
            <a:off x="9426036" y="3673078"/>
            <a:ext cx="9090764" cy="4678204"/>
          </a:xfrm>
          <a:prstGeom prst="rect">
            <a:avLst/>
          </a:prstGeom>
          <a:noFill/>
        </p:spPr>
        <p:txBody>
          <a:bodyPr wrap="square" rtlCol="0">
            <a:spAutoFit/>
          </a:bodyPr>
          <a:lstStyle/>
          <a:p>
            <a:r>
              <a:rPr lang="en-US" sz="4000" dirty="0">
                <a:solidFill>
                  <a:srgbClr val="002060"/>
                </a:solidFill>
                <a:latin typeface="Lalezar"/>
                <a:cs typeface="Lalezar"/>
              </a:rPr>
              <a:t>Summary</a:t>
            </a:r>
            <a:r>
              <a:rPr lang="en-US" b="1" dirty="0"/>
              <a:t> </a:t>
            </a:r>
            <a:r>
              <a:rPr lang="en-US" sz="4000" dirty="0">
                <a:solidFill>
                  <a:srgbClr val="002060"/>
                </a:solidFill>
                <a:latin typeface="Lalezar"/>
                <a:cs typeface="Lalezar"/>
              </a:rPr>
              <a:t>of</a:t>
            </a:r>
            <a:r>
              <a:rPr lang="en-US" b="1" dirty="0"/>
              <a:t> </a:t>
            </a:r>
            <a:r>
              <a:rPr lang="en-US" sz="4000" dirty="0">
                <a:solidFill>
                  <a:srgbClr val="002060"/>
                </a:solidFill>
                <a:latin typeface="Lalezar"/>
                <a:cs typeface="Lalezar"/>
              </a:rPr>
              <a:t>Achievements</a:t>
            </a:r>
          </a:p>
          <a:p>
            <a:r>
              <a:rPr lang="en-US" sz="2400" dirty="0">
                <a:solidFill>
                  <a:srgbClr val="000000"/>
                </a:solidFill>
                <a:latin typeface="Sukar"/>
                <a:cs typeface="Sukar"/>
              </a:rPr>
              <a:t>The project successfully integrated data structures with real-world business requirements.</a:t>
            </a:r>
          </a:p>
          <a:p>
            <a:endParaRPr lang="en-US" sz="2400" dirty="0">
              <a:solidFill>
                <a:srgbClr val="000000"/>
              </a:solidFill>
              <a:latin typeface="Sukar"/>
              <a:cs typeface="Sukar"/>
            </a:endParaRPr>
          </a:p>
          <a:p>
            <a:r>
              <a:rPr lang="en-US" sz="2400" dirty="0">
                <a:solidFill>
                  <a:srgbClr val="000000"/>
                </a:solidFill>
                <a:latin typeface="Sukar"/>
                <a:cs typeface="Sukar"/>
              </a:rPr>
              <a:t>Practical mastery of Linked Lists.</a:t>
            </a:r>
          </a:p>
          <a:p>
            <a:endParaRPr lang="en-US" sz="2400" dirty="0">
              <a:solidFill>
                <a:srgbClr val="000000"/>
              </a:solidFill>
              <a:latin typeface="Sukar"/>
              <a:cs typeface="Sukar"/>
            </a:endParaRPr>
          </a:p>
          <a:p>
            <a:r>
              <a:rPr lang="en-US" sz="2400" dirty="0">
                <a:solidFill>
                  <a:srgbClr val="000000"/>
                </a:solidFill>
                <a:latin typeface="Sukar"/>
                <a:cs typeface="Sukar"/>
              </a:rPr>
              <a:t>Robust understanding of File I/O in C++.</a:t>
            </a:r>
          </a:p>
          <a:p>
            <a:endParaRPr lang="en-US" sz="2400" dirty="0">
              <a:solidFill>
                <a:srgbClr val="000000"/>
              </a:solidFill>
              <a:latin typeface="Sukar"/>
              <a:cs typeface="Sukar"/>
            </a:endParaRPr>
          </a:p>
          <a:p>
            <a:r>
              <a:rPr lang="en-US" sz="2400" dirty="0">
                <a:solidFill>
                  <a:srgbClr val="000000"/>
                </a:solidFill>
                <a:latin typeface="Sukar"/>
                <a:cs typeface="Sukar"/>
              </a:rPr>
              <a:t>Enhanced problem-solving and logic skills.</a:t>
            </a:r>
          </a:p>
          <a:p>
            <a:endParaRPr lang="en-US" sz="2400" dirty="0">
              <a:solidFill>
                <a:srgbClr val="000000"/>
              </a:solidFill>
              <a:latin typeface="Sukar"/>
              <a:cs typeface="Sukar"/>
            </a:endParaRPr>
          </a:p>
          <a:p>
            <a:r>
              <a:rPr lang="en-US" sz="2400" dirty="0">
                <a:solidFill>
                  <a:srgbClr val="000000"/>
                </a:solidFill>
                <a:latin typeface="Sukar"/>
                <a:cs typeface="Sukar"/>
              </a:rPr>
              <a:t>Team coordination and modular design.</a:t>
            </a:r>
            <a:br>
              <a:rPr lang="en-US" sz="2400" dirty="0"/>
            </a:br>
            <a:endParaRPr lang="en-US" dirty="0"/>
          </a:p>
        </p:txBody>
      </p:sp>
      <p:sp>
        <p:nvSpPr>
          <p:cNvPr id="19" name="Rectangle 18">
            <a:extLst>
              <a:ext uri="{FF2B5EF4-FFF2-40B4-BE49-F238E27FC236}">
                <a16:creationId xmlns:a16="http://schemas.microsoft.com/office/drawing/2014/main" id="{18A99F0A-E2C5-B98F-699F-3340ADE90F99}"/>
              </a:ext>
            </a:extLst>
          </p:cNvPr>
          <p:cNvSpPr/>
          <p:nvPr/>
        </p:nvSpPr>
        <p:spPr>
          <a:xfrm>
            <a:off x="8861965" y="5284026"/>
            <a:ext cx="548640" cy="548640"/>
          </a:xfrm>
          <a:prstGeom prst="rect">
            <a:avLst/>
          </a:prstGeom>
          <a:solidFill>
            <a:srgbClr val="009EDE"/>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01</a:t>
            </a:r>
          </a:p>
        </p:txBody>
      </p:sp>
      <p:sp>
        <p:nvSpPr>
          <p:cNvPr id="20" name="Rectangle 19">
            <a:extLst>
              <a:ext uri="{FF2B5EF4-FFF2-40B4-BE49-F238E27FC236}">
                <a16:creationId xmlns:a16="http://schemas.microsoft.com/office/drawing/2014/main" id="{9C195423-C5B4-AA25-7429-959E17701D31}"/>
              </a:ext>
            </a:extLst>
          </p:cNvPr>
          <p:cNvSpPr/>
          <p:nvPr/>
        </p:nvSpPr>
        <p:spPr>
          <a:xfrm>
            <a:off x="8861965" y="6068185"/>
            <a:ext cx="548640" cy="548640"/>
          </a:xfrm>
          <a:prstGeom prst="rect">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02</a:t>
            </a:r>
          </a:p>
        </p:txBody>
      </p:sp>
      <p:sp>
        <p:nvSpPr>
          <p:cNvPr id="21" name="Rectangle 20">
            <a:extLst>
              <a:ext uri="{FF2B5EF4-FFF2-40B4-BE49-F238E27FC236}">
                <a16:creationId xmlns:a16="http://schemas.microsoft.com/office/drawing/2014/main" id="{0ACD64A9-7F19-5B20-B8CC-F4DFA7583F3C}"/>
              </a:ext>
            </a:extLst>
          </p:cNvPr>
          <p:cNvSpPr/>
          <p:nvPr/>
        </p:nvSpPr>
        <p:spPr>
          <a:xfrm>
            <a:off x="8877396" y="6813503"/>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03</a:t>
            </a:r>
          </a:p>
        </p:txBody>
      </p:sp>
      <p:grpSp>
        <p:nvGrpSpPr>
          <p:cNvPr id="26" name="Group 25">
            <a:extLst>
              <a:ext uri="{FF2B5EF4-FFF2-40B4-BE49-F238E27FC236}">
                <a16:creationId xmlns:a16="http://schemas.microsoft.com/office/drawing/2014/main" id="{37485224-2228-E2B8-2D3C-BAB5B1AF5770}"/>
              </a:ext>
            </a:extLst>
          </p:cNvPr>
          <p:cNvGrpSpPr/>
          <p:nvPr/>
        </p:nvGrpSpPr>
        <p:grpSpPr>
          <a:xfrm>
            <a:off x="1469683" y="1303328"/>
            <a:ext cx="11331916" cy="1124886"/>
            <a:chOff x="1469683" y="1303328"/>
            <a:chExt cx="11331916" cy="1124886"/>
          </a:xfrm>
        </p:grpSpPr>
        <p:sp>
          <p:nvSpPr>
            <p:cNvPr id="27" name="Freeform 7">
              <a:extLst>
                <a:ext uri="{FF2B5EF4-FFF2-40B4-BE49-F238E27FC236}">
                  <a16:creationId xmlns:a16="http://schemas.microsoft.com/office/drawing/2014/main" id="{CF8D831A-B26D-3F6C-B24E-704917616C4C}"/>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6" cstate="print">
                <a:extLst>
                  <a:ext uri="{28A0092B-C50C-407E-A947-70E740481C1C}">
                    <a14:useLocalDpi xmlns:a14="http://schemas.microsoft.com/office/drawing/2010/main" val="0"/>
                  </a:ext>
                </a:extLst>
              </a:blip>
              <a:stretch>
                <a:fillRect/>
              </a:stretch>
            </a:blipFill>
          </p:spPr>
        </p:sp>
        <p:sp>
          <p:nvSpPr>
            <p:cNvPr id="28" name="TextBox 10">
              <a:extLst>
                <a:ext uri="{FF2B5EF4-FFF2-40B4-BE49-F238E27FC236}">
                  <a16:creationId xmlns:a16="http://schemas.microsoft.com/office/drawing/2014/main" id="{A3D8A229-A5D0-B237-7BED-53635BED9BA5}"/>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9" name="Freeform 3">
              <a:extLst>
                <a:ext uri="{FF2B5EF4-FFF2-40B4-BE49-F238E27FC236}">
                  <a16:creationId xmlns:a16="http://schemas.microsoft.com/office/drawing/2014/main" id="{FCA251D7-20DC-E5DD-1848-F938F501403D}"/>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7"/>
              <a:stretch>
                <a:fillRect/>
              </a:stretch>
            </a:blipFill>
          </p:spPr>
        </p:sp>
      </p:grpSp>
      <p:sp>
        <p:nvSpPr>
          <p:cNvPr id="3" name="Rectangle 2">
            <a:extLst>
              <a:ext uri="{FF2B5EF4-FFF2-40B4-BE49-F238E27FC236}">
                <a16:creationId xmlns:a16="http://schemas.microsoft.com/office/drawing/2014/main" id="{37A89183-F955-08D8-295B-52564EB200B8}"/>
              </a:ext>
            </a:extLst>
          </p:cNvPr>
          <p:cNvSpPr/>
          <p:nvPr/>
        </p:nvSpPr>
        <p:spPr>
          <a:xfrm>
            <a:off x="8880253" y="7558821"/>
            <a:ext cx="548640" cy="54864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04</a:t>
            </a:r>
          </a:p>
        </p:txBody>
      </p:sp>
      <p:pic>
        <p:nvPicPr>
          <p:cNvPr id="3074" name="Picture 2">
            <a:extLst>
              <a:ext uri="{FF2B5EF4-FFF2-40B4-BE49-F238E27FC236}">
                <a16:creationId xmlns:a16="http://schemas.microsoft.com/office/drawing/2014/main" id="{7F1C25CF-1F5A-1D1D-360B-5C43696F43E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4821" y="6882546"/>
            <a:ext cx="5286375" cy="1352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DAB88B9-F416-B3AE-F95A-CB76349ACD2A}"/>
              </a:ext>
            </a:extLst>
          </p:cNvPr>
          <p:cNvSpPr txBox="1"/>
          <p:nvPr/>
        </p:nvSpPr>
        <p:spPr>
          <a:xfrm>
            <a:off x="2526063" y="7013399"/>
            <a:ext cx="4712937" cy="1200329"/>
          </a:xfrm>
          <a:prstGeom prst="rect">
            <a:avLst/>
          </a:prstGeom>
          <a:noFill/>
        </p:spPr>
        <p:txBody>
          <a:bodyPr wrap="square" rtlCol="0">
            <a:spAutoFit/>
          </a:bodyPr>
          <a:lstStyle/>
          <a:p>
            <a:r>
              <a:rPr lang="en-US" b="1" dirty="0"/>
              <a:t>Learning Outcomes</a:t>
            </a:r>
          </a:p>
          <a:p>
            <a:r>
              <a:rPr lang="en-US" dirty="0"/>
              <a:t>“Combining Program Logic with administrative efficiency to create meaningful software solution”</a:t>
            </a:r>
          </a:p>
        </p:txBody>
      </p:sp>
      <p:pic>
        <p:nvPicPr>
          <p:cNvPr id="3076" name="Picture 4" descr="Payroll Management Process: Definition, Methods &amp; Steps">
            <a:extLst>
              <a:ext uri="{FF2B5EF4-FFF2-40B4-BE49-F238E27FC236}">
                <a16:creationId xmlns:a16="http://schemas.microsoft.com/office/drawing/2014/main" id="{C7A1B5E3-5D79-286F-4FC8-665CAE9FA8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9843" y="2939106"/>
            <a:ext cx="6880492" cy="267765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096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00D2F-FEDC-9704-FBC2-84787C2A6F5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7588D1D-C364-4837-3269-866F65B38177}"/>
              </a:ext>
            </a:extLst>
          </p:cNvPr>
          <p:cNvSpPr/>
          <p:nvPr/>
        </p:nvSpPr>
        <p:spPr>
          <a:xfrm>
            <a:off x="-38394" y="0"/>
            <a:ext cx="18326394"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US" dirty="0"/>
          </a:p>
        </p:txBody>
      </p:sp>
      <p:sp>
        <p:nvSpPr>
          <p:cNvPr id="6" name="Freeform 6">
            <a:extLst>
              <a:ext uri="{FF2B5EF4-FFF2-40B4-BE49-F238E27FC236}">
                <a16:creationId xmlns:a16="http://schemas.microsoft.com/office/drawing/2014/main" id="{9FEC4D11-97F5-2955-1893-DCA1A8E63D39}"/>
              </a:ext>
            </a:extLst>
          </p:cNvPr>
          <p:cNvSpPr/>
          <p:nvPr/>
        </p:nvSpPr>
        <p:spPr>
          <a:xfrm rot="1237360">
            <a:off x="5669552" y="-1767831"/>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a:extLst>
              <a:ext uri="{FF2B5EF4-FFF2-40B4-BE49-F238E27FC236}">
                <a16:creationId xmlns:a16="http://schemas.microsoft.com/office/drawing/2014/main" id="{39E1050D-DEEF-7B48-51C4-6B89FEA2DD89}"/>
              </a:ext>
            </a:extLst>
          </p:cNvPr>
          <p:cNvSpPr txBox="1"/>
          <p:nvPr/>
        </p:nvSpPr>
        <p:spPr>
          <a:xfrm>
            <a:off x="2390340" y="2885632"/>
            <a:ext cx="8658660" cy="1333698"/>
          </a:xfrm>
          <a:prstGeom prst="rect">
            <a:avLst/>
          </a:prstGeom>
        </p:spPr>
        <p:txBody>
          <a:bodyPr wrap="square" lIns="0" tIns="0" rIns="0" bIns="0" rtlCol="0" anchor="t">
            <a:spAutoFit/>
          </a:bodyPr>
          <a:lstStyle/>
          <a:p>
            <a:pPr algn="l">
              <a:lnSpc>
                <a:spcPts val="10353"/>
              </a:lnSpc>
            </a:pPr>
            <a:r>
              <a:rPr lang="en-US" sz="7395" dirty="0">
                <a:solidFill>
                  <a:srgbClr val="00AAEB"/>
                </a:solidFill>
                <a:latin typeface="Lalezar"/>
                <a:ea typeface="Lalezar"/>
                <a:cs typeface="Lalezar"/>
                <a:sym typeface="Lalezar"/>
              </a:rPr>
              <a:t>Demo code  </a:t>
            </a:r>
          </a:p>
        </p:txBody>
      </p:sp>
      <p:sp>
        <p:nvSpPr>
          <p:cNvPr id="4" name="Rectangle 1">
            <a:extLst>
              <a:ext uri="{FF2B5EF4-FFF2-40B4-BE49-F238E27FC236}">
                <a16:creationId xmlns:a16="http://schemas.microsoft.com/office/drawing/2014/main" id="{298E96FD-7A02-97DC-1DEF-6F453224C0F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Freeform 2">
            <a:extLst>
              <a:ext uri="{FF2B5EF4-FFF2-40B4-BE49-F238E27FC236}">
                <a16:creationId xmlns:a16="http://schemas.microsoft.com/office/drawing/2014/main" id="{0DA6D093-B7BB-D9AA-0810-3E985AD044F0}"/>
              </a:ext>
            </a:extLst>
          </p:cNvPr>
          <p:cNvSpPr/>
          <p:nvPr/>
        </p:nvSpPr>
        <p:spPr>
          <a:xfrm>
            <a:off x="4114800" y="3952641"/>
            <a:ext cx="2516101" cy="2516101"/>
          </a:xfrm>
          <a:custGeom>
            <a:avLst/>
            <a:gdLst/>
            <a:ahLst/>
            <a:cxnLst/>
            <a:rect l="l" t="t" r="r" b="b"/>
            <a:pathLst>
              <a:path w="2516101" h="2516101">
                <a:moveTo>
                  <a:pt x="0" y="0"/>
                </a:moveTo>
                <a:lnTo>
                  <a:pt x="2516101" y="0"/>
                </a:lnTo>
                <a:lnTo>
                  <a:pt x="2516101" y="2516101"/>
                </a:lnTo>
                <a:lnTo>
                  <a:pt x="0" y="25161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3">
            <a:extLst>
              <a:ext uri="{FF2B5EF4-FFF2-40B4-BE49-F238E27FC236}">
                <a16:creationId xmlns:a16="http://schemas.microsoft.com/office/drawing/2014/main" id="{E5514182-4C9F-F533-A553-B0BB1588174E}"/>
              </a:ext>
            </a:extLst>
          </p:cNvPr>
          <p:cNvSpPr/>
          <p:nvPr/>
        </p:nvSpPr>
        <p:spPr>
          <a:xfrm flipH="1" flipV="1">
            <a:off x="10528123" y="7057377"/>
            <a:ext cx="2516101" cy="2516101"/>
          </a:xfrm>
          <a:custGeom>
            <a:avLst/>
            <a:gdLst/>
            <a:ahLst/>
            <a:cxnLst/>
            <a:rect l="l" t="t" r="r" b="b"/>
            <a:pathLst>
              <a:path w="2516101" h="2516101">
                <a:moveTo>
                  <a:pt x="2516101" y="2516101"/>
                </a:moveTo>
                <a:lnTo>
                  <a:pt x="0" y="2516101"/>
                </a:lnTo>
                <a:lnTo>
                  <a:pt x="0" y="0"/>
                </a:lnTo>
                <a:lnTo>
                  <a:pt x="2516101" y="0"/>
                </a:lnTo>
                <a:lnTo>
                  <a:pt x="2516101" y="2516101"/>
                </a:lnTo>
                <a:close/>
              </a:path>
            </a:pathLst>
          </a:custGeom>
          <a:blipFill>
            <a:blip r:embed="rId6">
              <a:extLst>
                <a:ext uri="{96DAC541-7B7A-43D3-8B79-37D633B846F1}">
                  <asvg:svgBlip xmlns:asvg="http://schemas.microsoft.com/office/drawing/2016/SVG/main" r:embed="rId8"/>
                </a:ext>
              </a:extLst>
            </a:blip>
            <a:stretch>
              <a:fillRect/>
            </a:stretch>
          </a:blipFill>
        </p:spPr>
      </p:sp>
      <p:grpSp>
        <p:nvGrpSpPr>
          <p:cNvPr id="18" name="Group 17">
            <a:extLst>
              <a:ext uri="{FF2B5EF4-FFF2-40B4-BE49-F238E27FC236}">
                <a16:creationId xmlns:a16="http://schemas.microsoft.com/office/drawing/2014/main" id="{332A5C73-AB80-2B71-CBAB-F90327848980}"/>
              </a:ext>
            </a:extLst>
          </p:cNvPr>
          <p:cNvGrpSpPr/>
          <p:nvPr/>
        </p:nvGrpSpPr>
        <p:grpSpPr>
          <a:xfrm>
            <a:off x="1469683" y="1303328"/>
            <a:ext cx="11331916" cy="1124886"/>
            <a:chOff x="1469683" y="1303328"/>
            <a:chExt cx="11331916" cy="1124886"/>
          </a:xfrm>
        </p:grpSpPr>
        <p:sp>
          <p:nvSpPr>
            <p:cNvPr id="19" name="Freeform 7">
              <a:extLst>
                <a:ext uri="{FF2B5EF4-FFF2-40B4-BE49-F238E27FC236}">
                  <a16:creationId xmlns:a16="http://schemas.microsoft.com/office/drawing/2014/main" id="{8FD8CF4F-46F4-9C34-11B5-97B4DD511D98}"/>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20" name="TextBox 10">
              <a:extLst>
                <a:ext uri="{FF2B5EF4-FFF2-40B4-BE49-F238E27FC236}">
                  <a16:creationId xmlns:a16="http://schemas.microsoft.com/office/drawing/2014/main" id="{8241093F-32C7-9C8B-1F58-151B7EE4DDDC}"/>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21" name="Freeform 3">
              <a:extLst>
                <a:ext uri="{FF2B5EF4-FFF2-40B4-BE49-F238E27FC236}">
                  <a16:creationId xmlns:a16="http://schemas.microsoft.com/office/drawing/2014/main" id="{8C781909-8241-3F3A-C5E4-943CE1D2EC9C}"/>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pic>
        <p:nvPicPr>
          <p:cNvPr id="5" name="Picture 4">
            <a:extLst>
              <a:ext uri="{FF2B5EF4-FFF2-40B4-BE49-F238E27FC236}">
                <a16:creationId xmlns:a16="http://schemas.microsoft.com/office/drawing/2014/main" id="{8ACDB129-FBB2-1812-F956-B35B42A3CEE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00600" y="4640627"/>
            <a:ext cx="7501029" cy="4219329"/>
          </a:xfrm>
          <a:prstGeom prst="rect">
            <a:avLst/>
          </a:prstGeom>
        </p:spPr>
      </p:pic>
    </p:spTree>
    <p:extLst>
      <p:ext uri="{BB962C8B-B14F-4D97-AF65-F5344CB8AC3E}">
        <p14:creationId xmlns:p14="http://schemas.microsoft.com/office/powerpoint/2010/main" val="10523501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5BFB9-199F-A92C-344C-D52D0513767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798BD91-2D95-18F9-6972-F925B974751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8518"/>
            </a:stretch>
          </a:blipFill>
        </p:spPr>
      </p:sp>
      <p:sp>
        <p:nvSpPr>
          <p:cNvPr id="3" name="Freeform 3">
            <a:extLst>
              <a:ext uri="{FF2B5EF4-FFF2-40B4-BE49-F238E27FC236}">
                <a16:creationId xmlns:a16="http://schemas.microsoft.com/office/drawing/2014/main" id="{3789BFFB-939B-2A8B-ED60-0ACB09340E02}"/>
              </a:ext>
            </a:extLst>
          </p:cNvPr>
          <p:cNvSpPr/>
          <p:nvPr/>
        </p:nvSpPr>
        <p:spPr>
          <a:xfrm>
            <a:off x="-2425805" y="-2130848"/>
            <a:ext cx="13978602" cy="3253202"/>
          </a:xfrm>
          <a:custGeom>
            <a:avLst/>
            <a:gdLst/>
            <a:ahLst/>
            <a:cxnLst/>
            <a:rect l="l" t="t" r="r" b="b"/>
            <a:pathLst>
              <a:path w="13978602" h="3253202">
                <a:moveTo>
                  <a:pt x="0" y="0"/>
                </a:moveTo>
                <a:lnTo>
                  <a:pt x="13978603" y="0"/>
                </a:lnTo>
                <a:lnTo>
                  <a:pt x="13978603" y="3253202"/>
                </a:lnTo>
                <a:lnTo>
                  <a:pt x="0" y="32532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a:extLst>
              <a:ext uri="{FF2B5EF4-FFF2-40B4-BE49-F238E27FC236}">
                <a16:creationId xmlns:a16="http://schemas.microsoft.com/office/drawing/2014/main" id="{2EDC62B5-F2A9-7C14-A680-54A8DC49D816}"/>
              </a:ext>
            </a:extLst>
          </p:cNvPr>
          <p:cNvSpPr/>
          <p:nvPr/>
        </p:nvSpPr>
        <p:spPr>
          <a:xfrm rot="258928" flipV="1">
            <a:off x="-5608231" y="9244371"/>
            <a:ext cx="11295270" cy="2628717"/>
          </a:xfrm>
          <a:custGeom>
            <a:avLst/>
            <a:gdLst/>
            <a:ahLst/>
            <a:cxnLst/>
            <a:rect l="l" t="t" r="r" b="b"/>
            <a:pathLst>
              <a:path w="11295270" h="2628717">
                <a:moveTo>
                  <a:pt x="0" y="2628718"/>
                </a:moveTo>
                <a:lnTo>
                  <a:pt x="11295270" y="2628718"/>
                </a:lnTo>
                <a:lnTo>
                  <a:pt x="11295270" y="0"/>
                </a:lnTo>
                <a:lnTo>
                  <a:pt x="0" y="0"/>
                </a:lnTo>
                <a:lnTo>
                  <a:pt x="0" y="262871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a:extLst>
              <a:ext uri="{FF2B5EF4-FFF2-40B4-BE49-F238E27FC236}">
                <a16:creationId xmlns:a16="http://schemas.microsoft.com/office/drawing/2014/main" id="{29107FB3-8ACA-0FEA-1154-4022218B693D}"/>
              </a:ext>
            </a:extLst>
          </p:cNvPr>
          <p:cNvSpPr/>
          <p:nvPr/>
        </p:nvSpPr>
        <p:spPr>
          <a:xfrm>
            <a:off x="10943495" y="4274236"/>
            <a:ext cx="10450502" cy="6047744"/>
          </a:xfrm>
          <a:custGeom>
            <a:avLst/>
            <a:gdLst/>
            <a:ahLst/>
            <a:cxnLst/>
            <a:rect l="l" t="t" r="r" b="b"/>
            <a:pathLst>
              <a:path w="10450502" h="6047744">
                <a:moveTo>
                  <a:pt x="0" y="0"/>
                </a:moveTo>
                <a:lnTo>
                  <a:pt x="10450502" y="0"/>
                </a:lnTo>
                <a:lnTo>
                  <a:pt x="10450502" y="6047744"/>
                </a:lnTo>
                <a:lnTo>
                  <a:pt x="0" y="60477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a:extLst>
              <a:ext uri="{FF2B5EF4-FFF2-40B4-BE49-F238E27FC236}">
                <a16:creationId xmlns:a16="http://schemas.microsoft.com/office/drawing/2014/main" id="{BBE59FEA-2CAA-B6B8-773E-218A77F6EF8F}"/>
              </a:ext>
            </a:extLst>
          </p:cNvPr>
          <p:cNvSpPr/>
          <p:nvPr/>
        </p:nvSpPr>
        <p:spPr>
          <a:xfrm>
            <a:off x="8484660" y="8823124"/>
            <a:ext cx="9565097" cy="3127286"/>
          </a:xfrm>
          <a:custGeom>
            <a:avLst/>
            <a:gdLst/>
            <a:ahLst/>
            <a:cxnLst/>
            <a:rect l="l" t="t" r="r" b="b"/>
            <a:pathLst>
              <a:path w="9565097" h="3127286">
                <a:moveTo>
                  <a:pt x="0" y="0"/>
                </a:moveTo>
                <a:lnTo>
                  <a:pt x="9565097" y="0"/>
                </a:lnTo>
                <a:lnTo>
                  <a:pt x="9565097" y="3127286"/>
                </a:lnTo>
                <a:lnTo>
                  <a:pt x="0" y="3127286"/>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8" name="TextBox 8">
            <a:extLst>
              <a:ext uri="{FF2B5EF4-FFF2-40B4-BE49-F238E27FC236}">
                <a16:creationId xmlns:a16="http://schemas.microsoft.com/office/drawing/2014/main" id="{DE450E13-3F2B-D2C0-2620-5F5ACF377A3A}"/>
              </a:ext>
            </a:extLst>
          </p:cNvPr>
          <p:cNvSpPr txBox="1"/>
          <p:nvPr/>
        </p:nvSpPr>
        <p:spPr>
          <a:xfrm>
            <a:off x="2390340" y="2462883"/>
            <a:ext cx="4853423" cy="1987987"/>
          </a:xfrm>
          <a:prstGeom prst="rect">
            <a:avLst/>
          </a:prstGeom>
        </p:spPr>
        <p:txBody>
          <a:bodyPr lIns="0" tIns="0" rIns="0" bIns="0" rtlCol="0" anchor="t">
            <a:spAutoFit/>
          </a:bodyPr>
          <a:lstStyle/>
          <a:p>
            <a:pPr algn="l">
              <a:lnSpc>
                <a:spcPts val="16331"/>
              </a:lnSpc>
            </a:pPr>
            <a:r>
              <a:rPr lang="en-US" sz="11665">
                <a:solidFill>
                  <a:srgbClr val="00AAEB"/>
                </a:solidFill>
                <a:latin typeface="Lalezar"/>
                <a:ea typeface="Lalezar"/>
                <a:cs typeface="Lalezar"/>
                <a:sym typeface="Lalezar"/>
              </a:rPr>
              <a:t>Thank</a:t>
            </a:r>
          </a:p>
        </p:txBody>
      </p:sp>
      <p:sp>
        <p:nvSpPr>
          <p:cNvPr id="9" name="TextBox 9">
            <a:extLst>
              <a:ext uri="{FF2B5EF4-FFF2-40B4-BE49-F238E27FC236}">
                <a16:creationId xmlns:a16="http://schemas.microsoft.com/office/drawing/2014/main" id="{7658C19F-4248-E450-77F0-61343A55A8FB}"/>
              </a:ext>
            </a:extLst>
          </p:cNvPr>
          <p:cNvSpPr txBox="1"/>
          <p:nvPr/>
        </p:nvSpPr>
        <p:spPr>
          <a:xfrm>
            <a:off x="2390340" y="3522796"/>
            <a:ext cx="3483822" cy="2090316"/>
          </a:xfrm>
          <a:prstGeom prst="rect">
            <a:avLst/>
          </a:prstGeom>
        </p:spPr>
        <p:txBody>
          <a:bodyPr lIns="0" tIns="0" rIns="0" bIns="0" rtlCol="0" anchor="t">
            <a:spAutoFit/>
          </a:bodyPr>
          <a:lstStyle/>
          <a:p>
            <a:pPr algn="l">
              <a:lnSpc>
                <a:spcPts val="16331"/>
              </a:lnSpc>
            </a:pPr>
            <a:r>
              <a:rPr lang="en-US" sz="11665" dirty="0">
                <a:solidFill>
                  <a:schemeClr val="accent1">
                    <a:lumMod val="75000"/>
                  </a:schemeClr>
                </a:solidFill>
                <a:latin typeface="Lalezar"/>
                <a:ea typeface="Lalezar"/>
                <a:cs typeface="Lalezar"/>
                <a:sym typeface="Lalezar"/>
              </a:rPr>
              <a:t>You</a:t>
            </a:r>
          </a:p>
        </p:txBody>
      </p:sp>
      <p:sp>
        <p:nvSpPr>
          <p:cNvPr id="14" name="TextBox 14">
            <a:extLst>
              <a:ext uri="{FF2B5EF4-FFF2-40B4-BE49-F238E27FC236}">
                <a16:creationId xmlns:a16="http://schemas.microsoft.com/office/drawing/2014/main" id="{43750617-BA43-630D-AA37-0CC8281BFF58}"/>
              </a:ext>
            </a:extLst>
          </p:cNvPr>
          <p:cNvSpPr txBox="1"/>
          <p:nvPr/>
        </p:nvSpPr>
        <p:spPr>
          <a:xfrm>
            <a:off x="2390340" y="5067558"/>
            <a:ext cx="5783138" cy="830962"/>
          </a:xfrm>
          <a:prstGeom prst="rect">
            <a:avLst/>
          </a:prstGeom>
        </p:spPr>
        <p:txBody>
          <a:bodyPr lIns="0" tIns="0" rIns="0" bIns="0" rtlCol="0" anchor="t">
            <a:spAutoFit/>
          </a:bodyPr>
          <a:lstStyle/>
          <a:p>
            <a:pPr algn="l">
              <a:lnSpc>
                <a:spcPts val="6649"/>
              </a:lnSpc>
            </a:pPr>
            <a:r>
              <a:rPr lang="en-US" sz="5362">
                <a:solidFill>
                  <a:srgbClr val="00AAEB"/>
                </a:solidFill>
                <a:latin typeface="Lalezar"/>
                <a:ea typeface="Lalezar"/>
                <a:cs typeface="Lalezar"/>
                <a:sym typeface="Lalezar"/>
              </a:rPr>
              <a:t>For Your Attention</a:t>
            </a:r>
          </a:p>
        </p:txBody>
      </p:sp>
      <p:grpSp>
        <p:nvGrpSpPr>
          <p:cNvPr id="11" name="Group 10">
            <a:extLst>
              <a:ext uri="{FF2B5EF4-FFF2-40B4-BE49-F238E27FC236}">
                <a16:creationId xmlns:a16="http://schemas.microsoft.com/office/drawing/2014/main" id="{087398EF-8E9D-C797-6371-71AFDD2E166F}"/>
              </a:ext>
            </a:extLst>
          </p:cNvPr>
          <p:cNvGrpSpPr/>
          <p:nvPr/>
        </p:nvGrpSpPr>
        <p:grpSpPr>
          <a:xfrm>
            <a:off x="1469683" y="1303328"/>
            <a:ext cx="11331916" cy="1124886"/>
            <a:chOff x="1469683" y="1303328"/>
            <a:chExt cx="11331916" cy="1124886"/>
          </a:xfrm>
        </p:grpSpPr>
        <p:sp>
          <p:nvSpPr>
            <p:cNvPr id="12" name="Freeform 7">
              <a:extLst>
                <a:ext uri="{FF2B5EF4-FFF2-40B4-BE49-F238E27FC236}">
                  <a16:creationId xmlns:a16="http://schemas.microsoft.com/office/drawing/2014/main" id="{4BAA7B81-E532-6F55-5D47-9B34F6E4D8E7}"/>
                </a:ext>
              </a:extLst>
            </p:cNvPr>
            <p:cNvSpPr/>
            <p:nvPr/>
          </p:nvSpPr>
          <p:spPr>
            <a:xfrm>
              <a:off x="2390339" y="1303328"/>
              <a:ext cx="1097280" cy="1097280"/>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9" cstate="print">
                <a:extLst>
                  <a:ext uri="{28A0092B-C50C-407E-A947-70E740481C1C}">
                    <a14:useLocalDpi xmlns:a14="http://schemas.microsoft.com/office/drawing/2010/main" val="0"/>
                  </a:ext>
                </a:extLst>
              </a:blip>
              <a:stretch>
                <a:fillRect/>
              </a:stretch>
            </a:blipFill>
          </p:spPr>
        </p:sp>
        <p:sp>
          <p:nvSpPr>
            <p:cNvPr id="13" name="TextBox 10">
              <a:extLst>
                <a:ext uri="{FF2B5EF4-FFF2-40B4-BE49-F238E27FC236}">
                  <a16:creationId xmlns:a16="http://schemas.microsoft.com/office/drawing/2014/main" id="{BA3DEA64-0F1E-5C3D-3D61-59CB6152F255}"/>
                </a:ext>
              </a:extLst>
            </p:cNvPr>
            <p:cNvSpPr txBox="1"/>
            <p:nvPr/>
          </p:nvSpPr>
          <p:spPr>
            <a:xfrm>
              <a:off x="3487618" y="1511283"/>
              <a:ext cx="9313981" cy="615553"/>
            </a:xfrm>
            <a:prstGeom prst="rect">
              <a:avLst/>
            </a:prstGeom>
          </p:spPr>
          <p:txBody>
            <a:bodyPr wrap="square" lIns="0" tIns="0" rIns="0" bIns="0" rtlCol="0" anchor="t">
              <a:spAutoFit/>
            </a:bodyPr>
            <a:lstStyle/>
            <a:p>
              <a:pPr algn="l">
                <a:lnSpc>
                  <a:spcPts val="4759"/>
                </a:lnSpc>
              </a:pPr>
              <a:r>
                <a:rPr lang="en-US" sz="3399" dirty="0">
                  <a:solidFill>
                    <a:srgbClr val="000000"/>
                  </a:solidFill>
                  <a:latin typeface="Sukar"/>
                  <a:ea typeface="Sukar"/>
                  <a:cs typeface="Sukar"/>
                  <a:sym typeface="Sukar"/>
                </a:rPr>
                <a:t>Institute of Technology of Cambodia</a:t>
              </a:r>
            </a:p>
          </p:txBody>
        </p:sp>
        <p:sp>
          <p:nvSpPr>
            <p:cNvPr id="15" name="Freeform 3">
              <a:extLst>
                <a:ext uri="{FF2B5EF4-FFF2-40B4-BE49-F238E27FC236}">
                  <a16:creationId xmlns:a16="http://schemas.microsoft.com/office/drawing/2014/main" id="{135797C4-F25F-9012-EBF2-ADE9753D1B63}"/>
                </a:ext>
              </a:extLst>
            </p:cNvPr>
            <p:cNvSpPr/>
            <p:nvPr/>
          </p:nvSpPr>
          <p:spPr>
            <a:xfrm>
              <a:off x="1469683" y="1365241"/>
              <a:ext cx="632469" cy="1062973"/>
            </a:xfrm>
            <a:custGeom>
              <a:avLst/>
              <a:gdLst/>
              <a:ahLst/>
              <a:cxnLst/>
              <a:rect l="l" t="t" r="r" b="b"/>
              <a:pathLst>
                <a:path w="632469" h="1062973">
                  <a:moveTo>
                    <a:pt x="0" y="0"/>
                  </a:moveTo>
                  <a:lnTo>
                    <a:pt x="632469" y="0"/>
                  </a:lnTo>
                  <a:lnTo>
                    <a:pt x="632469" y="1062973"/>
                  </a:lnTo>
                  <a:lnTo>
                    <a:pt x="0" y="1062973"/>
                  </a:lnTo>
                  <a:lnTo>
                    <a:pt x="0" y="0"/>
                  </a:lnTo>
                  <a:close/>
                </a:path>
              </a:pathLst>
            </a:custGeom>
            <a:blipFill>
              <a:blip r:embed="rId10"/>
              <a:stretch>
                <a:fillRect/>
              </a:stretch>
            </a:blipFill>
          </p:spPr>
        </p:sp>
      </p:grpSp>
    </p:spTree>
    <p:extLst>
      <p:ext uri="{BB962C8B-B14F-4D97-AF65-F5344CB8AC3E}">
        <p14:creationId xmlns:p14="http://schemas.microsoft.com/office/powerpoint/2010/main" val="1484344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2325</TotalTime>
  <Words>2555</Words>
  <Application>Microsoft Office PowerPoint</Application>
  <PresentationFormat>Custom</PresentationFormat>
  <Paragraphs>352</Paragraphs>
  <Slides>18</Slides>
  <Notes>17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TT Interphases</vt:lpstr>
      <vt:lpstr>Lalezar</vt:lpstr>
      <vt:lpstr>Fira Sans Medium</vt:lpstr>
      <vt:lpstr>TT Interphases Bold</vt:lpstr>
      <vt:lpstr>Fira Sans</vt:lpstr>
      <vt:lpstr>Cambria Math</vt:lpstr>
      <vt:lpstr>Garet</vt:lpstr>
      <vt:lpstr>Wingdings</vt:lpstr>
      <vt:lpstr>Arial</vt:lpstr>
      <vt:lpstr>DM Sans</vt:lpstr>
      <vt:lpstr>Calibri</vt:lpstr>
      <vt:lpstr>Sukar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Business Management Presentation</dc:title>
  <dc:creator>USER</dc:creator>
  <cp:lastModifiedBy>THON BOUNTHET</cp:lastModifiedBy>
  <cp:revision>14</cp:revision>
  <dcterms:created xsi:type="dcterms:W3CDTF">2006-08-16T00:00:00Z</dcterms:created>
  <dcterms:modified xsi:type="dcterms:W3CDTF">2026-06-20T02:40:37Z</dcterms:modified>
  <dc:identifier>DAHMwYuOExI</dc:identifier>
</cp:coreProperties>
</file>